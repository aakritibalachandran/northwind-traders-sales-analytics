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7" d="100"/>
          <a:sy n="157" d="100"/>
        </p:scale>
        <p:origin x="176" y="3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0654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My name is Aakriti and today I will walk you through a comprehensive Power BI Sales Analysis of Northwind Traders – a fictitious specialty foods trading company. This project covers the full analytics pipeline from SQL extraction through to interactive Power BI dashboards, enabling data-driven decision making across sales, customers, orders, suppliers, and employees.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this project addresses is giving Northwind Traders' leadership a single, consolidated view of their business. Rather than juggling spreadsheets, the goal was to build five interconnected dashboards covering customers, products, orders, suppliers, and employees — each answering a specific business question. The overall aim: move from reactive reporting to proactive, insight-led decisions.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Northwind dataset contains 8 relational tables. The core fact table is Order Details, which links orders to products. Surrounding it are dimension tables for Customers, Employees, Suppliers, Shippers, and Categories. The pipeline started with SQL for data extraction and exploratory analysis, moved to Excel for cleaning and validation, and finally into Power BI for interactive visualisation.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processing phase followed three structured stages. In SQL, I wrote multi-table joins combining Orders, Customers, Products, and Employees, and computed aggregations for revenue, order counts, and shipping metrics. In Excel, I validated the output and cleaned data types. In Power BI, I built a star schema, wrote DAX measures including MoM and YoY growth rates, and designed the six dashboard pages. This end-to-end control ensured data integrity throughout.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report is structured across six pages. The main Dashboard page provides a high-level KPI summary: 830 orders, 90 customers, 1.27 million in total revenue, and an average shipping time of 8.49 days. Each subsequent page drills deeper — from customer geography and product performance, through order trends and logistics, to supplier pricing and employee structure. All pages are connected through shared slicers, enabling cross-dimensional filtering.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customer analysis reveals both strengths and concentration risks. London is the single largest city by customer count at 6 customers, and the USA dominates at the country level. Europe shows broad but fragmented presence across 6 or more countries. The YoY order growth of 170% is impressive, but it's largely driven by a concentrated customer base. South America and Asia represent the biggest untapped expansion opportunities based on the low bubble density in the map visual.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analysis shows a clear leader in Camembert Pierrot at 1,577 units. The top three products are all from the dairy/cheese category, indicating a strong niche. Beverages and Confections contribute meaningfully to quarterly revenue. One strategic insight is the price range: the average list price of $28.87 masks a wide spread, with premium products above $100 representing margin expansion opportunities. The Q1–Q2 revenue peak is worth investigating for demand planning.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analysis paints a picture of a growing but slightly volatile business. The 223% YoY growth confirms strong underlying demand. The 1996 sharp drop followed by an immediate spike is an anomaly worth investigating — possibly a data gap or seasonal disruption. The average order value of $1,530 indicates a healthy mid-market positioning. The 37 late shipments are manageable but the carrier-level data reveals Speedy Express as an underperformer worth addressing.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supplier analysis reveals a well-structured but geographically concentrated supply chain. Pavlova Ltd. from Australia and Plutzer from Germany are the broadest suppliers at 5 products each. The tiered pricing model is clear — volume-driven low-cost products, a stable mid-range, and premium items for margin. The 780 units currently on order versus 3,119 in stock indicates a reasonable inventory buffer, but individual SKU-level analysis may reveal stockout risks.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employee analysis reveals a compact, experienced team. With only 9 employees and an average tenure of 32.56 years, this team has deep institutional knowledge. The flat hierarchy works for the current scale but creates succession risk — if either manager leaves, there is no obvious internal pipeline. The geographic concentration in London also means the business is heavily dependent on one city for its operational leadership.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summary consolidates the five major findings. Customers show geographic concentration with growth momentum. Products have a defensible dairy niche with premium pricing upside. Orders confirm strong YoY growth but reveal a carrier performance gap. Suppliers are well-distributed globally with a multi-tier pricing approach. And employees bring exceptional institutional knowledge but face succession and geographic concentration risks. Together, these insights frame the business recommendations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recommendations follow directly from the data. First, geographic expansion in Asia and South America. Second, addressing Speedy Express's carrier underperformance through SLA review or replacement. Third, leveraging the seasonal pattern in May/April to pre-load inventory. Fourth, supplier consolidation for volume discounts. Fifth, beginning succession planning given the aging workforce. And sixth, developing premium product campaigns given their high margin potential. Each recommendation is traceable back to a specific data insight.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this project demonstrates a complete analytics pipeline — starting from raw relational data in SQL, through cleaning in Excel, all the way to a six-page interactive Power BI report covering every key dimension of Northwind Traders' business. The analysis produced 6 concrete, data-backed business recommendations. It reflects not just technical skills in SQL and Power BI, but the ability to translate data into strategic business language. Thank you — I'm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1C02"/>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E8820C"/>
          </a:solidFill>
          <a:ln w="12700">
            <a:solidFill>
              <a:srgbClr val="E8820C"/>
            </a:solidFill>
            <a:prstDash val="solid"/>
          </a:ln>
        </p:spPr>
        <p:txBody>
          <a:bodyPr/>
          <a:lstStyle/>
          <a:p>
            <a:endParaRPr lang="en-US"/>
          </a:p>
        </p:txBody>
      </p:sp>
      <p:sp>
        <p:nvSpPr>
          <p:cNvPr id="3" name="Shape 1"/>
          <p:cNvSpPr/>
          <p:nvPr/>
        </p:nvSpPr>
        <p:spPr>
          <a:xfrm>
            <a:off x="7132320" y="0"/>
            <a:ext cx="2011680" cy="1645920"/>
          </a:xfrm>
          <a:prstGeom prst="rect">
            <a:avLst/>
          </a:prstGeom>
          <a:solidFill>
            <a:srgbClr val="5C2A04"/>
          </a:solidFill>
          <a:ln w="12700">
            <a:solidFill>
              <a:srgbClr val="5C2A04"/>
            </a:solidFill>
            <a:prstDash val="solid"/>
          </a:ln>
        </p:spPr>
        <p:txBody>
          <a:bodyPr/>
          <a:lstStyle/>
          <a:p>
            <a:endParaRPr lang="en-US"/>
          </a:p>
        </p:txBody>
      </p:sp>
      <p:sp>
        <p:nvSpPr>
          <p:cNvPr id="4" name="Shape 2"/>
          <p:cNvSpPr/>
          <p:nvPr/>
        </p:nvSpPr>
        <p:spPr>
          <a:xfrm>
            <a:off x="7772400" y="182880"/>
            <a:ext cx="1188720" cy="1097280"/>
          </a:xfrm>
          <a:prstGeom prst="rect">
            <a:avLst/>
          </a:prstGeom>
          <a:solidFill>
            <a:srgbClr val="E8820C">
              <a:alpha val="30000"/>
            </a:srgbClr>
          </a:solidFill>
          <a:ln w="12700">
            <a:solidFill>
              <a:srgbClr val="E8820C"/>
            </a:solidFill>
            <a:prstDash val="solid"/>
          </a:ln>
        </p:spPr>
        <p:txBody>
          <a:bodyPr/>
          <a:lstStyle/>
          <a:p>
            <a:endParaRPr lang="en-US"/>
          </a:p>
        </p:txBody>
      </p:sp>
      <p:sp>
        <p:nvSpPr>
          <p:cNvPr id="5" name="Text 3"/>
          <p:cNvSpPr/>
          <p:nvPr/>
        </p:nvSpPr>
        <p:spPr>
          <a:xfrm>
            <a:off x="457200" y="1005840"/>
            <a:ext cx="8229600" cy="64008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Northwind Traders</a:t>
            </a:r>
            <a:endParaRPr lang="en-US" sz="4000" dirty="0"/>
          </a:p>
        </p:txBody>
      </p:sp>
      <p:sp>
        <p:nvSpPr>
          <p:cNvPr id="6" name="Text 4"/>
          <p:cNvSpPr/>
          <p:nvPr/>
        </p:nvSpPr>
        <p:spPr>
          <a:xfrm>
            <a:off x="457200" y="1664208"/>
            <a:ext cx="8229600" cy="502920"/>
          </a:xfrm>
          <a:prstGeom prst="rect">
            <a:avLst/>
          </a:prstGeom>
          <a:noFill/>
          <a:ln/>
        </p:spPr>
        <p:txBody>
          <a:bodyPr wrap="square" lIns="0" tIns="0" rIns="0" bIns="0" rtlCol="0" anchor="ctr"/>
          <a:lstStyle/>
          <a:p>
            <a:pPr marL="0" indent="0" algn="ctr">
              <a:buNone/>
            </a:pPr>
            <a:r>
              <a:rPr lang="en-US" sz="2600" dirty="0">
                <a:solidFill>
                  <a:srgbClr val="F5C842"/>
                </a:solidFill>
                <a:latin typeface="Calibri" pitchFamily="34" charset="0"/>
                <a:ea typeface="Calibri" pitchFamily="34" charset="-122"/>
                <a:cs typeface="Calibri" pitchFamily="34" charset="-120"/>
              </a:rPr>
              <a:t>Power BI Sales Analysis</a:t>
            </a:r>
            <a:endParaRPr lang="en-US" sz="2600" dirty="0"/>
          </a:p>
        </p:txBody>
      </p:sp>
      <p:sp>
        <p:nvSpPr>
          <p:cNvPr id="7" name="Shape 5"/>
          <p:cNvSpPr/>
          <p:nvPr/>
        </p:nvSpPr>
        <p:spPr>
          <a:xfrm>
            <a:off x="1371600" y="2331720"/>
            <a:ext cx="6400800" cy="0"/>
          </a:xfrm>
          <a:prstGeom prst="line">
            <a:avLst/>
          </a:prstGeom>
          <a:noFill/>
          <a:ln w="19050">
            <a:solidFill>
              <a:srgbClr val="E8820C"/>
            </a:solidFill>
            <a:prstDash val="dash"/>
          </a:ln>
        </p:spPr>
        <p:txBody>
          <a:bodyPr/>
          <a:lstStyle/>
          <a:p>
            <a:endParaRPr lang="en-US"/>
          </a:p>
        </p:txBody>
      </p:sp>
      <p:sp>
        <p:nvSpPr>
          <p:cNvPr id="8" name="Text 6"/>
          <p:cNvSpPr/>
          <p:nvPr/>
        </p:nvSpPr>
        <p:spPr>
          <a:xfrm>
            <a:off x="457200" y="2468880"/>
            <a:ext cx="8229600" cy="347472"/>
          </a:xfrm>
          <a:prstGeom prst="rect">
            <a:avLst/>
          </a:prstGeom>
          <a:noFill/>
          <a:ln/>
        </p:spPr>
        <p:txBody>
          <a:bodyPr wrap="square" lIns="0" tIns="0" rIns="0" bIns="0" rtlCol="0" anchor="ctr"/>
          <a:lstStyle/>
          <a:p>
            <a:pPr marL="0" indent="0" algn="ctr">
              <a:buNone/>
            </a:pPr>
            <a:r>
              <a:rPr lang="en-US" sz="1300" dirty="0">
                <a:solidFill>
                  <a:srgbClr val="FADED9"/>
                </a:solidFill>
                <a:latin typeface="Calibri" pitchFamily="34" charset="0"/>
                <a:ea typeface="Calibri" pitchFamily="34" charset="-122"/>
                <a:cs typeface="Calibri" pitchFamily="34" charset="-120"/>
              </a:rPr>
              <a:t>End-to-End Data Analysis Using SQL  ·  Excel  ·  Power BI</a:t>
            </a:r>
            <a:endParaRPr lang="en-US" sz="1300" dirty="0"/>
          </a:p>
        </p:txBody>
      </p:sp>
      <p:sp>
        <p:nvSpPr>
          <p:cNvPr id="9" name="Shape 7"/>
          <p:cNvSpPr/>
          <p:nvPr/>
        </p:nvSpPr>
        <p:spPr>
          <a:xfrm>
            <a:off x="2560320" y="3108960"/>
            <a:ext cx="4023360" cy="1097280"/>
          </a:xfrm>
          <a:prstGeom prst="rect">
            <a:avLst/>
          </a:prstGeom>
          <a:solidFill>
            <a:srgbClr val="5C2A04"/>
          </a:solidFill>
          <a:ln w="12700">
            <a:solidFill>
              <a:srgbClr val="E8820C"/>
            </a:solidFill>
            <a:prstDash val="solid"/>
          </a:ln>
          <a:effectLst>
            <a:outerShdw blurRad="101600" dist="38100" dir="8100000" algn="bl" rotWithShape="0">
              <a:srgbClr val="000000">
                <a:alpha val="12000"/>
              </a:srgbClr>
            </a:outerShdw>
          </a:effectLst>
        </p:spPr>
        <p:txBody>
          <a:bodyPr/>
          <a:lstStyle/>
          <a:p>
            <a:endParaRPr lang="en-US"/>
          </a:p>
        </p:txBody>
      </p:sp>
      <p:sp>
        <p:nvSpPr>
          <p:cNvPr id="10" name="Text 8"/>
          <p:cNvSpPr/>
          <p:nvPr/>
        </p:nvSpPr>
        <p:spPr>
          <a:xfrm>
            <a:off x="2651760" y="3200400"/>
            <a:ext cx="3840480" cy="914400"/>
          </a:xfrm>
          <a:prstGeom prst="rect">
            <a:avLst/>
          </a:prstGeom>
          <a:noFill/>
          <a:ln/>
        </p:spPr>
        <p:txBody>
          <a:bodyPr wrap="square" rtlCol="0" anchor="ctr"/>
          <a:lstStyle/>
          <a:p>
            <a:pPr marL="0" indent="0" algn="ctr">
              <a:buNone/>
            </a:pPr>
            <a:r>
              <a:rPr lang="en-US" sz="1250" dirty="0">
                <a:solidFill>
                  <a:srgbClr val="FFFFFF"/>
                </a:solidFill>
                <a:latin typeface="Calibri" pitchFamily="34" charset="0"/>
                <a:ea typeface="Calibri" pitchFamily="34" charset="-122"/>
                <a:cs typeface="Calibri" pitchFamily="34" charset="-120"/>
              </a:rPr>
              <a:t>Analysed by: Aakriti</a:t>
            </a:r>
            <a:endParaRPr lang="en-US" sz="1250" dirty="0"/>
          </a:p>
          <a:p>
            <a:pPr marL="0" indent="0" algn="ctr">
              <a:buNone/>
            </a:pPr>
            <a:r>
              <a:rPr lang="en-US" sz="1250" dirty="0">
                <a:solidFill>
                  <a:srgbClr val="FFFFFF"/>
                </a:solidFill>
                <a:latin typeface="Calibri" pitchFamily="34" charset="0"/>
                <a:ea typeface="Calibri" pitchFamily="34" charset="-122"/>
                <a:cs typeface="Calibri" pitchFamily="34" charset="-120"/>
              </a:rPr>
              <a:t>M.Com  |  MBA</a:t>
            </a:r>
            <a:endParaRPr lang="en-US" sz="1250" dirty="0"/>
          </a:p>
          <a:p>
            <a:pPr marL="0" indent="0" algn="ctr">
              <a:buNone/>
            </a:pPr>
            <a:r>
              <a:rPr lang="en-US" sz="1250" dirty="0">
                <a:solidFill>
                  <a:srgbClr val="FFFFFF"/>
                </a:solidFill>
                <a:latin typeface="Calibri" pitchFamily="34" charset="0"/>
                <a:ea typeface="Calibri" pitchFamily="34" charset="-122"/>
                <a:cs typeface="Calibri" pitchFamily="34" charset="-120"/>
              </a:rPr>
              <a:t>Tools: SQL  ·  Excel  ·  Power BI</a:t>
            </a:r>
            <a:endParaRPr lang="en-US" sz="1250" dirty="0"/>
          </a:p>
        </p:txBody>
      </p:sp>
      <p:sp>
        <p:nvSpPr>
          <p:cNvPr id="11" name="Text 9"/>
          <p:cNvSpPr/>
          <p:nvPr/>
        </p:nvSpPr>
        <p:spPr>
          <a:xfrm>
            <a:off x="457200" y="4663440"/>
            <a:ext cx="8229600" cy="320040"/>
          </a:xfrm>
          <a:prstGeom prst="rect">
            <a:avLst/>
          </a:prstGeom>
          <a:noFill/>
          <a:ln/>
        </p:spPr>
        <p:txBody>
          <a:bodyPr wrap="square" lIns="0" tIns="0" rIns="0" bIns="0" rtlCol="0" anchor="ctr"/>
          <a:lstStyle/>
          <a:p>
            <a:pPr marL="0" indent="0" algn="ctr">
              <a:buNone/>
            </a:pPr>
            <a:r>
              <a:rPr lang="en-US" sz="1050" i="1" dirty="0">
                <a:solidFill>
                  <a:srgbClr val="7A5C3A"/>
                </a:solidFill>
                <a:latin typeface="Calibri" pitchFamily="34" charset="0"/>
                <a:ea typeface="Calibri" pitchFamily="34" charset="-122"/>
                <a:cs typeface="Calibri" pitchFamily="34" charset="-120"/>
              </a:rPr>
              <a:t>Dataset: Northwind Database (Specialty Foods Global Trade)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BF2"/>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3D1C02"/>
          </a:solidFill>
          <a:ln w="12700">
            <a:solidFill>
              <a:srgbClr val="3D1C02"/>
            </a:solidFill>
            <a:prstDash val="solid"/>
          </a:ln>
        </p:spPr>
        <p:txBody>
          <a:bodyPr/>
          <a:lstStyle/>
          <a:p>
            <a:endParaRPr lang="en-US"/>
          </a:p>
        </p:txBody>
      </p:sp>
      <p:sp>
        <p:nvSpPr>
          <p:cNvPr id="3" name="Text 1"/>
          <p:cNvSpPr/>
          <p:nvPr/>
        </p:nvSpPr>
        <p:spPr>
          <a:xfrm>
            <a:off x="320040" y="118872"/>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Problem Statement</a:t>
            </a:r>
            <a:endParaRPr lang="en-US" sz="2200" dirty="0"/>
          </a:p>
        </p:txBody>
      </p:sp>
      <p:sp>
        <p:nvSpPr>
          <p:cNvPr id="4" name="Text 2"/>
          <p:cNvSpPr/>
          <p:nvPr/>
        </p:nvSpPr>
        <p:spPr>
          <a:xfrm>
            <a:off x="320040" y="658368"/>
            <a:ext cx="6400800" cy="292608"/>
          </a:xfrm>
          <a:prstGeom prst="rect">
            <a:avLst/>
          </a:prstGeom>
          <a:noFill/>
          <a:ln/>
        </p:spPr>
        <p:txBody>
          <a:bodyPr wrap="square" lIns="0" tIns="0" rIns="0" bIns="0" rtlCol="0" anchor="ctr"/>
          <a:lstStyle/>
          <a:p>
            <a:pPr marL="0" indent="0">
              <a:buNone/>
            </a:pPr>
            <a:r>
              <a:rPr lang="en-US" sz="1100" i="1" dirty="0">
                <a:solidFill>
                  <a:srgbClr val="F5C842"/>
                </a:solidFill>
                <a:latin typeface="Calibri" pitchFamily="34" charset="0"/>
                <a:ea typeface="Calibri" pitchFamily="34" charset="-122"/>
                <a:cs typeface="Calibri" pitchFamily="34" charset="-120"/>
              </a:rPr>
              <a:t>What business questions does this project solve?</a:t>
            </a:r>
            <a:endParaRPr lang="en-US" sz="1100" dirty="0"/>
          </a:p>
        </p:txBody>
      </p:sp>
      <p:sp>
        <p:nvSpPr>
          <p:cNvPr id="5" name="Shape 3"/>
          <p:cNvSpPr/>
          <p:nvPr/>
        </p:nvSpPr>
        <p:spPr>
          <a:xfrm>
            <a:off x="8412480" y="182880"/>
            <a:ext cx="548640" cy="640080"/>
          </a:xfrm>
          <a:prstGeom prst="rect">
            <a:avLst/>
          </a:prstGeom>
          <a:solidFill>
            <a:srgbClr val="E8820C"/>
          </a:solidFill>
          <a:ln w="12700">
            <a:solidFill>
              <a:srgbClr val="E8820C"/>
            </a:solidFill>
            <a:prstDash val="solid"/>
          </a:ln>
        </p:spPr>
        <p:txBody>
          <a:bodyPr/>
          <a:lstStyle/>
          <a:p>
            <a:endParaRPr lang="en-US"/>
          </a:p>
        </p:txBody>
      </p:sp>
      <p:sp>
        <p:nvSpPr>
          <p:cNvPr id="6" name="Shape 4"/>
          <p:cNvSpPr/>
          <p:nvPr/>
        </p:nvSpPr>
        <p:spPr>
          <a:xfrm>
            <a:off x="274320" y="1143000"/>
            <a:ext cx="4206240" cy="365760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7" name="Text 5"/>
          <p:cNvSpPr/>
          <p:nvPr/>
        </p:nvSpPr>
        <p:spPr>
          <a:xfrm>
            <a:off x="274320" y="1143000"/>
            <a:ext cx="4206240" cy="347472"/>
          </a:xfrm>
          <a:prstGeom prst="rect">
            <a:avLst/>
          </a:prstGeom>
          <a:solidFill>
            <a:srgbClr val="C45C0A"/>
          </a:solid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Objective</a:t>
            </a:r>
            <a:endParaRPr lang="en-US" sz="2000" dirty="0"/>
          </a:p>
        </p:txBody>
      </p:sp>
      <p:sp>
        <p:nvSpPr>
          <p:cNvPr id="8" name="Text 6"/>
          <p:cNvSpPr/>
          <p:nvPr/>
        </p:nvSpPr>
        <p:spPr>
          <a:xfrm>
            <a:off x="411480" y="1572768"/>
            <a:ext cx="3931920" cy="3154680"/>
          </a:xfrm>
          <a:prstGeom prst="rect">
            <a:avLst/>
          </a:prstGeom>
          <a:noFill/>
          <a:ln/>
        </p:spPr>
        <p:txBody>
          <a:bodyPr wrap="square" rtlCol="0" anchor="t"/>
          <a:lstStyle/>
          <a:p>
            <a:pPr marL="342900" indent="-342900">
              <a:spcAft>
                <a:spcPts val="700"/>
              </a:spcAft>
              <a:buSzPct val="100000"/>
              <a:buChar char="•"/>
            </a:pPr>
            <a:r>
              <a:rPr lang="en-US" dirty="0">
                <a:solidFill>
                  <a:srgbClr val="2A1500"/>
                </a:solidFill>
                <a:latin typeface="Calibri" pitchFamily="34" charset="0"/>
                <a:ea typeface="Calibri" pitchFamily="34" charset="-122"/>
                <a:cs typeface="Calibri" pitchFamily="34" charset="-120"/>
              </a:rPr>
              <a:t>Design an interactive, user-friendly Power BI report for Northwind Traders</a:t>
            </a:r>
            <a:endParaRPr lang="en-US" dirty="0"/>
          </a:p>
          <a:p>
            <a:pPr marL="342900" indent="-342900">
              <a:spcAft>
                <a:spcPts val="700"/>
              </a:spcAft>
              <a:buSzPct val="100000"/>
              <a:buChar char="•"/>
            </a:pPr>
            <a:r>
              <a:rPr lang="en-US" dirty="0">
                <a:solidFill>
                  <a:srgbClr val="2A1500"/>
                </a:solidFill>
                <a:latin typeface="Calibri" pitchFamily="34" charset="0"/>
                <a:ea typeface="Calibri" pitchFamily="34" charset="-122"/>
                <a:cs typeface="Calibri" pitchFamily="34" charset="-120"/>
              </a:rPr>
              <a:t>Surface key performance metrics across Sales, Customers, Orders, Suppliers &amp; Employees</a:t>
            </a:r>
            <a:endParaRPr lang="en-US" dirty="0"/>
          </a:p>
          <a:p>
            <a:pPr marL="342900" indent="-342900">
              <a:spcAft>
                <a:spcPts val="700"/>
              </a:spcAft>
              <a:buSzPct val="100000"/>
              <a:buChar char="•"/>
            </a:pPr>
            <a:r>
              <a:rPr lang="en-US" dirty="0">
                <a:solidFill>
                  <a:srgbClr val="2A1500"/>
                </a:solidFill>
                <a:latin typeface="Calibri" pitchFamily="34" charset="0"/>
                <a:ea typeface="Calibri" pitchFamily="34" charset="-122"/>
                <a:cs typeface="Calibri" pitchFamily="34" charset="-120"/>
              </a:rPr>
              <a:t>Enable data-driven decision-making through visual storytelling</a:t>
            </a:r>
            <a:endParaRPr lang="en-US" dirty="0"/>
          </a:p>
          <a:p>
            <a:pPr marL="342900" indent="-342900">
              <a:spcAft>
                <a:spcPts val="700"/>
              </a:spcAft>
              <a:buSzPct val="100000"/>
              <a:buChar char="•"/>
            </a:pPr>
            <a:r>
              <a:rPr lang="en-US" dirty="0">
                <a:solidFill>
                  <a:srgbClr val="2A1500"/>
                </a:solidFill>
                <a:latin typeface="Calibri" pitchFamily="34" charset="0"/>
                <a:ea typeface="Calibri" pitchFamily="34" charset="-122"/>
                <a:cs typeface="Calibri" pitchFamily="34" charset="-120"/>
              </a:rPr>
              <a:t>Replace static reports with dynamic, filterable dashboards</a:t>
            </a:r>
            <a:endParaRPr lang="en-US" dirty="0"/>
          </a:p>
        </p:txBody>
      </p:sp>
      <p:sp>
        <p:nvSpPr>
          <p:cNvPr id="9" name="Shape 7"/>
          <p:cNvSpPr/>
          <p:nvPr/>
        </p:nvSpPr>
        <p:spPr>
          <a:xfrm>
            <a:off x="4663440" y="1143000"/>
            <a:ext cx="4206240" cy="365760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10" name="Text 8"/>
          <p:cNvSpPr/>
          <p:nvPr/>
        </p:nvSpPr>
        <p:spPr>
          <a:xfrm>
            <a:off x="4663440" y="1143000"/>
            <a:ext cx="4206240" cy="347472"/>
          </a:xfrm>
          <a:prstGeom prst="rect">
            <a:avLst/>
          </a:prstGeom>
          <a:solidFill>
            <a:srgbClr val="E8820C"/>
          </a:solid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Key Business Questions</a:t>
            </a:r>
            <a:endParaRPr lang="en-US" sz="2000" dirty="0"/>
          </a:p>
        </p:txBody>
      </p:sp>
      <p:sp>
        <p:nvSpPr>
          <p:cNvPr id="11" name="Text 9"/>
          <p:cNvSpPr/>
          <p:nvPr/>
        </p:nvSpPr>
        <p:spPr>
          <a:xfrm>
            <a:off x="4800600" y="1572768"/>
            <a:ext cx="3931920" cy="3154680"/>
          </a:xfrm>
          <a:prstGeom prst="rect">
            <a:avLst/>
          </a:prstGeom>
          <a:noFill/>
          <a:ln/>
        </p:spPr>
        <p:txBody>
          <a:bodyPr wrap="square" rtlCol="0" anchor="t"/>
          <a:lstStyle/>
          <a:p>
            <a:pPr marL="342900" indent="-342900">
              <a:spcAft>
                <a:spcPts val="700"/>
              </a:spcAft>
              <a:buSzPct val="100000"/>
              <a:buChar char="•"/>
            </a:pPr>
            <a:r>
              <a:rPr lang="en-US" dirty="0">
                <a:solidFill>
                  <a:srgbClr val="2A1500"/>
                </a:solidFill>
                <a:latin typeface="Calibri" pitchFamily="34" charset="0"/>
                <a:ea typeface="Calibri" pitchFamily="34" charset="-122"/>
                <a:cs typeface="Calibri" pitchFamily="34" charset="-120"/>
              </a:rPr>
              <a:t>Who are our most valuable customers and markets?</a:t>
            </a:r>
            <a:endParaRPr lang="en-US" dirty="0"/>
          </a:p>
          <a:p>
            <a:pPr marL="342900" indent="-342900">
              <a:spcAft>
                <a:spcPts val="700"/>
              </a:spcAft>
              <a:buSzPct val="100000"/>
              <a:buChar char="•"/>
            </a:pPr>
            <a:r>
              <a:rPr lang="en-US" dirty="0">
                <a:solidFill>
                  <a:srgbClr val="2A1500"/>
                </a:solidFill>
                <a:latin typeface="Calibri" pitchFamily="34" charset="0"/>
                <a:ea typeface="Calibri" pitchFamily="34" charset="-122"/>
                <a:cs typeface="Calibri" pitchFamily="34" charset="-120"/>
              </a:rPr>
              <a:t>Which products drive the highest revenue?</a:t>
            </a:r>
            <a:endParaRPr lang="en-US" dirty="0"/>
          </a:p>
          <a:p>
            <a:pPr marL="342900" indent="-342900">
              <a:spcAft>
                <a:spcPts val="700"/>
              </a:spcAft>
              <a:buSzPct val="100000"/>
              <a:buChar char="•"/>
            </a:pPr>
            <a:r>
              <a:rPr lang="en-US" dirty="0">
                <a:solidFill>
                  <a:srgbClr val="2A1500"/>
                </a:solidFill>
                <a:latin typeface="Calibri" pitchFamily="34" charset="0"/>
                <a:ea typeface="Calibri" pitchFamily="34" charset="-122"/>
                <a:cs typeface="Calibri" pitchFamily="34" charset="-120"/>
              </a:rPr>
              <a:t>How has order volume and revenue trended over time?</a:t>
            </a:r>
            <a:endParaRPr lang="en-US" dirty="0"/>
          </a:p>
          <a:p>
            <a:pPr marL="342900" indent="-342900">
              <a:spcAft>
                <a:spcPts val="700"/>
              </a:spcAft>
              <a:buSzPct val="100000"/>
              <a:buChar char="•"/>
            </a:pPr>
            <a:r>
              <a:rPr lang="en-US" dirty="0">
                <a:solidFill>
                  <a:srgbClr val="2A1500"/>
                </a:solidFill>
                <a:latin typeface="Calibri" pitchFamily="34" charset="0"/>
                <a:ea typeface="Calibri" pitchFamily="34" charset="-122"/>
                <a:cs typeface="Calibri" pitchFamily="34" charset="-120"/>
              </a:rPr>
              <a:t>Which suppliers offer the best price-to-volume balance?</a:t>
            </a:r>
            <a:endParaRPr lang="en-US" dirty="0"/>
          </a:p>
          <a:p>
            <a:pPr marL="342900" indent="-342900">
              <a:spcAft>
                <a:spcPts val="700"/>
              </a:spcAft>
              <a:buSzPct val="100000"/>
              <a:buChar char="•"/>
            </a:pPr>
            <a:r>
              <a:rPr lang="en-US" dirty="0">
                <a:solidFill>
                  <a:srgbClr val="2A1500"/>
                </a:solidFill>
                <a:latin typeface="Calibri" pitchFamily="34" charset="0"/>
                <a:ea typeface="Calibri" pitchFamily="34" charset="-122"/>
                <a:cs typeface="Calibri" pitchFamily="34" charset="-120"/>
              </a:rPr>
              <a:t>How is the employee workforce structured and retained?</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BF2"/>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3D1C02"/>
          </a:solidFill>
          <a:ln w="12700">
            <a:solidFill>
              <a:srgbClr val="3D1C02"/>
            </a:solidFill>
            <a:prstDash val="solid"/>
          </a:ln>
        </p:spPr>
        <p:txBody>
          <a:bodyPr/>
          <a:lstStyle/>
          <a:p>
            <a:endParaRPr lang="en-US"/>
          </a:p>
        </p:txBody>
      </p:sp>
      <p:sp>
        <p:nvSpPr>
          <p:cNvPr id="3" name="Text 1"/>
          <p:cNvSpPr/>
          <p:nvPr/>
        </p:nvSpPr>
        <p:spPr>
          <a:xfrm>
            <a:off x="320040" y="118872"/>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Dataset Overview</a:t>
            </a:r>
            <a:endParaRPr lang="en-US" sz="2200" dirty="0"/>
          </a:p>
        </p:txBody>
      </p:sp>
      <p:sp>
        <p:nvSpPr>
          <p:cNvPr id="4" name="Text 2"/>
          <p:cNvSpPr/>
          <p:nvPr/>
        </p:nvSpPr>
        <p:spPr>
          <a:xfrm>
            <a:off x="320040" y="658368"/>
            <a:ext cx="6400800" cy="292608"/>
          </a:xfrm>
          <a:prstGeom prst="rect">
            <a:avLst/>
          </a:prstGeom>
          <a:noFill/>
          <a:ln/>
        </p:spPr>
        <p:txBody>
          <a:bodyPr wrap="square" lIns="0" tIns="0" rIns="0" bIns="0" rtlCol="0" anchor="ctr"/>
          <a:lstStyle/>
          <a:p>
            <a:pPr marL="0" indent="0">
              <a:buNone/>
            </a:pPr>
            <a:r>
              <a:rPr lang="en-US" sz="1100" i="1" dirty="0">
                <a:solidFill>
                  <a:srgbClr val="F5C842"/>
                </a:solidFill>
                <a:latin typeface="Calibri" pitchFamily="34" charset="0"/>
                <a:ea typeface="Calibri" pitchFamily="34" charset="-122"/>
                <a:cs typeface="Calibri" pitchFamily="34" charset="-120"/>
              </a:rPr>
              <a:t>Northwind Database – Specialty Foods Global Trading Company</a:t>
            </a:r>
            <a:endParaRPr lang="en-US" sz="1100" dirty="0"/>
          </a:p>
        </p:txBody>
      </p:sp>
      <p:sp>
        <p:nvSpPr>
          <p:cNvPr id="5" name="Shape 3"/>
          <p:cNvSpPr/>
          <p:nvPr/>
        </p:nvSpPr>
        <p:spPr>
          <a:xfrm>
            <a:off x="8412480" y="182880"/>
            <a:ext cx="548640" cy="640080"/>
          </a:xfrm>
          <a:prstGeom prst="rect">
            <a:avLst/>
          </a:prstGeom>
          <a:solidFill>
            <a:srgbClr val="E8820C"/>
          </a:solidFill>
          <a:ln w="12700">
            <a:solidFill>
              <a:srgbClr val="E8820C"/>
            </a:solidFill>
            <a:prstDash val="solid"/>
          </a:ln>
        </p:spPr>
        <p:txBody>
          <a:bodyPr/>
          <a:lstStyle/>
          <a:p>
            <a:endParaRPr lang="en-US"/>
          </a:p>
        </p:txBody>
      </p:sp>
      <p:sp>
        <p:nvSpPr>
          <p:cNvPr id="6" name="Shape 4"/>
          <p:cNvSpPr/>
          <p:nvPr/>
        </p:nvSpPr>
        <p:spPr>
          <a:xfrm>
            <a:off x="274320" y="1143000"/>
            <a:ext cx="8595360" cy="658368"/>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7" name="Text 5"/>
          <p:cNvSpPr/>
          <p:nvPr/>
        </p:nvSpPr>
        <p:spPr>
          <a:xfrm>
            <a:off x="457200" y="1207008"/>
            <a:ext cx="8229600" cy="548640"/>
          </a:xfrm>
          <a:prstGeom prst="rect">
            <a:avLst/>
          </a:prstGeom>
          <a:noFill/>
          <a:ln/>
        </p:spPr>
        <p:txBody>
          <a:bodyPr wrap="square" rtlCol="0" anchor="ctr"/>
          <a:lstStyle/>
          <a:p>
            <a:pPr marL="0" indent="0">
              <a:buNone/>
            </a:pPr>
            <a:r>
              <a:rPr lang="en-US" sz="1200" i="1" dirty="0">
                <a:solidFill>
                  <a:srgbClr val="7A5C3A"/>
                </a:solidFill>
                <a:latin typeface="Calibri" pitchFamily="34" charset="0"/>
                <a:ea typeface="Calibri" pitchFamily="34" charset="-122"/>
                <a:cs typeface="Calibri" pitchFamily="34" charset="-120"/>
              </a:rPr>
              <a:t>The Northwind database represents a fictitious company that imports and exports specialty food products globally. It is a widely recognised relational dataset with 8 interrelated tables covering the full order-to-delivery lifecycle.</a:t>
            </a:r>
            <a:endParaRPr lang="en-US" sz="1200" dirty="0"/>
          </a:p>
        </p:txBody>
      </p:sp>
      <p:sp>
        <p:nvSpPr>
          <p:cNvPr id="8" name="Shape 6"/>
          <p:cNvSpPr/>
          <p:nvPr/>
        </p:nvSpPr>
        <p:spPr>
          <a:xfrm>
            <a:off x="274320" y="1920240"/>
            <a:ext cx="2011680" cy="822960"/>
          </a:xfrm>
          <a:prstGeom prst="rect">
            <a:avLst/>
          </a:prstGeom>
          <a:solidFill>
            <a:srgbClr val="3D1C02"/>
          </a:solidFill>
          <a:ln w="12700">
            <a:solidFill>
              <a:srgbClr val="E8820C"/>
            </a:solidFill>
            <a:prstDash val="solid"/>
          </a:ln>
          <a:effectLst>
            <a:outerShdw blurRad="101600" dist="38100" dir="8100000" algn="bl" rotWithShape="0">
              <a:srgbClr val="000000">
                <a:alpha val="12000"/>
              </a:srgbClr>
            </a:outerShdw>
          </a:effectLst>
        </p:spPr>
        <p:txBody>
          <a:bodyPr/>
          <a:lstStyle/>
          <a:p>
            <a:endParaRPr lang="en-US"/>
          </a:p>
        </p:txBody>
      </p:sp>
      <p:sp>
        <p:nvSpPr>
          <p:cNvPr id="9" name="Text 7"/>
          <p:cNvSpPr/>
          <p:nvPr/>
        </p:nvSpPr>
        <p:spPr>
          <a:xfrm>
            <a:off x="320040" y="1993392"/>
            <a:ext cx="1920240" cy="347472"/>
          </a:xfrm>
          <a:prstGeom prst="rect">
            <a:avLst/>
          </a:prstGeom>
          <a:noFill/>
          <a:ln/>
        </p:spPr>
        <p:txBody>
          <a:bodyPr wrap="square" lIns="0" tIns="0" rIns="0" bIns="0" rtlCol="0" anchor="ctr"/>
          <a:lstStyle/>
          <a:p>
            <a:pPr marL="0" indent="0" algn="ctr">
              <a:buNone/>
            </a:pPr>
            <a:r>
              <a:rPr lang="en-US" sz="1250" b="1" dirty="0">
                <a:solidFill>
                  <a:srgbClr val="F5C842"/>
                </a:solidFill>
                <a:latin typeface="Calibri" pitchFamily="34" charset="0"/>
                <a:ea typeface="Calibri" pitchFamily="34" charset="-122"/>
                <a:cs typeface="Calibri" pitchFamily="34" charset="-120"/>
              </a:rPr>
              <a:t>Customers</a:t>
            </a:r>
            <a:endParaRPr lang="en-US" sz="1250" dirty="0"/>
          </a:p>
        </p:txBody>
      </p:sp>
      <p:sp>
        <p:nvSpPr>
          <p:cNvPr id="10" name="Text 8"/>
          <p:cNvSpPr/>
          <p:nvPr/>
        </p:nvSpPr>
        <p:spPr>
          <a:xfrm>
            <a:off x="320040" y="2322576"/>
            <a:ext cx="1920240" cy="347472"/>
          </a:xfrm>
          <a:prstGeom prst="rect">
            <a:avLst/>
          </a:prstGeom>
          <a:noFill/>
          <a:ln/>
        </p:spPr>
        <p:txBody>
          <a:bodyPr wrap="square" lIns="0" tIns="0" rIns="0" bIns="0" rtlCol="0" anchor="ctr"/>
          <a:lstStyle/>
          <a:p>
            <a:pPr marL="0" indent="0" algn="ctr">
              <a:buNone/>
            </a:pPr>
            <a:r>
              <a:rPr lang="en-US" sz="1050" dirty="0">
                <a:solidFill>
                  <a:srgbClr val="FADED9"/>
                </a:solidFill>
                <a:latin typeface="Calibri" pitchFamily="34" charset="0"/>
                <a:ea typeface="Calibri" pitchFamily="34" charset="-122"/>
                <a:cs typeface="Calibri" pitchFamily="34" charset="-120"/>
              </a:rPr>
              <a:t>Demographics &amp; location</a:t>
            </a:r>
            <a:endParaRPr lang="en-US" sz="1050" dirty="0"/>
          </a:p>
        </p:txBody>
      </p:sp>
      <p:sp>
        <p:nvSpPr>
          <p:cNvPr id="11" name="Shape 9"/>
          <p:cNvSpPr/>
          <p:nvPr/>
        </p:nvSpPr>
        <p:spPr>
          <a:xfrm>
            <a:off x="2423160" y="1920240"/>
            <a:ext cx="2011680" cy="822960"/>
          </a:xfrm>
          <a:prstGeom prst="rect">
            <a:avLst/>
          </a:prstGeom>
          <a:solidFill>
            <a:srgbClr val="3D1C02"/>
          </a:solidFill>
          <a:ln w="12700">
            <a:solidFill>
              <a:srgbClr val="E8820C"/>
            </a:solidFill>
            <a:prstDash val="solid"/>
          </a:ln>
          <a:effectLst>
            <a:outerShdw blurRad="101600" dist="38100" dir="8100000" algn="bl" rotWithShape="0">
              <a:srgbClr val="000000">
                <a:alpha val="12000"/>
              </a:srgbClr>
            </a:outerShdw>
          </a:effectLst>
        </p:spPr>
        <p:txBody>
          <a:bodyPr/>
          <a:lstStyle/>
          <a:p>
            <a:endParaRPr lang="en-US"/>
          </a:p>
        </p:txBody>
      </p:sp>
      <p:sp>
        <p:nvSpPr>
          <p:cNvPr id="12" name="Text 10"/>
          <p:cNvSpPr/>
          <p:nvPr/>
        </p:nvSpPr>
        <p:spPr>
          <a:xfrm>
            <a:off x="2468880" y="1993392"/>
            <a:ext cx="1920240" cy="347472"/>
          </a:xfrm>
          <a:prstGeom prst="rect">
            <a:avLst/>
          </a:prstGeom>
          <a:noFill/>
          <a:ln/>
        </p:spPr>
        <p:txBody>
          <a:bodyPr wrap="square" lIns="0" tIns="0" rIns="0" bIns="0" rtlCol="0" anchor="ctr"/>
          <a:lstStyle/>
          <a:p>
            <a:pPr marL="0" indent="0" algn="ctr">
              <a:buNone/>
            </a:pPr>
            <a:r>
              <a:rPr lang="en-US" sz="1250" b="1" dirty="0">
                <a:solidFill>
                  <a:srgbClr val="F5C842"/>
                </a:solidFill>
                <a:latin typeface="Calibri" pitchFamily="34" charset="0"/>
                <a:ea typeface="Calibri" pitchFamily="34" charset="-122"/>
                <a:cs typeface="Calibri" pitchFamily="34" charset="-120"/>
              </a:rPr>
              <a:t>Orders</a:t>
            </a:r>
            <a:endParaRPr lang="en-US" sz="1250" dirty="0"/>
          </a:p>
        </p:txBody>
      </p:sp>
      <p:sp>
        <p:nvSpPr>
          <p:cNvPr id="13" name="Text 11"/>
          <p:cNvSpPr/>
          <p:nvPr/>
        </p:nvSpPr>
        <p:spPr>
          <a:xfrm>
            <a:off x="2468880" y="2322576"/>
            <a:ext cx="1920240" cy="347472"/>
          </a:xfrm>
          <a:prstGeom prst="rect">
            <a:avLst/>
          </a:prstGeom>
          <a:noFill/>
          <a:ln/>
        </p:spPr>
        <p:txBody>
          <a:bodyPr wrap="square" lIns="0" tIns="0" rIns="0" bIns="0" rtlCol="0" anchor="ctr"/>
          <a:lstStyle/>
          <a:p>
            <a:pPr marL="0" indent="0" algn="ctr">
              <a:buNone/>
            </a:pPr>
            <a:r>
              <a:rPr lang="en-US" sz="1050" dirty="0">
                <a:solidFill>
                  <a:srgbClr val="FADED9"/>
                </a:solidFill>
                <a:latin typeface="Calibri" pitchFamily="34" charset="0"/>
                <a:ea typeface="Calibri" pitchFamily="34" charset="-122"/>
                <a:cs typeface="Calibri" pitchFamily="34" charset="-120"/>
              </a:rPr>
              <a:t>Transaction records</a:t>
            </a:r>
            <a:endParaRPr lang="en-US" sz="1050" dirty="0"/>
          </a:p>
        </p:txBody>
      </p:sp>
      <p:sp>
        <p:nvSpPr>
          <p:cNvPr id="14" name="Shape 12"/>
          <p:cNvSpPr/>
          <p:nvPr/>
        </p:nvSpPr>
        <p:spPr>
          <a:xfrm>
            <a:off x="4572000" y="1920240"/>
            <a:ext cx="2011680" cy="822960"/>
          </a:xfrm>
          <a:prstGeom prst="rect">
            <a:avLst/>
          </a:prstGeom>
          <a:solidFill>
            <a:srgbClr val="3D1C02"/>
          </a:solidFill>
          <a:ln w="12700">
            <a:solidFill>
              <a:srgbClr val="E8820C"/>
            </a:solidFill>
            <a:prstDash val="solid"/>
          </a:ln>
          <a:effectLst>
            <a:outerShdw blurRad="101600" dist="38100" dir="8100000" algn="bl" rotWithShape="0">
              <a:srgbClr val="000000">
                <a:alpha val="12000"/>
              </a:srgbClr>
            </a:outerShdw>
          </a:effectLst>
        </p:spPr>
        <p:txBody>
          <a:bodyPr/>
          <a:lstStyle/>
          <a:p>
            <a:endParaRPr lang="en-US"/>
          </a:p>
        </p:txBody>
      </p:sp>
      <p:sp>
        <p:nvSpPr>
          <p:cNvPr id="15" name="Text 13"/>
          <p:cNvSpPr/>
          <p:nvPr/>
        </p:nvSpPr>
        <p:spPr>
          <a:xfrm>
            <a:off x="4617720" y="1993392"/>
            <a:ext cx="1920240" cy="347472"/>
          </a:xfrm>
          <a:prstGeom prst="rect">
            <a:avLst/>
          </a:prstGeom>
          <a:noFill/>
          <a:ln/>
        </p:spPr>
        <p:txBody>
          <a:bodyPr wrap="square" lIns="0" tIns="0" rIns="0" bIns="0" rtlCol="0" anchor="ctr"/>
          <a:lstStyle/>
          <a:p>
            <a:pPr marL="0" indent="0" algn="ctr">
              <a:buNone/>
            </a:pPr>
            <a:r>
              <a:rPr lang="en-US" sz="1250" b="1" dirty="0">
                <a:solidFill>
                  <a:srgbClr val="F5C842"/>
                </a:solidFill>
                <a:latin typeface="Calibri" pitchFamily="34" charset="0"/>
                <a:ea typeface="Calibri" pitchFamily="34" charset="-122"/>
                <a:cs typeface="Calibri" pitchFamily="34" charset="-120"/>
              </a:rPr>
              <a:t>Order Details</a:t>
            </a:r>
            <a:endParaRPr lang="en-US" sz="1250" dirty="0"/>
          </a:p>
        </p:txBody>
      </p:sp>
      <p:sp>
        <p:nvSpPr>
          <p:cNvPr id="16" name="Text 14"/>
          <p:cNvSpPr/>
          <p:nvPr/>
        </p:nvSpPr>
        <p:spPr>
          <a:xfrm>
            <a:off x="4617720" y="2322576"/>
            <a:ext cx="1920240" cy="347472"/>
          </a:xfrm>
          <a:prstGeom prst="rect">
            <a:avLst/>
          </a:prstGeom>
          <a:noFill/>
          <a:ln/>
        </p:spPr>
        <p:txBody>
          <a:bodyPr wrap="square" lIns="0" tIns="0" rIns="0" bIns="0" rtlCol="0" anchor="ctr"/>
          <a:lstStyle/>
          <a:p>
            <a:pPr marL="0" indent="0" algn="ctr">
              <a:buNone/>
            </a:pPr>
            <a:r>
              <a:rPr lang="en-US" sz="1050" dirty="0">
                <a:solidFill>
                  <a:srgbClr val="FADED9"/>
                </a:solidFill>
                <a:latin typeface="Calibri" pitchFamily="34" charset="0"/>
                <a:ea typeface="Calibri" pitchFamily="34" charset="-122"/>
                <a:cs typeface="Calibri" pitchFamily="34" charset="-120"/>
              </a:rPr>
              <a:t>Product-level line items</a:t>
            </a:r>
            <a:endParaRPr lang="en-US" sz="1050" dirty="0"/>
          </a:p>
        </p:txBody>
      </p:sp>
      <p:sp>
        <p:nvSpPr>
          <p:cNvPr id="17" name="Shape 15"/>
          <p:cNvSpPr/>
          <p:nvPr/>
        </p:nvSpPr>
        <p:spPr>
          <a:xfrm>
            <a:off x="6720840" y="1920240"/>
            <a:ext cx="2011680" cy="822960"/>
          </a:xfrm>
          <a:prstGeom prst="rect">
            <a:avLst/>
          </a:prstGeom>
          <a:solidFill>
            <a:srgbClr val="3D1C02"/>
          </a:solidFill>
          <a:ln w="12700">
            <a:solidFill>
              <a:srgbClr val="E8820C"/>
            </a:solidFill>
            <a:prstDash val="solid"/>
          </a:ln>
          <a:effectLst>
            <a:outerShdw blurRad="101600" dist="38100" dir="8100000" algn="bl" rotWithShape="0">
              <a:srgbClr val="000000">
                <a:alpha val="12000"/>
              </a:srgbClr>
            </a:outerShdw>
          </a:effectLst>
        </p:spPr>
        <p:txBody>
          <a:bodyPr/>
          <a:lstStyle/>
          <a:p>
            <a:endParaRPr lang="en-US"/>
          </a:p>
        </p:txBody>
      </p:sp>
      <p:sp>
        <p:nvSpPr>
          <p:cNvPr id="18" name="Text 16"/>
          <p:cNvSpPr/>
          <p:nvPr/>
        </p:nvSpPr>
        <p:spPr>
          <a:xfrm>
            <a:off x="6766560" y="1993392"/>
            <a:ext cx="1920240" cy="347472"/>
          </a:xfrm>
          <a:prstGeom prst="rect">
            <a:avLst/>
          </a:prstGeom>
          <a:noFill/>
          <a:ln/>
        </p:spPr>
        <p:txBody>
          <a:bodyPr wrap="square" lIns="0" tIns="0" rIns="0" bIns="0" rtlCol="0" anchor="ctr"/>
          <a:lstStyle/>
          <a:p>
            <a:pPr marL="0" indent="0" algn="ctr">
              <a:buNone/>
            </a:pPr>
            <a:r>
              <a:rPr lang="en-US" sz="1250" b="1" dirty="0">
                <a:solidFill>
                  <a:srgbClr val="F5C842"/>
                </a:solidFill>
                <a:latin typeface="Calibri" pitchFamily="34" charset="0"/>
                <a:ea typeface="Calibri" pitchFamily="34" charset="-122"/>
                <a:cs typeface="Calibri" pitchFamily="34" charset="-120"/>
              </a:rPr>
              <a:t>Products</a:t>
            </a:r>
            <a:endParaRPr lang="en-US" sz="1250" dirty="0"/>
          </a:p>
        </p:txBody>
      </p:sp>
      <p:sp>
        <p:nvSpPr>
          <p:cNvPr id="19" name="Text 17"/>
          <p:cNvSpPr/>
          <p:nvPr/>
        </p:nvSpPr>
        <p:spPr>
          <a:xfrm>
            <a:off x="6766560" y="2322576"/>
            <a:ext cx="1920240" cy="347472"/>
          </a:xfrm>
          <a:prstGeom prst="rect">
            <a:avLst/>
          </a:prstGeom>
          <a:noFill/>
          <a:ln/>
        </p:spPr>
        <p:txBody>
          <a:bodyPr wrap="square" lIns="0" tIns="0" rIns="0" bIns="0" rtlCol="0" anchor="ctr"/>
          <a:lstStyle/>
          <a:p>
            <a:pPr marL="0" indent="0" algn="ctr">
              <a:buNone/>
            </a:pPr>
            <a:r>
              <a:rPr lang="en-US" sz="1050" dirty="0">
                <a:solidFill>
                  <a:srgbClr val="FADED9"/>
                </a:solidFill>
                <a:latin typeface="Calibri" pitchFamily="34" charset="0"/>
                <a:ea typeface="Calibri" pitchFamily="34" charset="-122"/>
                <a:cs typeface="Calibri" pitchFamily="34" charset="-120"/>
              </a:rPr>
              <a:t>Details &amp; pricing</a:t>
            </a:r>
            <a:endParaRPr lang="en-US" sz="1050" dirty="0"/>
          </a:p>
        </p:txBody>
      </p:sp>
      <p:sp>
        <p:nvSpPr>
          <p:cNvPr id="20" name="Shape 18"/>
          <p:cNvSpPr/>
          <p:nvPr/>
        </p:nvSpPr>
        <p:spPr>
          <a:xfrm>
            <a:off x="274320" y="2880360"/>
            <a:ext cx="2011680" cy="822960"/>
          </a:xfrm>
          <a:prstGeom prst="rect">
            <a:avLst/>
          </a:prstGeom>
          <a:solidFill>
            <a:srgbClr val="3D1C02"/>
          </a:solidFill>
          <a:ln w="12700">
            <a:solidFill>
              <a:srgbClr val="E8820C"/>
            </a:solidFill>
            <a:prstDash val="solid"/>
          </a:ln>
          <a:effectLst>
            <a:outerShdw blurRad="101600" dist="38100" dir="8100000" algn="bl" rotWithShape="0">
              <a:srgbClr val="000000">
                <a:alpha val="12000"/>
              </a:srgbClr>
            </a:outerShdw>
          </a:effectLst>
        </p:spPr>
        <p:txBody>
          <a:bodyPr/>
          <a:lstStyle/>
          <a:p>
            <a:endParaRPr lang="en-US"/>
          </a:p>
        </p:txBody>
      </p:sp>
      <p:sp>
        <p:nvSpPr>
          <p:cNvPr id="21" name="Text 19"/>
          <p:cNvSpPr/>
          <p:nvPr/>
        </p:nvSpPr>
        <p:spPr>
          <a:xfrm>
            <a:off x="320040" y="2953512"/>
            <a:ext cx="1920240" cy="347472"/>
          </a:xfrm>
          <a:prstGeom prst="rect">
            <a:avLst/>
          </a:prstGeom>
          <a:noFill/>
          <a:ln/>
        </p:spPr>
        <p:txBody>
          <a:bodyPr wrap="square" lIns="0" tIns="0" rIns="0" bIns="0" rtlCol="0" anchor="ctr"/>
          <a:lstStyle/>
          <a:p>
            <a:pPr marL="0" indent="0" algn="ctr">
              <a:buNone/>
            </a:pPr>
            <a:r>
              <a:rPr lang="en-US" sz="1250" b="1" dirty="0">
                <a:solidFill>
                  <a:srgbClr val="F5C842"/>
                </a:solidFill>
                <a:latin typeface="Calibri" pitchFamily="34" charset="0"/>
                <a:ea typeface="Calibri" pitchFamily="34" charset="-122"/>
                <a:cs typeface="Calibri" pitchFamily="34" charset="-120"/>
              </a:rPr>
              <a:t>Suppliers</a:t>
            </a:r>
            <a:endParaRPr lang="en-US" sz="1250" dirty="0"/>
          </a:p>
        </p:txBody>
      </p:sp>
      <p:sp>
        <p:nvSpPr>
          <p:cNvPr id="22" name="Text 20"/>
          <p:cNvSpPr/>
          <p:nvPr/>
        </p:nvSpPr>
        <p:spPr>
          <a:xfrm>
            <a:off x="320040" y="3282696"/>
            <a:ext cx="1920240" cy="347472"/>
          </a:xfrm>
          <a:prstGeom prst="rect">
            <a:avLst/>
          </a:prstGeom>
          <a:noFill/>
          <a:ln/>
        </p:spPr>
        <p:txBody>
          <a:bodyPr wrap="square" lIns="0" tIns="0" rIns="0" bIns="0" rtlCol="0" anchor="ctr"/>
          <a:lstStyle/>
          <a:p>
            <a:pPr marL="0" indent="0" algn="ctr">
              <a:buNone/>
            </a:pPr>
            <a:r>
              <a:rPr lang="en-US" sz="1050" dirty="0">
                <a:solidFill>
                  <a:srgbClr val="FADED9"/>
                </a:solidFill>
                <a:latin typeface="Calibri" pitchFamily="34" charset="0"/>
                <a:ea typeface="Calibri" pitchFamily="34" charset="-122"/>
                <a:cs typeface="Calibri" pitchFamily="34" charset="-120"/>
              </a:rPr>
              <a:t>Supplier information</a:t>
            </a:r>
            <a:endParaRPr lang="en-US" sz="1050" dirty="0"/>
          </a:p>
        </p:txBody>
      </p:sp>
      <p:sp>
        <p:nvSpPr>
          <p:cNvPr id="23" name="Shape 21"/>
          <p:cNvSpPr/>
          <p:nvPr/>
        </p:nvSpPr>
        <p:spPr>
          <a:xfrm>
            <a:off x="2423160" y="2880360"/>
            <a:ext cx="2011680" cy="822960"/>
          </a:xfrm>
          <a:prstGeom prst="rect">
            <a:avLst/>
          </a:prstGeom>
          <a:solidFill>
            <a:srgbClr val="3D1C02"/>
          </a:solidFill>
          <a:ln w="12700">
            <a:solidFill>
              <a:srgbClr val="E8820C"/>
            </a:solidFill>
            <a:prstDash val="solid"/>
          </a:ln>
          <a:effectLst>
            <a:outerShdw blurRad="101600" dist="38100" dir="8100000" algn="bl" rotWithShape="0">
              <a:srgbClr val="000000">
                <a:alpha val="12000"/>
              </a:srgbClr>
            </a:outerShdw>
          </a:effectLst>
        </p:spPr>
        <p:txBody>
          <a:bodyPr/>
          <a:lstStyle/>
          <a:p>
            <a:endParaRPr lang="en-US"/>
          </a:p>
        </p:txBody>
      </p:sp>
      <p:sp>
        <p:nvSpPr>
          <p:cNvPr id="24" name="Text 22"/>
          <p:cNvSpPr/>
          <p:nvPr/>
        </p:nvSpPr>
        <p:spPr>
          <a:xfrm>
            <a:off x="2468880" y="2953512"/>
            <a:ext cx="1920240" cy="347472"/>
          </a:xfrm>
          <a:prstGeom prst="rect">
            <a:avLst/>
          </a:prstGeom>
          <a:noFill/>
          <a:ln/>
        </p:spPr>
        <p:txBody>
          <a:bodyPr wrap="square" lIns="0" tIns="0" rIns="0" bIns="0" rtlCol="0" anchor="ctr"/>
          <a:lstStyle/>
          <a:p>
            <a:pPr marL="0" indent="0" algn="ctr">
              <a:buNone/>
            </a:pPr>
            <a:r>
              <a:rPr lang="en-US" sz="1250" b="1" dirty="0">
                <a:solidFill>
                  <a:srgbClr val="F5C842"/>
                </a:solidFill>
                <a:latin typeface="Calibri" pitchFamily="34" charset="0"/>
                <a:ea typeface="Calibri" pitchFamily="34" charset="-122"/>
                <a:cs typeface="Calibri" pitchFamily="34" charset="-120"/>
              </a:rPr>
              <a:t>Employees</a:t>
            </a:r>
            <a:endParaRPr lang="en-US" sz="1250" dirty="0"/>
          </a:p>
        </p:txBody>
      </p:sp>
      <p:sp>
        <p:nvSpPr>
          <p:cNvPr id="25" name="Text 23"/>
          <p:cNvSpPr/>
          <p:nvPr/>
        </p:nvSpPr>
        <p:spPr>
          <a:xfrm>
            <a:off x="2468880" y="3282696"/>
            <a:ext cx="1920240" cy="347472"/>
          </a:xfrm>
          <a:prstGeom prst="rect">
            <a:avLst/>
          </a:prstGeom>
          <a:noFill/>
          <a:ln/>
        </p:spPr>
        <p:txBody>
          <a:bodyPr wrap="square" lIns="0" tIns="0" rIns="0" bIns="0" rtlCol="0" anchor="ctr"/>
          <a:lstStyle/>
          <a:p>
            <a:pPr marL="0" indent="0" algn="ctr">
              <a:buNone/>
            </a:pPr>
            <a:r>
              <a:rPr lang="en-US" sz="1050" dirty="0">
                <a:solidFill>
                  <a:srgbClr val="FADED9"/>
                </a:solidFill>
                <a:latin typeface="Calibri" pitchFamily="34" charset="0"/>
                <a:ea typeface="Calibri" pitchFamily="34" charset="-122"/>
                <a:cs typeface="Calibri" pitchFamily="34" charset="-120"/>
              </a:rPr>
              <a:t>Roles &amp; hierarchy</a:t>
            </a:r>
            <a:endParaRPr lang="en-US" sz="1050" dirty="0"/>
          </a:p>
        </p:txBody>
      </p:sp>
      <p:sp>
        <p:nvSpPr>
          <p:cNvPr id="26" name="Shape 24"/>
          <p:cNvSpPr/>
          <p:nvPr/>
        </p:nvSpPr>
        <p:spPr>
          <a:xfrm>
            <a:off x="4572000" y="2880360"/>
            <a:ext cx="2011680" cy="822960"/>
          </a:xfrm>
          <a:prstGeom prst="rect">
            <a:avLst/>
          </a:prstGeom>
          <a:solidFill>
            <a:srgbClr val="3D1C02"/>
          </a:solidFill>
          <a:ln w="12700">
            <a:solidFill>
              <a:srgbClr val="E8820C"/>
            </a:solidFill>
            <a:prstDash val="solid"/>
          </a:ln>
          <a:effectLst>
            <a:outerShdw blurRad="101600" dist="38100" dir="8100000" algn="bl" rotWithShape="0">
              <a:srgbClr val="000000">
                <a:alpha val="12000"/>
              </a:srgbClr>
            </a:outerShdw>
          </a:effectLst>
        </p:spPr>
        <p:txBody>
          <a:bodyPr/>
          <a:lstStyle/>
          <a:p>
            <a:endParaRPr lang="en-US"/>
          </a:p>
        </p:txBody>
      </p:sp>
      <p:sp>
        <p:nvSpPr>
          <p:cNvPr id="27" name="Text 25"/>
          <p:cNvSpPr/>
          <p:nvPr/>
        </p:nvSpPr>
        <p:spPr>
          <a:xfrm>
            <a:off x="4617720" y="2953512"/>
            <a:ext cx="1920240" cy="347472"/>
          </a:xfrm>
          <a:prstGeom prst="rect">
            <a:avLst/>
          </a:prstGeom>
          <a:noFill/>
          <a:ln/>
        </p:spPr>
        <p:txBody>
          <a:bodyPr wrap="square" lIns="0" tIns="0" rIns="0" bIns="0" rtlCol="0" anchor="ctr"/>
          <a:lstStyle/>
          <a:p>
            <a:pPr marL="0" indent="0" algn="ctr">
              <a:buNone/>
            </a:pPr>
            <a:r>
              <a:rPr lang="en-US" sz="1250" b="1" dirty="0">
                <a:solidFill>
                  <a:srgbClr val="F5C842"/>
                </a:solidFill>
                <a:latin typeface="Calibri" pitchFamily="34" charset="0"/>
                <a:ea typeface="Calibri" pitchFamily="34" charset="-122"/>
                <a:cs typeface="Calibri" pitchFamily="34" charset="-120"/>
              </a:rPr>
              <a:t>Shippers</a:t>
            </a:r>
            <a:endParaRPr lang="en-US" sz="1250" dirty="0"/>
          </a:p>
        </p:txBody>
      </p:sp>
      <p:sp>
        <p:nvSpPr>
          <p:cNvPr id="28" name="Text 26"/>
          <p:cNvSpPr/>
          <p:nvPr/>
        </p:nvSpPr>
        <p:spPr>
          <a:xfrm>
            <a:off x="4617720" y="3282696"/>
            <a:ext cx="1920240" cy="347472"/>
          </a:xfrm>
          <a:prstGeom prst="rect">
            <a:avLst/>
          </a:prstGeom>
          <a:noFill/>
          <a:ln/>
        </p:spPr>
        <p:txBody>
          <a:bodyPr wrap="square" lIns="0" tIns="0" rIns="0" bIns="0" rtlCol="0" anchor="ctr"/>
          <a:lstStyle/>
          <a:p>
            <a:pPr marL="0" indent="0" algn="ctr">
              <a:buNone/>
            </a:pPr>
            <a:r>
              <a:rPr lang="en-US" sz="1050" dirty="0">
                <a:solidFill>
                  <a:srgbClr val="FADED9"/>
                </a:solidFill>
                <a:latin typeface="Calibri" pitchFamily="34" charset="0"/>
                <a:ea typeface="Calibri" pitchFamily="34" charset="-122"/>
                <a:cs typeface="Calibri" pitchFamily="34" charset="-120"/>
              </a:rPr>
              <a:t>Shipping companies</a:t>
            </a:r>
            <a:endParaRPr lang="en-US" sz="1050" dirty="0"/>
          </a:p>
        </p:txBody>
      </p:sp>
      <p:sp>
        <p:nvSpPr>
          <p:cNvPr id="29" name="Shape 27"/>
          <p:cNvSpPr/>
          <p:nvPr/>
        </p:nvSpPr>
        <p:spPr>
          <a:xfrm>
            <a:off x="6720840" y="2880360"/>
            <a:ext cx="2011680" cy="822960"/>
          </a:xfrm>
          <a:prstGeom prst="rect">
            <a:avLst/>
          </a:prstGeom>
          <a:solidFill>
            <a:srgbClr val="3D1C02"/>
          </a:solidFill>
          <a:ln w="12700">
            <a:solidFill>
              <a:srgbClr val="E8820C"/>
            </a:solidFill>
            <a:prstDash val="solid"/>
          </a:ln>
          <a:effectLst>
            <a:outerShdw blurRad="101600" dist="38100" dir="8100000" algn="bl" rotWithShape="0">
              <a:srgbClr val="000000">
                <a:alpha val="12000"/>
              </a:srgbClr>
            </a:outerShdw>
          </a:effectLst>
        </p:spPr>
        <p:txBody>
          <a:bodyPr/>
          <a:lstStyle/>
          <a:p>
            <a:endParaRPr lang="en-US"/>
          </a:p>
        </p:txBody>
      </p:sp>
      <p:sp>
        <p:nvSpPr>
          <p:cNvPr id="30" name="Text 28"/>
          <p:cNvSpPr/>
          <p:nvPr/>
        </p:nvSpPr>
        <p:spPr>
          <a:xfrm>
            <a:off x="6766560" y="2953512"/>
            <a:ext cx="1920240" cy="347472"/>
          </a:xfrm>
          <a:prstGeom prst="rect">
            <a:avLst/>
          </a:prstGeom>
          <a:noFill/>
          <a:ln/>
        </p:spPr>
        <p:txBody>
          <a:bodyPr wrap="square" lIns="0" tIns="0" rIns="0" bIns="0" rtlCol="0" anchor="ctr"/>
          <a:lstStyle/>
          <a:p>
            <a:pPr marL="0" indent="0" algn="ctr">
              <a:buNone/>
            </a:pPr>
            <a:r>
              <a:rPr lang="en-US" sz="1250" b="1" dirty="0">
                <a:solidFill>
                  <a:srgbClr val="F5C842"/>
                </a:solidFill>
                <a:latin typeface="Calibri" pitchFamily="34" charset="0"/>
                <a:ea typeface="Calibri" pitchFamily="34" charset="-122"/>
                <a:cs typeface="Calibri" pitchFamily="34" charset="-120"/>
              </a:rPr>
              <a:t>Categories</a:t>
            </a:r>
            <a:endParaRPr lang="en-US" sz="1250" dirty="0"/>
          </a:p>
        </p:txBody>
      </p:sp>
      <p:sp>
        <p:nvSpPr>
          <p:cNvPr id="31" name="Text 29"/>
          <p:cNvSpPr/>
          <p:nvPr/>
        </p:nvSpPr>
        <p:spPr>
          <a:xfrm>
            <a:off x="6766560" y="3282696"/>
            <a:ext cx="1920240" cy="347472"/>
          </a:xfrm>
          <a:prstGeom prst="rect">
            <a:avLst/>
          </a:prstGeom>
          <a:noFill/>
          <a:ln/>
        </p:spPr>
        <p:txBody>
          <a:bodyPr wrap="square" lIns="0" tIns="0" rIns="0" bIns="0" rtlCol="0" anchor="ctr"/>
          <a:lstStyle/>
          <a:p>
            <a:pPr marL="0" indent="0" algn="ctr">
              <a:buNone/>
            </a:pPr>
            <a:r>
              <a:rPr lang="en-US" sz="1050" dirty="0">
                <a:solidFill>
                  <a:srgbClr val="FADED9"/>
                </a:solidFill>
                <a:latin typeface="Calibri" pitchFamily="34" charset="0"/>
                <a:ea typeface="Calibri" pitchFamily="34" charset="-122"/>
                <a:cs typeface="Calibri" pitchFamily="34" charset="-120"/>
              </a:rPr>
              <a:t>Product categories</a:t>
            </a:r>
            <a:endParaRPr lang="en-US" sz="1050" dirty="0"/>
          </a:p>
        </p:txBody>
      </p:sp>
      <p:sp>
        <p:nvSpPr>
          <p:cNvPr id="32" name="Shape 30"/>
          <p:cNvSpPr/>
          <p:nvPr/>
        </p:nvSpPr>
        <p:spPr>
          <a:xfrm>
            <a:off x="1143000" y="4297680"/>
            <a:ext cx="2286000" cy="548640"/>
          </a:xfrm>
          <a:prstGeom prst="rect">
            <a:avLst/>
          </a:prstGeom>
          <a:solidFill>
            <a:srgbClr val="E8820C"/>
          </a:solidFill>
          <a:ln w="12700">
            <a:solidFill>
              <a:srgbClr val="E8820C"/>
            </a:solidFill>
            <a:prstDash val="solid"/>
          </a:ln>
          <a:effectLst>
            <a:outerShdw blurRad="101600" dist="38100" dir="8100000" algn="bl" rotWithShape="0">
              <a:srgbClr val="000000">
                <a:alpha val="12000"/>
              </a:srgbClr>
            </a:outerShdw>
          </a:effectLst>
        </p:spPr>
        <p:txBody>
          <a:bodyPr/>
          <a:lstStyle/>
          <a:p>
            <a:endParaRPr lang="en-US"/>
          </a:p>
        </p:txBody>
      </p:sp>
      <p:sp>
        <p:nvSpPr>
          <p:cNvPr id="33" name="Text 31"/>
          <p:cNvSpPr/>
          <p:nvPr/>
        </p:nvSpPr>
        <p:spPr>
          <a:xfrm>
            <a:off x="1143000" y="4297680"/>
            <a:ext cx="228600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SQL</a:t>
            </a:r>
            <a:endParaRPr lang="en-US" sz="1300" dirty="0"/>
          </a:p>
        </p:txBody>
      </p:sp>
      <p:sp>
        <p:nvSpPr>
          <p:cNvPr id="34" name="Shape 32"/>
          <p:cNvSpPr/>
          <p:nvPr/>
        </p:nvSpPr>
        <p:spPr>
          <a:xfrm>
            <a:off x="3886200" y="4297680"/>
            <a:ext cx="2286000" cy="548640"/>
          </a:xfrm>
          <a:prstGeom prst="rect">
            <a:avLst/>
          </a:prstGeom>
          <a:solidFill>
            <a:srgbClr val="E8820C"/>
          </a:solidFill>
          <a:ln w="12700">
            <a:solidFill>
              <a:srgbClr val="E8820C"/>
            </a:solidFill>
            <a:prstDash val="solid"/>
          </a:ln>
          <a:effectLst>
            <a:outerShdw blurRad="101600" dist="38100" dir="8100000" algn="bl" rotWithShape="0">
              <a:srgbClr val="000000">
                <a:alpha val="12000"/>
              </a:srgbClr>
            </a:outerShdw>
          </a:effectLst>
        </p:spPr>
        <p:txBody>
          <a:bodyPr/>
          <a:lstStyle/>
          <a:p>
            <a:endParaRPr lang="en-US"/>
          </a:p>
        </p:txBody>
      </p:sp>
      <p:sp>
        <p:nvSpPr>
          <p:cNvPr id="35" name="Text 33"/>
          <p:cNvSpPr/>
          <p:nvPr/>
        </p:nvSpPr>
        <p:spPr>
          <a:xfrm>
            <a:off x="3886200" y="4297680"/>
            <a:ext cx="228600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Excel</a:t>
            </a:r>
            <a:endParaRPr lang="en-US" sz="1300" dirty="0"/>
          </a:p>
        </p:txBody>
      </p:sp>
      <p:sp>
        <p:nvSpPr>
          <p:cNvPr id="36" name="Shape 34"/>
          <p:cNvSpPr/>
          <p:nvPr/>
        </p:nvSpPr>
        <p:spPr>
          <a:xfrm>
            <a:off x="6629400" y="4297680"/>
            <a:ext cx="2286000" cy="548640"/>
          </a:xfrm>
          <a:prstGeom prst="rect">
            <a:avLst/>
          </a:prstGeom>
          <a:solidFill>
            <a:srgbClr val="E8820C"/>
          </a:solidFill>
          <a:ln w="12700">
            <a:solidFill>
              <a:srgbClr val="E8820C"/>
            </a:solidFill>
            <a:prstDash val="solid"/>
          </a:ln>
          <a:effectLst>
            <a:outerShdw blurRad="101600" dist="38100" dir="8100000" algn="bl" rotWithShape="0">
              <a:srgbClr val="000000">
                <a:alpha val="12000"/>
              </a:srgbClr>
            </a:outerShdw>
          </a:effectLst>
        </p:spPr>
        <p:txBody>
          <a:bodyPr/>
          <a:lstStyle/>
          <a:p>
            <a:endParaRPr lang="en-US"/>
          </a:p>
        </p:txBody>
      </p:sp>
      <p:sp>
        <p:nvSpPr>
          <p:cNvPr id="37" name="Text 35"/>
          <p:cNvSpPr/>
          <p:nvPr/>
        </p:nvSpPr>
        <p:spPr>
          <a:xfrm>
            <a:off x="6629400" y="4297680"/>
            <a:ext cx="228600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Power BI</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BF2"/>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3D1C02"/>
          </a:solidFill>
          <a:ln w="12700">
            <a:solidFill>
              <a:srgbClr val="3D1C02"/>
            </a:solidFill>
            <a:prstDash val="solid"/>
          </a:ln>
        </p:spPr>
        <p:txBody>
          <a:bodyPr/>
          <a:lstStyle/>
          <a:p>
            <a:endParaRPr lang="en-US"/>
          </a:p>
        </p:txBody>
      </p:sp>
      <p:sp>
        <p:nvSpPr>
          <p:cNvPr id="3" name="Text 1"/>
          <p:cNvSpPr/>
          <p:nvPr/>
        </p:nvSpPr>
        <p:spPr>
          <a:xfrm>
            <a:off x="320040" y="118872"/>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 Processing Pipeline</a:t>
            </a:r>
            <a:endParaRPr lang="en-US" sz="2200" dirty="0"/>
          </a:p>
        </p:txBody>
      </p:sp>
      <p:sp>
        <p:nvSpPr>
          <p:cNvPr id="4" name="Text 2"/>
          <p:cNvSpPr/>
          <p:nvPr/>
        </p:nvSpPr>
        <p:spPr>
          <a:xfrm>
            <a:off x="320040" y="658368"/>
            <a:ext cx="6400800" cy="292608"/>
          </a:xfrm>
          <a:prstGeom prst="rect">
            <a:avLst/>
          </a:prstGeom>
          <a:noFill/>
          <a:ln/>
        </p:spPr>
        <p:txBody>
          <a:bodyPr wrap="square" lIns="0" tIns="0" rIns="0" bIns="0" rtlCol="0" anchor="ctr"/>
          <a:lstStyle/>
          <a:p>
            <a:pPr marL="0" indent="0">
              <a:buNone/>
            </a:pPr>
            <a:r>
              <a:rPr lang="en-US" sz="1100" i="1" dirty="0">
                <a:solidFill>
                  <a:srgbClr val="F5C842"/>
                </a:solidFill>
                <a:latin typeface="Calibri" pitchFamily="34" charset="0"/>
                <a:ea typeface="Calibri" pitchFamily="34" charset="-122"/>
                <a:cs typeface="Calibri" pitchFamily="34" charset="-120"/>
              </a:rPr>
              <a:t>SQL  →  Excel  →  Power BI</a:t>
            </a:r>
            <a:endParaRPr lang="en-US" sz="1100" dirty="0"/>
          </a:p>
        </p:txBody>
      </p:sp>
      <p:sp>
        <p:nvSpPr>
          <p:cNvPr id="5" name="Shape 3"/>
          <p:cNvSpPr/>
          <p:nvPr/>
        </p:nvSpPr>
        <p:spPr>
          <a:xfrm>
            <a:off x="8412480" y="182880"/>
            <a:ext cx="548640" cy="640080"/>
          </a:xfrm>
          <a:prstGeom prst="rect">
            <a:avLst/>
          </a:prstGeom>
          <a:solidFill>
            <a:srgbClr val="E8820C"/>
          </a:solidFill>
          <a:ln w="12700">
            <a:solidFill>
              <a:srgbClr val="E8820C"/>
            </a:solidFill>
            <a:prstDash val="solid"/>
          </a:ln>
        </p:spPr>
        <p:txBody>
          <a:bodyPr/>
          <a:lstStyle/>
          <a:p>
            <a:endParaRPr lang="en-US"/>
          </a:p>
        </p:txBody>
      </p:sp>
      <p:sp>
        <p:nvSpPr>
          <p:cNvPr id="6" name="Shape 4"/>
          <p:cNvSpPr/>
          <p:nvPr/>
        </p:nvSpPr>
        <p:spPr>
          <a:xfrm>
            <a:off x="274320" y="1097280"/>
            <a:ext cx="2743200" cy="374904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274320" y="1097280"/>
            <a:ext cx="2743200" cy="384048"/>
          </a:xfrm>
          <a:prstGeom prst="rect">
            <a:avLst/>
          </a:prstGeom>
          <a:solidFill>
            <a:srgbClr val="C45C0A"/>
          </a:solidFill>
          <a:ln w="12700">
            <a:solidFill>
              <a:srgbClr val="C45C0A"/>
            </a:solidFill>
            <a:prstDash val="solid"/>
          </a:ln>
        </p:spPr>
        <p:txBody>
          <a:bodyPr/>
          <a:lstStyle/>
          <a:p>
            <a:endParaRPr lang="en-US"/>
          </a:p>
        </p:txBody>
      </p:sp>
      <p:sp>
        <p:nvSpPr>
          <p:cNvPr id="8" name="Text 6"/>
          <p:cNvSpPr/>
          <p:nvPr/>
        </p:nvSpPr>
        <p:spPr>
          <a:xfrm>
            <a:off x="320040" y="1097280"/>
            <a:ext cx="2651760"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SQL</a:t>
            </a:r>
            <a:endParaRPr lang="en-US" sz="2000" dirty="0"/>
          </a:p>
        </p:txBody>
      </p:sp>
      <p:sp>
        <p:nvSpPr>
          <p:cNvPr id="9" name="Text 7"/>
          <p:cNvSpPr/>
          <p:nvPr/>
        </p:nvSpPr>
        <p:spPr>
          <a:xfrm>
            <a:off x="365760" y="1536192"/>
            <a:ext cx="2560320" cy="3200400"/>
          </a:xfrm>
          <a:prstGeom prst="rect">
            <a:avLst/>
          </a:prstGeom>
          <a:noFill/>
          <a:ln/>
        </p:spPr>
        <p:txBody>
          <a:bodyPr wrap="square" rtlCol="0" anchor="t"/>
          <a:lstStyle/>
          <a:p>
            <a:pPr marL="342900" indent="-342900">
              <a:spcAft>
                <a:spcPts val="600"/>
              </a:spcAft>
              <a:buSzPct val="100000"/>
              <a:buChar char="•"/>
            </a:pPr>
            <a:r>
              <a:rPr lang="en-US" sz="1400" dirty="0">
                <a:solidFill>
                  <a:srgbClr val="2A1500"/>
                </a:solidFill>
                <a:latin typeface="Calibri" pitchFamily="34" charset="0"/>
                <a:ea typeface="Calibri" pitchFamily="34" charset="-122"/>
                <a:cs typeface="Calibri" pitchFamily="34" charset="-120"/>
              </a:rPr>
              <a:t>Multi-table JOINs (INNER, LEFT) across Orders, Products, Customers</a:t>
            </a:r>
            <a:endParaRPr lang="en-US" sz="1400" dirty="0"/>
          </a:p>
          <a:p>
            <a:pPr marL="342900" indent="-342900">
              <a:spcAft>
                <a:spcPts val="600"/>
              </a:spcAft>
              <a:buSzPct val="100000"/>
              <a:buChar char="•"/>
            </a:pPr>
            <a:r>
              <a:rPr lang="en-US" sz="1400" dirty="0">
                <a:solidFill>
                  <a:srgbClr val="2A1500"/>
                </a:solidFill>
                <a:latin typeface="Calibri" pitchFamily="34" charset="0"/>
                <a:ea typeface="Calibri" pitchFamily="34" charset="-122"/>
                <a:cs typeface="Calibri" pitchFamily="34" charset="-120"/>
              </a:rPr>
              <a:t>Aggregations: SUM, COUNT, AVG for revenue, order count, shipping days</a:t>
            </a:r>
            <a:endParaRPr lang="en-US" sz="1400" dirty="0"/>
          </a:p>
          <a:p>
            <a:pPr marL="342900" indent="-342900">
              <a:spcAft>
                <a:spcPts val="600"/>
              </a:spcAft>
              <a:buSzPct val="100000"/>
              <a:buChar char="•"/>
            </a:pPr>
            <a:r>
              <a:rPr lang="en-US" sz="1400" dirty="0">
                <a:solidFill>
                  <a:srgbClr val="2A1500"/>
                </a:solidFill>
                <a:latin typeface="Calibri" pitchFamily="34" charset="0"/>
                <a:ea typeface="Calibri" pitchFamily="34" charset="-122"/>
                <a:cs typeface="Calibri" pitchFamily="34" charset="-120"/>
              </a:rPr>
              <a:t>Window functions for YoY &amp; MoM growth calculations</a:t>
            </a:r>
            <a:endParaRPr lang="en-US" sz="1400" dirty="0"/>
          </a:p>
          <a:p>
            <a:pPr marL="342900" indent="-342900">
              <a:spcAft>
                <a:spcPts val="600"/>
              </a:spcAft>
              <a:buSzPct val="100000"/>
              <a:buChar char="•"/>
            </a:pPr>
            <a:r>
              <a:rPr lang="en-US" sz="1400" dirty="0">
                <a:solidFill>
                  <a:srgbClr val="2A1500"/>
                </a:solidFill>
                <a:latin typeface="Calibri" pitchFamily="34" charset="0"/>
                <a:ea typeface="Calibri" pitchFamily="34" charset="-122"/>
                <a:cs typeface="Calibri" pitchFamily="34" charset="-120"/>
              </a:rPr>
              <a:t>Filtering &amp; sub-queries for late shipments and top products</a:t>
            </a:r>
            <a:endParaRPr lang="en-US" sz="1400" dirty="0"/>
          </a:p>
        </p:txBody>
      </p:sp>
      <p:sp>
        <p:nvSpPr>
          <p:cNvPr id="10" name="Shape 8"/>
          <p:cNvSpPr/>
          <p:nvPr/>
        </p:nvSpPr>
        <p:spPr>
          <a:xfrm>
            <a:off x="3063240" y="2971800"/>
            <a:ext cx="137160" cy="0"/>
          </a:xfrm>
          <a:prstGeom prst="line">
            <a:avLst/>
          </a:prstGeom>
          <a:noFill/>
          <a:ln w="25400">
            <a:solidFill>
              <a:srgbClr val="E8820C"/>
            </a:solidFill>
            <a:prstDash val="solid"/>
          </a:ln>
        </p:spPr>
        <p:txBody>
          <a:bodyPr/>
          <a:lstStyle/>
          <a:p>
            <a:endParaRPr lang="en-US"/>
          </a:p>
        </p:txBody>
      </p:sp>
      <p:sp>
        <p:nvSpPr>
          <p:cNvPr id="11" name="Shape 9"/>
          <p:cNvSpPr/>
          <p:nvPr/>
        </p:nvSpPr>
        <p:spPr>
          <a:xfrm>
            <a:off x="3200400" y="1097280"/>
            <a:ext cx="2743200" cy="374904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3200400" y="1097280"/>
            <a:ext cx="2743200" cy="384048"/>
          </a:xfrm>
          <a:prstGeom prst="rect">
            <a:avLst/>
          </a:prstGeom>
          <a:solidFill>
            <a:srgbClr val="D4A017"/>
          </a:solidFill>
          <a:ln w="12700">
            <a:solidFill>
              <a:srgbClr val="D4A017"/>
            </a:solidFill>
            <a:prstDash val="solid"/>
          </a:ln>
        </p:spPr>
        <p:txBody>
          <a:bodyPr/>
          <a:lstStyle/>
          <a:p>
            <a:endParaRPr lang="en-US"/>
          </a:p>
        </p:txBody>
      </p:sp>
      <p:sp>
        <p:nvSpPr>
          <p:cNvPr id="13" name="Text 11"/>
          <p:cNvSpPr/>
          <p:nvPr/>
        </p:nvSpPr>
        <p:spPr>
          <a:xfrm>
            <a:off x="3246120" y="1097280"/>
            <a:ext cx="2651760"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Excel</a:t>
            </a:r>
            <a:endParaRPr lang="en-US" sz="1400" dirty="0"/>
          </a:p>
        </p:txBody>
      </p:sp>
      <p:sp>
        <p:nvSpPr>
          <p:cNvPr id="14" name="Text 12"/>
          <p:cNvSpPr/>
          <p:nvPr/>
        </p:nvSpPr>
        <p:spPr>
          <a:xfrm>
            <a:off x="3291840" y="1536192"/>
            <a:ext cx="2560320" cy="3200400"/>
          </a:xfrm>
          <a:prstGeom prst="rect">
            <a:avLst/>
          </a:prstGeom>
          <a:noFill/>
          <a:ln/>
        </p:spPr>
        <p:txBody>
          <a:bodyPr wrap="square" rtlCol="0" anchor="t"/>
          <a:lstStyle/>
          <a:p>
            <a:pPr marL="342900" indent="-342900">
              <a:spcAft>
                <a:spcPts val="600"/>
              </a:spcAft>
              <a:buSzPct val="100000"/>
              <a:buChar char="•"/>
            </a:pPr>
            <a:r>
              <a:rPr lang="en-US" sz="1600" dirty="0">
                <a:solidFill>
                  <a:srgbClr val="2A1500"/>
                </a:solidFill>
                <a:latin typeface="Calibri" pitchFamily="34" charset="0"/>
                <a:ea typeface="Calibri" pitchFamily="34" charset="-122"/>
                <a:cs typeface="Calibri" pitchFamily="34" charset="-120"/>
              </a:rPr>
              <a:t>Validation of row counts vs. SQL output</a:t>
            </a:r>
            <a:endParaRPr lang="en-US" sz="1600" dirty="0"/>
          </a:p>
          <a:p>
            <a:pPr marL="342900" indent="-342900">
              <a:spcAft>
                <a:spcPts val="600"/>
              </a:spcAft>
              <a:buSzPct val="100000"/>
              <a:buChar char="•"/>
            </a:pPr>
            <a:r>
              <a:rPr lang="en-US" sz="1600" dirty="0">
                <a:solidFill>
                  <a:srgbClr val="2A1500"/>
                </a:solidFill>
                <a:latin typeface="Calibri" pitchFamily="34" charset="0"/>
                <a:ea typeface="Calibri" pitchFamily="34" charset="-122"/>
                <a:cs typeface="Calibri" pitchFamily="34" charset="-120"/>
              </a:rPr>
              <a:t>Removal of duplicates &amp; null handling</a:t>
            </a:r>
            <a:endParaRPr lang="en-US" sz="1600" dirty="0"/>
          </a:p>
          <a:p>
            <a:pPr marL="342900" indent="-342900">
              <a:spcAft>
                <a:spcPts val="600"/>
              </a:spcAft>
              <a:buSzPct val="100000"/>
              <a:buChar char="•"/>
            </a:pPr>
            <a:r>
              <a:rPr lang="en-US" sz="1600" dirty="0">
                <a:solidFill>
                  <a:srgbClr val="2A1500"/>
                </a:solidFill>
                <a:latin typeface="Calibri" pitchFamily="34" charset="0"/>
                <a:ea typeface="Calibri" pitchFamily="34" charset="-122"/>
                <a:cs typeface="Calibri" pitchFamily="34" charset="-120"/>
              </a:rPr>
              <a:t>Data type corrections (dates, numeric fields)</a:t>
            </a:r>
            <a:endParaRPr lang="en-US" sz="1600" dirty="0"/>
          </a:p>
          <a:p>
            <a:pPr marL="342900" indent="-342900">
              <a:spcAft>
                <a:spcPts val="600"/>
              </a:spcAft>
              <a:buSzPct val="100000"/>
              <a:buChar char="•"/>
            </a:pPr>
            <a:r>
              <a:rPr lang="en-US" sz="1600" dirty="0">
                <a:solidFill>
                  <a:srgbClr val="2A1500"/>
                </a:solidFill>
                <a:latin typeface="Calibri" pitchFamily="34" charset="0"/>
                <a:ea typeface="Calibri" pitchFamily="34" charset="-122"/>
                <a:cs typeface="Calibri" pitchFamily="34" charset="-120"/>
              </a:rPr>
              <a:t>Pivot tables for preliminary sanity-checking</a:t>
            </a:r>
            <a:endParaRPr lang="en-US" sz="1600" dirty="0"/>
          </a:p>
        </p:txBody>
      </p:sp>
      <p:sp>
        <p:nvSpPr>
          <p:cNvPr id="15" name="Shape 13"/>
          <p:cNvSpPr/>
          <p:nvPr/>
        </p:nvSpPr>
        <p:spPr>
          <a:xfrm>
            <a:off x="5989320" y="2971800"/>
            <a:ext cx="137160" cy="0"/>
          </a:xfrm>
          <a:prstGeom prst="line">
            <a:avLst/>
          </a:prstGeom>
          <a:noFill/>
          <a:ln w="25400">
            <a:solidFill>
              <a:srgbClr val="E8820C"/>
            </a:solidFill>
            <a:prstDash val="solid"/>
          </a:ln>
        </p:spPr>
        <p:txBody>
          <a:bodyPr/>
          <a:lstStyle/>
          <a:p>
            <a:endParaRPr lang="en-US"/>
          </a:p>
        </p:txBody>
      </p:sp>
      <p:sp>
        <p:nvSpPr>
          <p:cNvPr id="16" name="Shape 14"/>
          <p:cNvSpPr/>
          <p:nvPr/>
        </p:nvSpPr>
        <p:spPr>
          <a:xfrm>
            <a:off x="6126480" y="1097280"/>
            <a:ext cx="2743200" cy="374904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6126480" y="1097280"/>
            <a:ext cx="2743200" cy="384048"/>
          </a:xfrm>
          <a:prstGeom prst="rect">
            <a:avLst/>
          </a:prstGeom>
          <a:solidFill>
            <a:srgbClr val="E8820C"/>
          </a:solidFill>
          <a:ln w="12700">
            <a:solidFill>
              <a:srgbClr val="E8820C"/>
            </a:solidFill>
            <a:prstDash val="solid"/>
          </a:ln>
        </p:spPr>
        <p:txBody>
          <a:bodyPr/>
          <a:lstStyle/>
          <a:p>
            <a:endParaRPr lang="en-US"/>
          </a:p>
        </p:txBody>
      </p:sp>
      <p:sp>
        <p:nvSpPr>
          <p:cNvPr id="18" name="Text 16"/>
          <p:cNvSpPr/>
          <p:nvPr/>
        </p:nvSpPr>
        <p:spPr>
          <a:xfrm>
            <a:off x="6172200" y="1097280"/>
            <a:ext cx="2651760"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Power BI</a:t>
            </a:r>
            <a:endParaRPr lang="en-US" sz="2000" dirty="0"/>
          </a:p>
        </p:txBody>
      </p:sp>
      <p:sp>
        <p:nvSpPr>
          <p:cNvPr id="19" name="Text 17"/>
          <p:cNvSpPr/>
          <p:nvPr/>
        </p:nvSpPr>
        <p:spPr>
          <a:xfrm>
            <a:off x="6217920" y="1536192"/>
            <a:ext cx="2560320" cy="3200400"/>
          </a:xfrm>
          <a:prstGeom prst="rect">
            <a:avLst/>
          </a:prstGeom>
          <a:noFill/>
          <a:ln/>
        </p:spPr>
        <p:txBody>
          <a:bodyPr wrap="square" rtlCol="0" anchor="t"/>
          <a:lstStyle/>
          <a:p>
            <a:pPr marL="342900" indent="-342900">
              <a:spcAft>
                <a:spcPts val="600"/>
              </a:spcAft>
              <a:buSzPct val="100000"/>
              <a:buChar char="•"/>
            </a:pPr>
            <a:r>
              <a:rPr lang="en-US" sz="1600" dirty="0">
                <a:solidFill>
                  <a:srgbClr val="2A1500"/>
                </a:solidFill>
                <a:latin typeface="Calibri" pitchFamily="34" charset="0"/>
                <a:ea typeface="Calibri" pitchFamily="34" charset="-122"/>
                <a:cs typeface="Calibri" pitchFamily="34" charset="-120"/>
              </a:rPr>
              <a:t>Power Query for final data shaping &amp; relationships</a:t>
            </a:r>
            <a:endParaRPr lang="en-US" sz="1600" dirty="0"/>
          </a:p>
          <a:p>
            <a:pPr marL="342900" indent="-342900">
              <a:spcAft>
                <a:spcPts val="600"/>
              </a:spcAft>
              <a:buSzPct val="100000"/>
              <a:buChar char="•"/>
            </a:pPr>
            <a:r>
              <a:rPr lang="en-US" sz="1600" dirty="0">
                <a:solidFill>
                  <a:srgbClr val="2A1500"/>
                </a:solidFill>
                <a:latin typeface="Calibri" pitchFamily="34" charset="0"/>
                <a:ea typeface="Calibri" pitchFamily="34" charset="-122"/>
                <a:cs typeface="Calibri" pitchFamily="34" charset="-120"/>
              </a:rPr>
              <a:t>DAX measures: Total Revenue, Avg Shipping Days, MoM %, YoY %</a:t>
            </a:r>
            <a:endParaRPr lang="en-US" sz="1600" dirty="0"/>
          </a:p>
          <a:p>
            <a:pPr marL="342900" indent="-342900">
              <a:spcAft>
                <a:spcPts val="600"/>
              </a:spcAft>
              <a:buSzPct val="100000"/>
              <a:buChar char="•"/>
            </a:pPr>
            <a:r>
              <a:rPr lang="en-US" sz="1600" dirty="0">
                <a:solidFill>
                  <a:srgbClr val="2A1500"/>
                </a:solidFill>
                <a:latin typeface="Calibri" pitchFamily="34" charset="0"/>
                <a:ea typeface="Calibri" pitchFamily="34" charset="-122"/>
                <a:cs typeface="Calibri" pitchFamily="34" charset="-120"/>
              </a:rPr>
              <a:t>Star schema data model linking all 8 tables</a:t>
            </a:r>
            <a:endParaRPr lang="en-US" sz="1600" dirty="0"/>
          </a:p>
          <a:p>
            <a:pPr marL="342900" indent="-342900">
              <a:spcAft>
                <a:spcPts val="600"/>
              </a:spcAft>
              <a:buSzPct val="100000"/>
              <a:buChar char="•"/>
            </a:pPr>
            <a:r>
              <a:rPr lang="en-US" sz="1600" dirty="0">
                <a:solidFill>
                  <a:srgbClr val="2A1500"/>
                </a:solidFill>
                <a:latin typeface="Calibri" pitchFamily="34" charset="0"/>
                <a:ea typeface="Calibri" pitchFamily="34" charset="-122"/>
                <a:cs typeface="Calibri" pitchFamily="34" charset="-120"/>
              </a:rPr>
              <a:t>Six interactive dashboard pages with cross-filter slicers</a:t>
            </a:r>
            <a:endParaRPr lang="en-US" sz="1600" dirty="0"/>
          </a:p>
        </p:txBody>
      </p:sp>
      <p:sp>
        <p:nvSpPr>
          <p:cNvPr id="20" name="Shape 18"/>
          <p:cNvSpPr/>
          <p:nvPr/>
        </p:nvSpPr>
        <p:spPr>
          <a:xfrm>
            <a:off x="274320" y="4663440"/>
            <a:ext cx="8595360" cy="338328"/>
          </a:xfrm>
          <a:prstGeom prst="rect">
            <a:avLst/>
          </a:prstGeom>
          <a:solidFill>
            <a:srgbClr val="3D1C02"/>
          </a:solidFill>
          <a:ln w="12700">
            <a:solidFill>
              <a:srgbClr val="3D1C02"/>
            </a:solidFill>
            <a:prstDash val="solid"/>
          </a:ln>
        </p:spPr>
        <p:txBody>
          <a:bodyPr/>
          <a:lstStyle/>
          <a:p>
            <a:endParaRPr lang="en-US"/>
          </a:p>
        </p:txBody>
      </p:sp>
      <p:sp>
        <p:nvSpPr>
          <p:cNvPr id="21" name="Text 19"/>
          <p:cNvSpPr/>
          <p:nvPr/>
        </p:nvSpPr>
        <p:spPr>
          <a:xfrm>
            <a:off x="274320" y="4663440"/>
            <a:ext cx="8595360" cy="338328"/>
          </a:xfrm>
          <a:prstGeom prst="rect">
            <a:avLst/>
          </a:prstGeom>
          <a:noFill/>
          <a:ln/>
        </p:spPr>
        <p:txBody>
          <a:bodyPr wrap="square" lIns="0" tIns="0" rIns="0" bIns="0" rtlCol="0" anchor="ctr"/>
          <a:lstStyle/>
          <a:p>
            <a:pPr marL="0" indent="0" algn="ctr">
              <a:buNone/>
            </a:pPr>
            <a:r>
              <a:rPr lang="en-US" sz="1100" b="1" dirty="0">
                <a:solidFill>
                  <a:srgbClr val="F5C842"/>
                </a:solidFill>
                <a:latin typeface="Calibri" pitchFamily="34" charset="0"/>
                <a:ea typeface="Calibri" pitchFamily="34" charset="-122"/>
                <a:cs typeface="Calibri" pitchFamily="34" charset="-120"/>
              </a:rPr>
              <a:t>Outcome: Clean, modelled dataset powering 6 interactive dashboards with 15+ DAX measures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BF2"/>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3D1C02"/>
          </a:solidFill>
          <a:ln w="12700">
            <a:solidFill>
              <a:srgbClr val="3D1C02"/>
            </a:solidFill>
            <a:prstDash val="solid"/>
          </a:ln>
        </p:spPr>
        <p:txBody>
          <a:bodyPr/>
          <a:lstStyle/>
          <a:p>
            <a:endParaRPr lang="en-US"/>
          </a:p>
        </p:txBody>
      </p:sp>
      <p:sp>
        <p:nvSpPr>
          <p:cNvPr id="3" name="Text 1"/>
          <p:cNvSpPr/>
          <p:nvPr/>
        </p:nvSpPr>
        <p:spPr>
          <a:xfrm>
            <a:off x="320040" y="118872"/>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Dashboard Overview</a:t>
            </a:r>
            <a:endParaRPr lang="en-US" sz="2200" dirty="0"/>
          </a:p>
        </p:txBody>
      </p:sp>
      <p:sp>
        <p:nvSpPr>
          <p:cNvPr id="4" name="Text 2"/>
          <p:cNvSpPr/>
          <p:nvPr/>
        </p:nvSpPr>
        <p:spPr>
          <a:xfrm>
            <a:off x="320040" y="658368"/>
            <a:ext cx="6400800" cy="292608"/>
          </a:xfrm>
          <a:prstGeom prst="rect">
            <a:avLst/>
          </a:prstGeom>
          <a:noFill/>
          <a:ln/>
        </p:spPr>
        <p:txBody>
          <a:bodyPr wrap="square" lIns="0" tIns="0" rIns="0" bIns="0" rtlCol="0" anchor="ctr"/>
          <a:lstStyle/>
          <a:p>
            <a:pPr marL="0" indent="0">
              <a:buNone/>
            </a:pPr>
            <a:r>
              <a:rPr lang="en-US" sz="1100" i="1" dirty="0">
                <a:solidFill>
                  <a:srgbClr val="F5C842"/>
                </a:solidFill>
                <a:latin typeface="Calibri" pitchFamily="34" charset="0"/>
                <a:ea typeface="Calibri" pitchFamily="34" charset="-122"/>
                <a:cs typeface="Calibri" pitchFamily="34" charset="-120"/>
              </a:rPr>
              <a:t>Six Interconnected Pages · Northwind Traders Report</a:t>
            </a:r>
            <a:endParaRPr lang="en-US" sz="1100" dirty="0"/>
          </a:p>
        </p:txBody>
      </p:sp>
      <p:sp>
        <p:nvSpPr>
          <p:cNvPr id="5" name="Shape 3"/>
          <p:cNvSpPr/>
          <p:nvPr/>
        </p:nvSpPr>
        <p:spPr>
          <a:xfrm>
            <a:off x="8412480" y="182880"/>
            <a:ext cx="548640" cy="640080"/>
          </a:xfrm>
          <a:prstGeom prst="rect">
            <a:avLst/>
          </a:prstGeom>
          <a:solidFill>
            <a:srgbClr val="E8820C"/>
          </a:solidFill>
          <a:ln w="12700">
            <a:solidFill>
              <a:srgbClr val="E8820C"/>
            </a:solidFill>
            <a:prstDash val="solid"/>
          </a:ln>
        </p:spPr>
        <p:txBody>
          <a:bodyPr/>
          <a:lstStyle/>
          <a:p>
            <a:endParaRPr lang="en-US"/>
          </a:p>
        </p:txBody>
      </p:sp>
      <p:sp>
        <p:nvSpPr>
          <p:cNvPr id="6" name="Shape 4"/>
          <p:cNvSpPr/>
          <p:nvPr/>
        </p:nvSpPr>
        <p:spPr>
          <a:xfrm>
            <a:off x="274320" y="1143000"/>
            <a:ext cx="1965960" cy="96012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274320" y="1143000"/>
            <a:ext cx="54864" cy="960120"/>
          </a:xfrm>
          <a:prstGeom prst="rect">
            <a:avLst/>
          </a:prstGeom>
          <a:solidFill>
            <a:srgbClr val="E8820C"/>
          </a:solidFill>
          <a:ln w="12700">
            <a:solidFill>
              <a:srgbClr val="E8820C"/>
            </a:solidFill>
            <a:prstDash val="solid"/>
          </a:ln>
        </p:spPr>
        <p:txBody>
          <a:bodyPr/>
          <a:lstStyle/>
          <a:p>
            <a:endParaRPr lang="en-US"/>
          </a:p>
        </p:txBody>
      </p:sp>
      <p:sp>
        <p:nvSpPr>
          <p:cNvPr id="8" name="Text 6"/>
          <p:cNvSpPr/>
          <p:nvPr/>
        </p:nvSpPr>
        <p:spPr>
          <a:xfrm>
            <a:off x="384048" y="1234440"/>
            <a:ext cx="1783080" cy="528066"/>
          </a:xfrm>
          <a:prstGeom prst="rect">
            <a:avLst/>
          </a:prstGeom>
          <a:noFill/>
          <a:ln/>
        </p:spPr>
        <p:txBody>
          <a:bodyPr wrap="square" lIns="0" tIns="0" rIns="0" bIns="0" rtlCol="0" anchor="b"/>
          <a:lstStyle/>
          <a:p>
            <a:pPr marL="0" indent="0" algn="ctr">
              <a:buNone/>
            </a:pPr>
            <a:r>
              <a:rPr lang="en-US" sz="2200" b="1" dirty="0">
                <a:solidFill>
                  <a:srgbClr val="E8820C"/>
                </a:solidFill>
                <a:latin typeface="Calibri" pitchFamily="34" charset="0"/>
                <a:ea typeface="Calibri" pitchFamily="34" charset="-122"/>
                <a:cs typeface="Calibri" pitchFamily="34" charset="-120"/>
              </a:rPr>
              <a:t>830</a:t>
            </a:r>
            <a:endParaRPr lang="en-US" sz="2200" dirty="0"/>
          </a:p>
        </p:txBody>
      </p:sp>
      <p:sp>
        <p:nvSpPr>
          <p:cNvPr id="9" name="Text 7"/>
          <p:cNvSpPr/>
          <p:nvPr/>
        </p:nvSpPr>
        <p:spPr>
          <a:xfrm>
            <a:off x="384048" y="1719072"/>
            <a:ext cx="1783080" cy="364846"/>
          </a:xfrm>
          <a:prstGeom prst="rect">
            <a:avLst/>
          </a:prstGeom>
          <a:noFill/>
          <a:ln/>
        </p:spPr>
        <p:txBody>
          <a:bodyPr wrap="square" lIns="0" tIns="0" rIns="0" bIns="0" rtlCol="0" anchor="t"/>
          <a:lstStyle/>
          <a:p>
            <a:pPr marL="0" indent="0" algn="ctr">
              <a:buNone/>
            </a:pPr>
            <a:r>
              <a:rPr lang="en-US" sz="950" dirty="0">
                <a:solidFill>
                  <a:srgbClr val="7A5C3A"/>
                </a:solidFill>
                <a:latin typeface="Calibri" pitchFamily="34" charset="0"/>
                <a:ea typeface="Calibri" pitchFamily="34" charset="-122"/>
                <a:cs typeface="Calibri" pitchFamily="34" charset="-120"/>
              </a:rPr>
              <a:t>Total Orders</a:t>
            </a:r>
            <a:endParaRPr lang="en-US" sz="950" dirty="0"/>
          </a:p>
        </p:txBody>
      </p:sp>
      <p:sp>
        <p:nvSpPr>
          <p:cNvPr id="10" name="Shape 8"/>
          <p:cNvSpPr/>
          <p:nvPr/>
        </p:nvSpPr>
        <p:spPr>
          <a:xfrm>
            <a:off x="2450592" y="1143000"/>
            <a:ext cx="1965960" cy="96012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11" name="Shape 9"/>
          <p:cNvSpPr/>
          <p:nvPr/>
        </p:nvSpPr>
        <p:spPr>
          <a:xfrm>
            <a:off x="2450592" y="1143000"/>
            <a:ext cx="54864" cy="960120"/>
          </a:xfrm>
          <a:prstGeom prst="rect">
            <a:avLst/>
          </a:prstGeom>
          <a:solidFill>
            <a:srgbClr val="E8820C"/>
          </a:solidFill>
          <a:ln w="12700">
            <a:solidFill>
              <a:srgbClr val="E8820C"/>
            </a:solidFill>
            <a:prstDash val="solid"/>
          </a:ln>
        </p:spPr>
        <p:txBody>
          <a:bodyPr/>
          <a:lstStyle/>
          <a:p>
            <a:endParaRPr lang="en-US"/>
          </a:p>
        </p:txBody>
      </p:sp>
      <p:sp>
        <p:nvSpPr>
          <p:cNvPr id="12" name="Text 10"/>
          <p:cNvSpPr/>
          <p:nvPr/>
        </p:nvSpPr>
        <p:spPr>
          <a:xfrm>
            <a:off x="2560320" y="1234440"/>
            <a:ext cx="1783080" cy="528066"/>
          </a:xfrm>
          <a:prstGeom prst="rect">
            <a:avLst/>
          </a:prstGeom>
          <a:noFill/>
          <a:ln/>
        </p:spPr>
        <p:txBody>
          <a:bodyPr wrap="square" lIns="0" tIns="0" rIns="0" bIns="0" rtlCol="0" anchor="b"/>
          <a:lstStyle/>
          <a:p>
            <a:pPr marL="0" indent="0" algn="ctr">
              <a:buNone/>
            </a:pPr>
            <a:r>
              <a:rPr lang="en-US" sz="2200" b="1" dirty="0">
                <a:solidFill>
                  <a:srgbClr val="E8820C"/>
                </a:solidFill>
                <a:latin typeface="Calibri" pitchFamily="34" charset="0"/>
                <a:ea typeface="Calibri" pitchFamily="34" charset="-122"/>
                <a:cs typeface="Calibri" pitchFamily="34" charset="-120"/>
              </a:rPr>
              <a:t>90</a:t>
            </a:r>
            <a:endParaRPr lang="en-US" sz="2200" dirty="0"/>
          </a:p>
        </p:txBody>
      </p:sp>
      <p:sp>
        <p:nvSpPr>
          <p:cNvPr id="13" name="Text 11"/>
          <p:cNvSpPr/>
          <p:nvPr/>
        </p:nvSpPr>
        <p:spPr>
          <a:xfrm>
            <a:off x="2560320" y="1719072"/>
            <a:ext cx="1783080" cy="364846"/>
          </a:xfrm>
          <a:prstGeom prst="rect">
            <a:avLst/>
          </a:prstGeom>
          <a:noFill/>
          <a:ln/>
        </p:spPr>
        <p:txBody>
          <a:bodyPr wrap="square" lIns="0" tIns="0" rIns="0" bIns="0" rtlCol="0" anchor="t"/>
          <a:lstStyle/>
          <a:p>
            <a:pPr marL="0" indent="0" algn="ctr">
              <a:buNone/>
            </a:pPr>
            <a:r>
              <a:rPr lang="en-US" sz="950" dirty="0">
                <a:solidFill>
                  <a:srgbClr val="7A5C3A"/>
                </a:solidFill>
                <a:latin typeface="Calibri" pitchFamily="34" charset="0"/>
                <a:ea typeface="Calibri" pitchFamily="34" charset="-122"/>
                <a:cs typeface="Calibri" pitchFamily="34" charset="-120"/>
              </a:rPr>
              <a:t>Total Customers</a:t>
            </a:r>
            <a:endParaRPr lang="en-US" sz="950" dirty="0"/>
          </a:p>
        </p:txBody>
      </p:sp>
      <p:sp>
        <p:nvSpPr>
          <p:cNvPr id="14" name="Shape 12"/>
          <p:cNvSpPr/>
          <p:nvPr/>
        </p:nvSpPr>
        <p:spPr>
          <a:xfrm>
            <a:off x="4626864" y="1143000"/>
            <a:ext cx="1965960" cy="96012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15" name="Shape 13"/>
          <p:cNvSpPr/>
          <p:nvPr/>
        </p:nvSpPr>
        <p:spPr>
          <a:xfrm>
            <a:off x="4626864" y="1143000"/>
            <a:ext cx="54864" cy="960120"/>
          </a:xfrm>
          <a:prstGeom prst="rect">
            <a:avLst/>
          </a:prstGeom>
          <a:solidFill>
            <a:srgbClr val="E8820C"/>
          </a:solidFill>
          <a:ln w="12700">
            <a:solidFill>
              <a:srgbClr val="E8820C"/>
            </a:solidFill>
            <a:prstDash val="solid"/>
          </a:ln>
        </p:spPr>
        <p:txBody>
          <a:bodyPr/>
          <a:lstStyle/>
          <a:p>
            <a:endParaRPr lang="en-US"/>
          </a:p>
        </p:txBody>
      </p:sp>
      <p:sp>
        <p:nvSpPr>
          <p:cNvPr id="16" name="Text 14"/>
          <p:cNvSpPr/>
          <p:nvPr/>
        </p:nvSpPr>
        <p:spPr>
          <a:xfrm>
            <a:off x="4736592" y="1234440"/>
            <a:ext cx="1783080" cy="528066"/>
          </a:xfrm>
          <a:prstGeom prst="rect">
            <a:avLst/>
          </a:prstGeom>
          <a:noFill/>
          <a:ln/>
        </p:spPr>
        <p:txBody>
          <a:bodyPr wrap="square" lIns="0" tIns="0" rIns="0" bIns="0" rtlCol="0" anchor="b"/>
          <a:lstStyle/>
          <a:p>
            <a:pPr marL="0" indent="0" algn="ctr">
              <a:buNone/>
            </a:pPr>
            <a:r>
              <a:rPr lang="en-US" sz="2200" b="1" dirty="0">
                <a:solidFill>
                  <a:srgbClr val="E8820C"/>
                </a:solidFill>
                <a:latin typeface="Calibri" pitchFamily="34" charset="0"/>
                <a:ea typeface="Calibri" pitchFamily="34" charset="-122"/>
                <a:cs typeface="Calibri" pitchFamily="34" charset="-120"/>
              </a:rPr>
              <a:t>1.27M</a:t>
            </a:r>
            <a:endParaRPr lang="en-US" sz="2200" dirty="0"/>
          </a:p>
        </p:txBody>
      </p:sp>
      <p:sp>
        <p:nvSpPr>
          <p:cNvPr id="17" name="Text 15"/>
          <p:cNvSpPr/>
          <p:nvPr/>
        </p:nvSpPr>
        <p:spPr>
          <a:xfrm>
            <a:off x="4736592" y="1719072"/>
            <a:ext cx="1783080" cy="364846"/>
          </a:xfrm>
          <a:prstGeom prst="rect">
            <a:avLst/>
          </a:prstGeom>
          <a:noFill/>
          <a:ln/>
        </p:spPr>
        <p:txBody>
          <a:bodyPr wrap="square" lIns="0" tIns="0" rIns="0" bIns="0" rtlCol="0" anchor="t"/>
          <a:lstStyle/>
          <a:p>
            <a:pPr marL="0" indent="0" algn="ctr">
              <a:buNone/>
            </a:pPr>
            <a:r>
              <a:rPr lang="en-US" sz="950" dirty="0">
                <a:solidFill>
                  <a:srgbClr val="7A5C3A"/>
                </a:solidFill>
                <a:latin typeface="Calibri" pitchFamily="34" charset="0"/>
                <a:ea typeface="Calibri" pitchFamily="34" charset="-122"/>
                <a:cs typeface="Calibri" pitchFamily="34" charset="-120"/>
              </a:rPr>
              <a:t>Total Revenue ($)</a:t>
            </a:r>
            <a:endParaRPr lang="en-US" sz="950" dirty="0"/>
          </a:p>
        </p:txBody>
      </p:sp>
      <p:sp>
        <p:nvSpPr>
          <p:cNvPr id="18" name="Shape 16"/>
          <p:cNvSpPr/>
          <p:nvPr/>
        </p:nvSpPr>
        <p:spPr>
          <a:xfrm>
            <a:off x="6803136" y="1143000"/>
            <a:ext cx="1965960" cy="96012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19" name="Shape 17"/>
          <p:cNvSpPr/>
          <p:nvPr/>
        </p:nvSpPr>
        <p:spPr>
          <a:xfrm>
            <a:off x="6803136" y="1143000"/>
            <a:ext cx="54864" cy="960120"/>
          </a:xfrm>
          <a:prstGeom prst="rect">
            <a:avLst/>
          </a:prstGeom>
          <a:solidFill>
            <a:srgbClr val="E8820C"/>
          </a:solidFill>
          <a:ln w="12700">
            <a:solidFill>
              <a:srgbClr val="E8820C"/>
            </a:solidFill>
            <a:prstDash val="solid"/>
          </a:ln>
        </p:spPr>
        <p:txBody>
          <a:bodyPr/>
          <a:lstStyle/>
          <a:p>
            <a:endParaRPr lang="en-US"/>
          </a:p>
        </p:txBody>
      </p:sp>
      <p:sp>
        <p:nvSpPr>
          <p:cNvPr id="20" name="Text 18"/>
          <p:cNvSpPr/>
          <p:nvPr/>
        </p:nvSpPr>
        <p:spPr>
          <a:xfrm>
            <a:off x="6912864" y="1234440"/>
            <a:ext cx="1783080" cy="528066"/>
          </a:xfrm>
          <a:prstGeom prst="rect">
            <a:avLst/>
          </a:prstGeom>
          <a:noFill/>
          <a:ln/>
        </p:spPr>
        <p:txBody>
          <a:bodyPr wrap="square" lIns="0" tIns="0" rIns="0" bIns="0" rtlCol="0" anchor="b"/>
          <a:lstStyle/>
          <a:p>
            <a:pPr marL="0" indent="0" algn="ctr">
              <a:buNone/>
            </a:pPr>
            <a:r>
              <a:rPr lang="en-US" sz="2200" b="1" dirty="0">
                <a:solidFill>
                  <a:srgbClr val="E8820C"/>
                </a:solidFill>
                <a:latin typeface="Calibri" pitchFamily="34" charset="0"/>
                <a:ea typeface="Calibri" pitchFamily="34" charset="-122"/>
                <a:cs typeface="Calibri" pitchFamily="34" charset="-120"/>
              </a:rPr>
              <a:t>8.49</a:t>
            </a:r>
            <a:endParaRPr lang="en-US" sz="2200" dirty="0"/>
          </a:p>
        </p:txBody>
      </p:sp>
      <p:sp>
        <p:nvSpPr>
          <p:cNvPr id="21" name="Text 19"/>
          <p:cNvSpPr/>
          <p:nvPr/>
        </p:nvSpPr>
        <p:spPr>
          <a:xfrm>
            <a:off x="6912864" y="1719072"/>
            <a:ext cx="1783080" cy="364846"/>
          </a:xfrm>
          <a:prstGeom prst="rect">
            <a:avLst/>
          </a:prstGeom>
          <a:noFill/>
          <a:ln/>
        </p:spPr>
        <p:txBody>
          <a:bodyPr wrap="square" lIns="0" tIns="0" rIns="0" bIns="0" rtlCol="0" anchor="t"/>
          <a:lstStyle/>
          <a:p>
            <a:pPr marL="0" indent="0" algn="ctr">
              <a:buNone/>
            </a:pPr>
            <a:r>
              <a:rPr lang="en-US" sz="950" dirty="0">
                <a:solidFill>
                  <a:srgbClr val="7A5C3A"/>
                </a:solidFill>
                <a:latin typeface="Calibri" pitchFamily="34" charset="0"/>
                <a:ea typeface="Calibri" pitchFamily="34" charset="-122"/>
                <a:cs typeface="Calibri" pitchFamily="34" charset="-120"/>
              </a:rPr>
              <a:t>Avg Shipping Days</a:t>
            </a:r>
            <a:endParaRPr lang="en-US" sz="950" dirty="0"/>
          </a:p>
        </p:txBody>
      </p:sp>
      <p:pic>
        <p:nvPicPr>
          <p:cNvPr id="47" name="Picture 46">
            <a:extLst>
              <a:ext uri="{FF2B5EF4-FFF2-40B4-BE49-F238E27FC236}">
                <a16:creationId xmlns:a16="http://schemas.microsoft.com/office/drawing/2014/main" id="{84AA0FBB-313D-0A4B-3AF3-39C30FB0C4CF}"/>
              </a:ext>
            </a:extLst>
          </p:cNvPr>
          <p:cNvPicPr>
            <a:picLocks noChangeAspect="1"/>
          </p:cNvPicPr>
          <p:nvPr/>
        </p:nvPicPr>
        <p:blipFill>
          <a:blip r:embed="rId3"/>
          <a:srcRect l="13853" t="32020" r="17774" b="13008"/>
          <a:stretch>
            <a:fillRect/>
          </a:stretch>
        </p:blipFill>
        <p:spPr>
          <a:xfrm>
            <a:off x="1201282" y="2194560"/>
            <a:ext cx="6284236" cy="28419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BF2"/>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3D1C02"/>
          </a:solidFill>
          <a:ln w="12700">
            <a:solidFill>
              <a:srgbClr val="3D1C02"/>
            </a:solidFill>
            <a:prstDash val="solid"/>
          </a:ln>
        </p:spPr>
        <p:txBody>
          <a:bodyPr/>
          <a:lstStyle/>
          <a:p>
            <a:endParaRPr lang="en-US"/>
          </a:p>
        </p:txBody>
      </p:sp>
      <p:sp>
        <p:nvSpPr>
          <p:cNvPr id="3" name="Text 1"/>
          <p:cNvSpPr/>
          <p:nvPr/>
        </p:nvSpPr>
        <p:spPr>
          <a:xfrm>
            <a:off x="320040" y="118872"/>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Customer Analysis</a:t>
            </a:r>
            <a:endParaRPr lang="en-US" sz="2200" dirty="0"/>
          </a:p>
        </p:txBody>
      </p:sp>
      <p:sp>
        <p:nvSpPr>
          <p:cNvPr id="4" name="Text 2"/>
          <p:cNvSpPr/>
          <p:nvPr/>
        </p:nvSpPr>
        <p:spPr>
          <a:xfrm>
            <a:off x="320040" y="658368"/>
            <a:ext cx="6400800" cy="292608"/>
          </a:xfrm>
          <a:prstGeom prst="rect">
            <a:avLst/>
          </a:prstGeom>
          <a:noFill/>
          <a:ln/>
        </p:spPr>
        <p:txBody>
          <a:bodyPr wrap="square" lIns="0" tIns="0" rIns="0" bIns="0" rtlCol="0" anchor="ctr"/>
          <a:lstStyle/>
          <a:p>
            <a:pPr marL="0" indent="0">
              <a:buNone/>
            </a:pPr>
            <a:r>
              <a:rPr lang="en-US" sz="1100" i="1" dirty="0">
                <a:solidFill>
                  <a:srgbClr val="F5C842"/>
                </a:solidFill>
                <a:latin typeface="Calibri" pitchFamily="34" charset="0"/>
                <a:ea typeface="Calibri" pitchFamily="34" charset="-122"/>
                <a:cs typeface="Calibri" pitchFamily="34" charset="-120"/>
              </a:rPr>
              <a:t>90 Customers · $1.27M Revenue · 21 Countries</a:t>
            </a:r>
            <a:endParaRPr lang="en-US" sz="1100" dirty="0"/>
          </a:p>
        </p:txBody>
      </p:sp>
      <p:sp>
        <p:nvSpPr>
          <p:cNvPr id="5" name="Shape 3"/>
          <p:cNvSpPr/>
          <p:nvPr/>
        </p:nvSpPr>
        <p:spPr>
          <a:xfrm>
            <a:off x="8412480" y="182880"/>
            <a:ext cx="548640" cy="640080"/>
          </a:xfrm>
          <a:prstGeom prst="rect">
            <a:avLst/>
          </a:prstGeom>
          <a:solidFill>
            <a:srgbClr val="E8820C"/>
          </a:solidFill>
          <a:ln w="12700">
            <a:solidFill>
              <a:srgbClr val="E8820C"/>
            </a:solidFill>
            <a:prstDash val="solid"/>
          </a:ln>
        </p:spPr>
        <p:txBody>
          <a:bodyPr/>
          <a:lstStyle/>
          <a:p>
            <a:endParaRPr lang="en-US"/>
          </a:p>
        </p:txBody>
      </p:sp>
      <p:sp>
        <p:nvSpPr>
          <p:cNvPr id="6" name="Shape 4"/>
          <p:cNvSpPr/>
          <p:nvPr/>
        </p:nvSpPr>
        <p:spPr>
          <a:xfrm>
            <a:off x="7863840" y="164592"/>
            <a:ext cx="1097280" cy="292608"/>
          </a:xfrm>
          <a:prstGeom prst="rect">
            <a:avLst/>
          </a:prstGeom>
          <a:solidFill>
            <a:srgbClr val="E8820C"/>
          </a:solidFill>
          <a:ln w="12700">
            <a:solidFill>
              <a:srgbClr val="E8820C"/>
            </a:solidFill>
            <a:prstDash val="solid"/>
          </a:ln>
        </p:spPr>
        <p:txBody>
          <a:bodyPr/>
          <a:lstStyle/>
          <a:p>
            <a:endParaRPr lang="en-US"/>
          </a:p>
        </p:txBody>
      </p:sp>
      <p:sp>
        <p:nvSpPr>
          <p:cNvPr id="7" name="Text 5"/>
          <p:cNvSpPr/>
          <p:nvPr/>
        </p:nvSpPr>
        <p:spPr>
          <a:xfrm>
            <a:off x="7863840" y="164592"/>
            <a:ext cx="10972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SLIDE 6 / 13</a:t>
            </a:r>
            <a:endParaRPr lang="en-US" sz="900" dirty="0"/>
          </a:p>
        </p:txBody>
      </p:sp>
      <p:sp>
        <p:nvSpPr>
          <p:cNvPr id="8" name="Shape 6"/>
          <p:cNvSpPr/>
          <p:nvPr/>
        </p:nvSpPr>
        <p:spPr>
          <a:xfrm>
            <a:off x="803128" y="1091971"/>
            <a:ext cx="1828800" cy="91440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803128" y="1091971"/>
            <a:ext cx="54864" cy="914400"/>
          </a:xfrm>
          <a:prstGeom prst="rect">
            <a:avLst/>
          </a:prstGeom>
          <a:solidFill>
            <a:srgbClr val="E8820C"/>
          </a:solidFill>
          <a:ln w="12700">
            <a:solidFill>
              <a:srgbClr val="E8820C"/>
            </a:solidFill>
            <a:prstDash val="solid"/>
          </a:ln>
        </p:spPr>
        <p:txBody>
          <a:bodyPr/>
          <a:lstStyle/>
          <a:p>
            <a:endParaRPr lang="en-US"/>
          </a:p>
        </p:txBody>
      </p:sp>
      <p:sp>
        <p:nvSpPr>
          <p:cNvPr id="10" name="Text 8"/>
          <p:cNvSpPr/>
          <p:nvPr/>
        </p:nvSpPr>
        <p:spPr>
          <a:xfrm>
            <a:off x="912856" y="1183411"/>
            <a:ext cx="1645920" cy="502920"/>
          </a:xfrm>
          <a:prstGeom prst="rect">
            <a:avLst/>
          </a:prstGeom>
          <a:noFill/>
          <a:ln/>
        </p:spPr>
        <p:txBody>
          <a:bodyPr wrap="square" lIns="0" tIns="0" rIns="0" bIns="0" rtlCol="0" anchor="b"/>
          <a:lstStyle/>
          <a:p>
            <a:pPr marL="0" indent="0" algn="ctr">
              <a:buNone/>
            </a:pPr>
            <a:r>
              <a:rPr lang="en-US" sz="2200" b="1" dirty="0">
                <a:solidFill>
                  <a:srgbClr val="E8820C"/>
                </a:solidFill>
                <a:latin typeface="Calibri" pitchFamily="34" charset="0"/>
                <a:ea typeface="Calibri" pitchFamily="34" charset="-122"/>
                <a:cs typeface="Calibri" pitchFamily="34" charset="-120"/>
              </a:rPr>
              <a:t>90</a:t>
            </a:r>
            <a:endParaRPr lang="en-US" sz="2200" dirty="0"/>
          </a:p>
        </p:txBody>
      </p:sp>
      <p:sp>
        <p:nvSpPr>
          <p:cNvPr id="11" name="Text 9"/>
          <p:cNvSpPr/>
          <p:nvPr/>
        </p:nvSpPr>
        <p:spPr>
          <a:xfrm>
            <a:off x="912856" y="1640611"/>
            <a:ext cx="1645920" cy="347472"/>
          </a:xfrm>
          <a:prstGeom prst="rect">
            <a:avLst/>
          </a:prstGeom>
          <a:noFill/>
          <a:ln/>
        </p:spPr>
        <p:txBody>
          <a:bodyPr wrap="square" lIns="0" tIns="0" rIns="0" bIns="0" rtlCol="0" anchor="t"/>
          <a:lstStyle/>
          <a:p>
            <a:pPr marL="0" indent="0" algn="ctr">
              <a:buNone/>
            </a:pPr>
            <a:r>
              <a:rPr lang="en-US" sz="950" dirty="0">
                <a:solidFill>
                  <a:srgbClr val="7A5C3A"/>
                </a:solidFill>
                <a:latin typeface="Calibri" pitchFamily="34" charset="0"/>
                <a:ea typeface="Calibri" pitchFamily="34" charset="-122"/>
                <a:cs typeface="Calibri" pitchFamily="34" charset="-120"/>
              </a:rPr>
              <a:t>Total Customers</a:t>
            </a:r>
            <a:endParaRPr lang="en-US" sz="950" dirty="0"/>
          </a:p>
        </p:txBody>
      </p:sp>
      <p:sp>
        <p:nvSpPr>
          <p:cNvPr id="12" name="Shape 10"/>
          <p:cNvSpPr/>
          <p:nvPr/>
        </p:nvSpPr>
        <p:spPr>
          <a:xfrm>
            <a:off x="2741656" y="1091971"/>
            <a:ext cx="1828800" cy="91440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2741656" y="1091971"/>
            <a:ext cx="54864" cy="914400"/>
          </a:xfrm>
          <a:prstGeom prst="rect">
            <a:avLst/>
          </a:prstGeom>
          <a:solidFill>
            <a:srgbClr val="E8820C"/>
          </a:solidFill>
          <a:ln w="12700">
            <a:solidFill>
              <a:srgbClr val="E8820C"/>
            </a:solidFill>
            <a:prstDash val="solid"/>
          </a:ln>
        </p:spPr>
        <p:txBody>
          <a:bodyPr/>
          <a:lstStyle/>
          <a:p>
            <a:endParaRPr lang="en-US"/>
          </a:p>
        </p:txBody>
      </p:sp>
      <p:sp>
        <p:nvSpPr>
          <p:cNvPr id="14" name="Text 12"/>
          <p:cNvSpPr/>
          <p:nvPr/>
        </p:nvSpPr>
        <p:spPr>
          <a:xfrm>
            <a:off x="2851384" y="1183411"/>
            <a:ext cx="1645920" cy="502920"/>
          </a:xfrm>
          <a:prstGeom prst="rect">
            <a:avLst/>
          </a:prstGeom>
          <a:noFill/>
          <a:ln/>
        </p:spPr>
        <p:txBody>
          <a:bodyPr wrap="square" lIns="0" tIns="0" rIns="0" bIns="0" rtlCol="0" anchor="b"/>
          <a:lstStyle/>
          <a:p>
            <a:pPr marL="0" indent="0" algn="ctr">
              <a:buNone/>
            </a:pPr>
            <a:r>
              <a:rPr lang="en-US" sz="2200" b="1" dirty="0">
                <a:solidFill>
                  <a:srgbClr val="E8820C"/>
                </a:solidFill>
                <a:latin typeface="Calibri" pitchFamily="34" charset="0"/>
                <a:ea typeface="Calibri" pitchFamily="34" charset="-122"/>
                <a:cs typeface="Calibri" pitchFamily="34" charset="-120"/>
              </a:rPr>
              <a:t>1.27M</a:t>
            </a:r>
            <a:endParaRPr lang="en-US" sz="2200" dirty="0"/>
          </a:p>
        </p:txBody>
      </p:sp>
      <p:sp>
        <p:nvSpPr>
          <p:cNvPr id="15" name="Text 13"/>
          <p:cNvSpPr/>
          <p:nvPr/>
        </p:nvSpPr>
        <p:spPr>
          <a:xfrm>
            <a:off x="2851384" y="1640611"/>
            <a:ext cx="1645920" cy="347472"/>
          </a:xfrm>
          <a:prstGeom prst="rect">
            <a:avLst/>
          </a:prstGeom>
          <a:noFill/>
          <a:ln/>
        </p:spPr>
        <p:txBody>
          <a:bodyPr wrap="square" lIns="0" tIns="0" rIns="0" bIns="0" rtlCol="0" anchor="t"/>
          <a:lstStyle/>
          <a:p>
            <a:pPr marL="0" indent="0" algn="ctr">
              <a:buNone/>
            </a:pPr>
            <a:r>
              <a:rPr lang="en-US" sz="950" dirty="0">
                <a:solidFill>
                  <a:srgbClr val="7A5C3A"/>
                </a:solidFill>
                <a:latin typeface="Calibri" pitchFamily="34" charset="0"/>
                <a:ea typeface="Calibri" pitchFamily="34" charset="-122"/>
                <a:cs typeface="Calibri" pitchFamily="34" charset="-120"/>
              </a:rPr>
              <a:t>Total Revenue</a:t>
            </a:r>
            <a:endParaRPr lang="en-US" sz="950" dirty="0"/>
          </a:p>
        </p:txBody>
      </p:sp>
      <p:sp>
        <p:nvSpPr>
          <p:cNvPr id="16" name="Shape 14"/>
          <p:cNvSpPr/>
          <p:nvPr/>
        </p:nvSpPr>
        <p:spPr>
          <a:xfrm>
            <a:off x="4680184" y="1091971"/>
            <a:ext cx="1828800" cy="91440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4680184" y="1091971"/>
            <a:ext cx="54864" cy="914400"/>
          </a:xfrm>
          <a:prstGeom prst="rect">
            <a:avLst/>
          </a:prstGeom>
          <a:solidFill>
            <a:srgbClr val="E8820C"/>
          </a:solidFill>
          <a:ln w="12700">
            <a:solidFill>
              <a:srgbClr val="E8820C"/>
            </a:solidFill>
            <a:prstDash val="solid"/>
          </a:ln>
        </p:spPr>
        <p:txBody>
          <a:bodyPr/>
          <a:lstStyle/>
          <a:p>
            <a:endParaRPr lang="en-US"/>
          </a:p>
        </p:txBody>
      </p:sp>
      <p:sp>
        <p:nvSpPr>
          <p:cNvPr id="18" name="Text 16"/>
          <p:cNvSpPr/>
          <p:nvPr/>
        </p:nvSpPr>
        <p:spPr>
          <a:xfrm>
            <a:off x="4789912" y="1183411"/>
            <a:ext cx="1645920" cy="502920"/>
          </a:xfrm>
          <a:prstGeom prst="rect">
            <a:avLst/>
          </a:prstGeom>
          <a:noFill/>
          <a:ln/>
        </p:spPr>
        <p:txBody>
          <a:bodyPr wrap="square" lIns="0" tIns="0" rIns="0" bIns="0" rtlCol="0" anchor="b"/>
          <a:lstStyle/>
          <a:p>
            <a:pPr marL="0" indent="0" algn="ctr">
              <a:buNone/>
            </a:pPr>
            <a:r>
              <a:rPr lang="en-US" sz="2200" b="1" dirty="0">
                <a:solidFill>
                  <a:srgbClr val="E8820C"/>
                </a:solidFill>
                <a:latin typeface="Calibri" pitchFamily="34" charset="0"/>
                <a:ea typeface="Calibri" pitchFamily="34" charset="-122"/>
                <a:cs typeface="Calibri" pitchFamily="34" charset="-120"/>
              </a:rPr>
              <a:t>170%</a:t>
            </a:r>
            <a:endParaRPr lang="en-US" sz="2200" dirty="0"/>
          </a:p>
        </p:txBody>
      </p:sp>
      <p:sp>
        <p:nvSpPr>
          <p:cNvPr id="19" name="Text 17"/>
          <p:cNvSpPr/>
          <p:nvPr/>
        </p:nvSpPr>
        <p:spPr>
          <a:xfrm>
            <a:off x="4789912" y="1640611"/>
            <a:ext cx="1645920" cy="347472"/>
          </a:xfrm>
          <a:prstGeom prst="rect">
            <a:avLst/>
          </a:prstGeom>
          <a:noFill/>
          <a:ln/>
        </p:spPr>
        <p:txBody>
          <a:bodyPr wrap="square" lIns="0" tIns="0" rIns="0" bIns="0" rtlCol="0" anchor="t"/>
          <a:lstStyle/>
          <a:p>
            <a:pPr marL="0" indent="0" algn="ctr">
              <a:buNone/>
            </a:pPr>
            <a:r>
              <a:rPr lang="en-US" sz="950" dirty="0">
                <a:solidFill>
                  <a:srgbClr val="7A5C3A"/>
                </a:solidFill>
                <a:latin typeface="Calibri" pitchFamily="34" charset="0"/>
                <a:ea typeface="Calibri" pitchFamily="34" charset="-122"/>
                <a:cs typeface="Calibri" pitchFamily="34" charset="-120"/>
              </a:rPr>
              <a:t>Orders YoY Growth</a:t>
            </a:r>
            <a:endParaRPr lang="en-US" sz="950" dirty="0"/>
          </a:p>
        </p:txBody>
      </p:sp>
      <p:sp>
        <p:nvSpPr>
          <p:cNvPr id="20" name="Shape 18"/>
          <p:cNvSpPr/>
          <p:nvPr/>
        </p:nvSpPr>
        <p:spPr>
          <a:xfrm>
            <a:off x="6618712" y="1091971"/>
            <a:ext cx="1828800" cy="91440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21" name="Shape 19"/>
          <p:cNvSpPr/>
          <p:nvPr/>
        </p:nvSpPr>
        <p:spPr>
          <a:xfrm>
            <a:off x="6618712" y="1091971"/>
            <a:ext cx="54864" cy="914400"/>
          </a:xfrm>
          <a:prstGeom prst="rect">
            <a:avLst/>
          </a:prstGeom>
          <a:solidFill>
            <a:srgbClr val="E8820C"/>
          </a:solidFill>
          <a:ln w="12700">
            <a:solidFill>
              <a:srgbClr val="E8820C"/>
            </a:solidFill>
            <a:prstDash val="solid"/>
          </a:ln>
        </p:spPr>
        <p:txBody>
          <a:bodyPr/>
          <a:lstStyle/>
          <a:p>
            <a:endParaRPr lang="en-US"/>
          </a:p>
        </p:txBody>
      </p:sp>
      <p:sp>
        <p:nvSpPr>
          <p:cNvPr id="22" name="Text 20"/>
          <p:cNvSpPr/>
          <p:nvPr/>
        </p:nvSpPr>
        <p:spPr>
          <a:xfrm>
            <a:off x="6728440" y="1183411"/>
            <a:ext cx="1645920" cy="502920"/>
          </a:xfrm>
          <a:prstGeom prst="rect">
            <a:avLst/>
          </a:prstGeom>
          <a:noFill/>
          <a:ln/>
        </p:spPr>
        <p:txBody>
          <a:bodyPr wrap="square" lIns="0" tIns="0" rIns="0" bIns="0" rtlCol="0" anchor="b"/>
          <a:lstStyle/>
          <a:p>
            <a:pPr marL="0" indent="0" algn="ctr">
              <a:buNone/>
            </a:pPr>
            <a:r>
              <a:rPr lang="en-US" sz="2200" b="1" dirty="0">
                <a:solidFill>
                  <a:srgbClr val="E8820C"/>
                </a:solidFill>
                <a:latin typeface="Calibri" pitchFamily="34" charset="0"/>
                <a:ea typeface="Calibri" pitchFamily="34" charset="-122"/>
                <a:cs typeface="Calibri" pitchFamily="34" charset="-120"/>
              </a:rPr>
              <a:t>55</a:t>
            </a:r>
            <a:endParaRPr lang="en-US" sz="2200" dirty="0"/>
          </a:p>
        </p:txBody>
      </p:sp>
      <p:sp>
        <p:nvSpPr>
          <p:cNvPr id="23" name="Text 21"/>
          <p:cNvSpPr/>
          <p:nvPr/>
        </p:nvSpPr>
        <p:spPr>
          <a:xfrm>
            <a:off x="6728440" y="1640611"/>
            <a:ext cx="1645920" cy="347472"/>
          </a:xfrm>
          <a:prstGeom prst="rect">
            <a:avLst/>
          </a:prstGeom>
          <a:noFill/>
          <a:ln/>
        </p:spPr>
        <p:txBody>
          <a:bodyPr wrap="square" lIns="0" tIns="0" rIns="0" bIns="0" rtlCol="0" anchor="t"/>
          <a:lstStyle/>
          <a:p>
            <a:pPr marL="0" indent="0" algn="ctr">
              <a:buNone/>
            </a:pPr>
            <a:r>
              <a:rPr lang="en-US" sz="950" dirty="0">
                <a:solidFill>
                  <a:srgbClr val="7A5C3A"/>
                </a:solidFill>
                <a:latin typeface="Calibri" pitchFamily="34" charset="0"/>
                <a:ea typeface="Calibri" pitchFamily="34" charset="-122"/>
                <a:cs typeface="Calibri" pitchFamily="34" charset="-120"/>
              </a:rPr>
              <a:t>Peak Monthly Orders</a:t>
            </a:r>
            <a:endParaRPr lang="en-US" sz="950" dirty="0"/>
          </a:p>
        </p:txBody>
      </p:sp>
      <p:sp>
        <p:nvSpPr>
          <p:cNvPr id="24" name="Shape 22"/>
          <p:cNvSpPr/>
          <p:nvPr/>
        </p:nvSpPr>
        <p:spPr>
          <a:xfrm>
            <a:off x="53983" y="2114160"/>
            <a:ext cx="3036565" cy="290322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25" name="Text 23"/>
          <p:cNvSpPr/>
          <p:nvPr/>
        </p:nvSpPr>
        <p:spPr>
          <a:xfrm>
            <a:off x="64997" y="2114160"/>
            <a:ext cx="3036565" cy="320040"/>
          </a:xfrm>
          <a:prstGeom prst="rect">
            <a:avLst/>
          </a:prstGeom>
          <a:solidFill>
            <a:srgbClr val="C45C0A"/>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Key Findings</a:t>
            </a:r>
            <a:endParaRPr lang="en-US" sz="1200" dirty="0"/>
          </a:p>
        </p:txBody>
      </p:sp>
      <p:sp>
        <p:nvSpPr>
          <p:cNvPr id="26" name="Text 24"/>
          <p:cNvSpPr/>
          <p:nvPr/>
        </p:nvSpPr>
        <p:spPr>
          <a:xfrm>
            <a:off x="58939" y="2507352"/>
            <a:ext cx="2988322" cy="2194560"/>
          </a:xfrm>
          <a:prstGeom prst="rect">
            <a:avLst/>
          </a:prstGeom>
          <a:noFill/>
          <a:ln/>
        </p:spPr>
        <p:txBody>
          <a:bodyPr wrap="square" rtlCol="0" anchor="t"/>
          <a:lstStyle/>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London leads city-level customer count (6), indicating a concentrated UK market presence</a:t>
            </a:r>
            <a:endParaRPr lang="en-US" sz="1050" dirty="0"/>
          </a:p>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USA, France &amp; Germany collectively represent the majority of customer share by country</a:t>
            </a:r>
            <a:endParaRPr lang="en-US" sz="1050" dirty="0"/>
          </a:p>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Europe clusters ~6+ countries with moderate but fragmented customer distribution</a:t>
            </a:r>
            <a:endParaRPr lang="en-US" sz="1050" dirty="0"/>
          </a:p>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South America &amp; Asia show minimal penetration — clear expansion opportunities</a:t>
            </a:r>
            <a:endParaRPr lang="en-US" sz="1050" dirty="0"/>
          </a:p>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Top 2–3 countries account for a disproportionate share of total revenue</a:t>
            </a:r>
            <a:endParaRPr lang="en-US" sz="1050" dirty="0"/>
          </a:p>
        </p:txBody>
      </p:sp>
      <p:sp>
        <p:nvSpPr>
          <p:cNvPr id="27" name="Shape 25"/>
          <p:cNvSpPr/>
          <p:nvPr/>
        </p:nvSpPr>
        <p:spPr>
          <a:xfrm>
            <a:off x="6897112" y="2240280"/>
            <a:ext cx="2194560" cy="2651760"/>
          </a:xfrm>
          <a:prstGeom prst="rect">
            <a:avLst/>
          </a:prstGeom>
          <a:solidFill>
            <a:srgbClr val="FFF8E7"/>
          </a:solidFill>
          <a:ln w="19050">
            <a:solidFill>
              <a:srgbClr val="E8820C"/>
            </a:solidFill>
            <a:prstDash val="solid"/>
          </a:ln>
          <a:effectLst>
            <a:outerShdw blurRad="101600" dist="38100" dir="8100000" algn="bl" rotWithShape="0">
              <a:srgbClr val="000000">
                <a:alpha val="12000"/>
              </a:srgbClr>
            </a:outerShdw>
          </a:effectLst>
        </p:spPr>
        <p:txBody>
          <a:bodyPr/>
          <a:lstStyle/>
          <a:p>
            <a:endParaRPr lang="en-US"/>
          </a:p>
        </p:txBody>
      </p:sp>
      <p:sp>
        <p:nvSpPr>
          <p:cNvPr id="28" name="Shape 26"/>
          <p:cNvSpPr/>
          <p:nvPr/>
        </p:nvSpPr>
        <p:spPr>
          <a:xfrm>
            <a:off x="6897112" y="2240280"/>
            <a:ext cx="2194560" cy="274320"/>
          </a:xfrm>
          <a:prstGeom prst="rect">
            <a:avLst/>
          </a:prstGeom>
          <a:solidFill>
            <a:srgbClr val="E8820C"/>
          </a:solidFill>
          <a:ln w="12700">
            <a:solidFill>
              <a:srgbClr val="E8820C"/>
            </a:solidFill>
            <a:prstDash val="solid"/>
          </a:ln>
        </p:spPr>
        <p:txBody>
          <a:bodyPr/>
          <a:lstStyle/>
          <a:p>
            <a:endParaRPr lang="en-US"/>
          </a:p>
        </p:txBody>
      </p:sp>
      <p:sp>
        <p:nvSpPr>
          <p:cNvPr id="29" name="Text 27"/>
          <p:cNvSpPr/>
          <p:nvPr/>
        </p:nvSpPr>
        <p:spPr>
          <a:xfrm>
            <a:off x="6908129" y="2249424"/>
            <a:ext cx="2103120" cy="2468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Business Insights</a:t>
            </a:r>
            <a:endParaRPr lang="en-US" sz="1100" dirty="0"/>
          </a:p>
        </p:txBody>
      </p:sp>
      <p:sp>
        <p:nvSpPr>
          <p:cNvPr id="30" name="Text 28"/>
          <p:cNvSpPr/>
          <p:nvPr/>
        </p:nvSpPr>
        <p:spPr>
          <a:xfrm>
            <a:off x="6897112" y="2560320"/>
            <a:ext cx="2103120" cy="2267712"/>
          </a:xfrm>
          <a:prstGeom prst="rect">
            <a:avLst/>
          </a:prstGeom>
          <a:noFill/>
          <a:ln/>
        </p:spPr>
        <p:txBody>
          <a:bodyPr wrap="square" rtlCol="0" anchor="t"/>
          <a:lstStyle/>
          <a:p>
            <a:pPr marL="342900" indent="-342900">
              <a:spcAft>
                <a:spcPts val="400"/>
              </a:spcAft>
              <a:buSzPct val="100000"/>
              <a:buChar char="•"/>
            </a:pPr>
            <a:r>
              <a:rPr lang="en-US" sz="1100" dirty="0">
                <a:solidFill>
                  <a:srgbClr val="2A1500"/>
                </a:solidFill>
                <a:latin typeface="Calibri" pitchFamily="34" charset="0"/>
                <a:ea typeface="Calibri" pitchFamily="34" charset="-122"/>
                <a:cs typeface="Calibri" pitchFamily="34" charset="-120"/>
              </a:rPr>
              <a:t>Concentration Risk: Over-reliance on London/USA suggests need to diversify market strategy</a:t>
            </a:r>
            <a:endParaRPr lang="en-US" sz="1100" dirty="0"/>
          </a:p>
          <a:p>
            <a:pPr marL="342900" indent="-342900">
              <a:spcAft>
                <a:spcPts val="400"/>
              </a:spcAft>
              <a:buSzPct val="100000"/>
              <a:buChar char="•"/>
            </a:pPr>
            <a:r>
              <a:rPr lang="en-US" sz="1100" dirty="0">
                <a:solidFill>
                  <a:srgbClr val="2A1500"/>
                </a:solidFill>
                <a:latin typeface="Calibri" pitchFamily="34" charset="0"/>
                <a:ea typeface="Calibri" pitchFamily="34" charset="-122"/>
                <a:cs typeface="Calibri" pitchFamily="34" charset="-120"/>
              </a:rPr>
              <a:t>Untapped Potential: Low bubble density in Asia &amp; South America signals underdeveloped markets</a:t>
            </a:r>
            <a:endParaRPr lang="en-US" sz="1100" dirty="0"/>
          </a:p>
          <a:p>
            <a:pPr marL="342900" indent="-342900">
              <a:spcAft>
                <a:spcPts val="400"/>
              </a:spcAft>
              <a:buSzPct val="100000"/>
              <a:buChar char="•"/>
            </a:pPr>
            <a:r>
              <a:rPr lang="en-US" sz="1100" dirty="0">
                <a:solidFill>
                  <a:srgbClr val="2A1500"/>
                </a:solidFill>
                <a:latin typeface="Calibri" pitchFamily="34" charset="0"/>
                <a:ea typeface="Calibri" pitchFamily="34" charset="-122"/>
                <a:cs typeface="Calibri" pitchFamily="34" charset="-120"/>
              </a:rPr>
              <a:t>Revenue Skew: A highly skewed distribution means a small customer base drives the bulk of revenue</a:t>
            </a:r>
            <a:endParaRPr lang="en-US" sz="1100" dirty="0"/>
          </a:p>
        </p:txBody>
      </p:sp>
      <p:pic>
        <p:nvPicPr>
          <p:cNvPr id="32" name="Picture 31">
            <a:extLst>
              <a:ext uri="{FF2B5EF4-FFF2-40B4-BE49-F238E27FC236}">
                <a16:creationId xmlns:a16="http://schemas.microsoft.com/office/drawing/2014/main" id="{3E69C364-A29A-6BB0-869D-9A2A6E0AB86F}"/>
              </a:ext>
            </a:extLst>
          </p:cNvPr>
          <p:cNvPicPr>
            <a:picLocks noChangeAspect="1"/>
          </p:cNvPicPr>
          <p:nvPr/>
        </p:nvPicPr>
        <p:blipFill rotWithShape="1">
          <a:blip r:embed="rId3"/>
          <a:srcRect l="13456" t="32626" r="35053" b="12615"/>
          <a:stretch>
            <a:fillRect/>
          </a:stretch>
        </p:blipFill>
        <p:spPr>
          <a:xfrm>
            <a:off x="3138701" y="2608593"/>
            <a:ext cx="3710258" cy="221943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BF2"/>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3D1C02"/>
          </a:solidFill>
          <a:ln w="12700">
            <a:solidFill>
              <a:srgbClr val="3D1C02"/>
            </a:solidFill>
            <a:prstDash val="solid"/>
          </a:ln>
        </p:spPr>
        <p:txBody>
          <a:bodyPr/>
          <a:lstStyle/>
          <a:p>
            <a:endParaRPr lang="en-US"/>
          </a:p>
        </p:txBody>
      </p:sp>
      <p:sp>
        <p:nvSpPr>
          <p:cNvPr id="3" name="Text 1"/>
          <p:cNvSpPr/>
          <p:nvPr/>
        </p:nvSpPr>
        <p:spPr>
          <a:xfrm>
            <a:off x="320040" y="118872"/>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Product Analysis</a:t>
            </a:r>
            <a:endParaRPr lang="en-US" sz="2200" dirty="0"/>
          </a:p>
        </p:txBody>
      </p:sp>
      <p:sp>
        <p:nvSpPr>
          <p:cNvPr id="4" name="Text 2"/>
          <p:cNvSpPr/>
          <p:nvPr/>
        </p:nvSpPr>
        <p:spPr>
          <a:xfrm>
            <a:off x="320040" y="658368"/>
            <a:ext cx="6400800" cy="292608"/>
          </a:xfrm>
          <a:prstGeom prst="rect">
            <a:avLst/>
          </a:prstGeom>
          <a:noFill/>
          <a:ln/>
        </p:spPr>
        <p:txBody>
          <a:bodyPr wrap="square" lIns="0" tIns="0" rIns="0" bIns="0" rtlCol="0" anchor="ctr"/>
          <a:lstStyle/>
          <a:p>
            <a:pPr marL="0" indent="0">
              <a:buNone/>
            </a:pPr>
            <a:r>
              <a:rPr lang="en-US" sz="1100" i="1" dirty="0">
                <a:solidFill>
                  <a:srgbClr val="F5C842"/>
                </a:solidFill>
                <a:latin typeface="Calibri" pitchFamily="34" charset="0"/>
                <a:ea typeface="Calibri" pitchFamily="34" charset="-122"/>
                <a:cs typeface="Calibri" pitchFamily="34" charset="-120"/>
              </a:rPr>
              <a:t>Top Selling Products · Category Revenue · Pricing Distribution</a:t>
            </a:r>
            <a:endParaRPr lang="en-US" sz="1100" dirty="0"/>
          </a:p>
        </p:txBody>
      </p:sp>
      <p:sp>
        <p:nvSpPr>
          <p:cNvPr id="5" name="Shape 3"/>
          <p:cNvSpPr/>
          <p:nvPr/>
        </p:nvSpPr>
        <p:spPr>
          <a:xfrm>
            <a:off x="8412480" y="182880"/>
            <a:ext cx="548640" cy="640080"/>
          </a:xfrm>
          <a:prstGeom prst="rect">
            <a:avLst/>
          </a:prstGeom>
          <a:solidFill>
            <a:srgbClr val="E8820C"/>
          </a:solidFill>
          <a:ln w="12700">
            <a:solidFill>
              <a:srgbClr val="E8820C"/>
            </a:solidFill>
            <a:prstDash val="solid"/>
          </a:ln>
        </p:spPr>
        <p:txBody>
          <a:bodyPr/>
          <a:lstStyle/>
          <a:p>
            <a:endParaRPr lang="en-US"/>
          </a:p>
        </p:txBody>
      </p:sp>
      <p:sp>
        <p:nvSpPr>
          <p:cNvPr id="6" name="Shape 4"/>
          <p:cNvSpPr/>
          <p:nvPr/>
        </p:nvSpPr>
        <p:spPr>
          <a:xfrm>
            <a:off x="7863840" y="164592"/>
            <a:ext cx="1097280" cy="292608"/>
          </a:xfrm>
          <a:prstGeom prst="rect">
            <a:avLst/>
          </a:prstGeom>
          <a:solidFill>
            <a:srgbClr val="E8820C"/>
          </a:solidFill>
          <a:ln w="12700">
            <a:solidFill>
              <a:srgbClr val="E8820C"/>
            </a:solidFill>
            <a:prstDash val="solid"/>
          </a:ln>
        </p:spPr>
        <p:txBody>
          <a:bodyPr/>
          <a:lstStyle/>
          <a:p>
            <a:endParaRPr lang="en-US"/>
          </a:p>
        </p:txBody>
      </p:sp>
      <p:sp>
        <p:nvSpPr>
          <p:cNvPr id="7" name="Text 5"/>
          <p:cNvSpPr/>
          <p:nvPr/>
        </p:nvSpPr>
        <p:spPr>
          <a:xfrm>
            <a:off x="7863840" y="164592"/>
            <a:ext cx="10972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SLIDE 7 / 13</a:t>
            </a:r>
            <a:endParaRPr lang="en-US" sz="900" dirty="0"/>
          </a:p>
        </p:txBody>
      </p:sp>
      <p:sp>
        <p:nvSpPr>
          <p:cNvPr id="8" name="Shape 6"/>
          <p:cNvSpPr/>
          <p:nvPr/>
        </p:nvSpPr>
        <p:spPr>
          <a:xfrm>
            <a:off x="825160" y="1098932"/>
            <a:ext cx="1828800" cy="91440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825160" y="1098932"/>
            <a:ext cx="54864" cy="914400"/>
          </a:xfrm>
          <a:prstGeom prst="rect">
            <a:avLst/>
          </a:prstGeom>
          <a:solidFill>
            <a:srgbClr val="E8820C"/>
          </a:solidFill>
          <a:ln w="12700">
            <a:solidFill>
              <a:srgbClr val="E8820C"/>
            </a:solidFill>
            <a:prstDash val="solid"/>
          </a:ln>
        </p:spPr>
        <p:txBody>
          <a:bodyPr/>
          <a:lstStyle/>
          <a:p>
            <a:endParaRPr lang="en-US"/>
          </a:p>
        </p:txBody>
      </p:sp>
      <p:sp>
        <p:nvSpPr>
          <p:cNvPr id="10" name="Text 8"/>
          <p:cNvSpPr/>
          <p:nvPr/>
        </p:nvSpPr>
        <p:spPr>
          <a:xfrm>
            <a:off x="934888" y="1190372"/>
            <a:ext cx="1645920" cy="502920"/>
          </a:xfrm>
          <a:prstGeom prst="rect">
            <a:avLst/>
          </a:prstGeom>
          <a:noFill/>
          <a:ln/>
        </p:spPr>
        <p:txBody>
          <a:bodyPr wrap="square" lIns="0" tIns="0" rIns="0" bIns="0" rtlCol="0" anchor="b"/>
          <a:lstStyle/>
          <a:p>
            <a:pPr marL="0" indent="0" algn="ctr">
              <a:buNone/>
            </a:pPr>
            <a:r>
              <a:rPr lang="en-US" sz="2200" b="1" dirty="0">
                <a:solidFill>
                  <a:srgbClr val="E8820C"/>
                </a:solidFill>
                <a:latin typeface="Calibri" pitchFamily="34" charset="0"/>
                <a:ea typeface="Calibri" pitchFamily="34" charset="-122"/>
                <a:cs typeface="Calibri" pitchFamily="34" charset="-120"/>
              </a:rPr>
              <a:t>77</a:t>
            </a:r>
            <a:endParaRPr lang="en-US" sz="2200" dirty="0"/>
          </a:p>
        </p:txBody>
      </p:sp>
      <p:sp>
        <p:nvSpPr>
          <p:cNvPr id="11" name="Text 9"/>
          <p:cNvSpPr/>
          <p:nvPr/>
        </p:nvSpPr>
        <p:spPr>
          <a:xfrm>
            <a:off x="934888" y="1647572"/>
            <a:ext cx="1645920" cy="347472"/>
          </a:xfrm>
          <a:prstGeom prst="rect">
            <a:avLst/>
          </a:prstGeom>
          <a:noFill/>
          <a:ln/>
        </p:spPr>
        <p:txBody>
          <a:bodyPr wrap="square" lIns="0" tIns="0" rIns="0" bIns="0" rtlCol="0" anchor="t"/>
          <a:lstStyle/>
          <a:p>
            <a:pPr marL="0" indent="0" algn="ctr">
              <a:buNone/>
            </a:pPr>
            <a:r>
              <a:rPr lang="en-US" sz="950" dirty="0">
                <a:solidFill>
                  <a:srgbClr val="7A5C3A"/>
                </a:solidFill>
                <a:latin typeface="Calibri" pitchFamily="34" charset="0"/>
                <a:ea typeface="Calibri" pitchFamily="34" charset="-122"/>
                <a:cs typeface="Calibri" pitchFamily="34" charset="-120"/>
              </a:rPr>
              <a:t>Total Products</a:t>
            </a:r>
            <a:endParaRPr lang="en-US" sz="950" dirty="0"/>
          </a:p>
        </p:txBody>
      </p:sp>
      <p:sp>
        <p:nvSpPr>
          <p:cNvPr id="12" name="Shape 10"/>
          <p:cNvSpPr/>
          <p:nvPr/>
        </p:nvSpPr>
        <p:spPr>
          <a:xfrm>
            <a:off x="2763688" y="1098932"/>
            <a:ext cx="1828800" cy="91440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2763688" y="1098932"/>
            <a:ext cx="54864" cy="914400"/>
          </a:xfrm>
          <a:prstGeom prst="rect">
            <a:avLst/>
          </a:prstGeom>
          <a:solidFill>
            <a:srgbClr val="E8820C"/>
          </a:solidFill>
          <a:ln w="12700">
            <a:solidFill>
              <a:srgbClr val="E8820C"/>
            </a:solidFill>
            <a:prstDash val="solid"/>
          </a:ln>
        </p:spPr>
        <p:txBody>
          <a:bodyPr/>
          <a:lstStyle/>
          <a:p>
            <a:endParaRPr lang="en-US"/>
          </a:p>
        </p:txBody>
      </p:sp>
      <p:sp>
        <p:nvSpPr>
          <p:cNvPr id="14" name="Text 12"/>
          <p:cNvSpPr/>
          <p:nvPr/>
        </p:nvSpPr>
        <p:spPr>
          <a:xfrm>
            <a:off x="2873416" y="1190372"/>
            <a:ext cx="1645920" cy="502920"/>
          </a:xfrm>
          <a:prstGeom prst="rect">
            <a:avLst/>
          </a:prstGeom>
          <a:noFill/>
          <a:ln/>
        </p:spPr>
        <p:txBody>
          <a:bodyPr wrap="square" lIns="0" tIns="0" rIns="0" bIns="0" rtlCol="0" anchor="b"/>
          <a:lstStyle/>
          <a:p>
            <a:pPr marL="0" indent="0" algn="ctr">
              <a:buNone/>
            </a:pPr>
            <a:r>
              <a:rPr lang="en-US" sz="2200" b="1" dirty="0">
                <a:solidFill>
                  <a:srgbClr val="E8820C"/>
                </a:solidFill>
                <a:latin typeface="Calibri" pitchFamily="34" charset="0"/>
                <a:ea typeface="Calibri" pitchFamily="34" charset="-122"/>
                <a:cs typeface="Calibri" pitchFamily="34" charset="-120"/>
              </a:rPr>
              <a:t>1,577</a:t>
            </a:r>
            <a:endParaRPr lang="en-US" sz="2200" dirty="0"/>
          </a:p>
        </p:txBody>
      </p:sp>
      <p:sp>
        <p:nvSpPr>
          <p:cNvPr id="15" name="Text 13"/>
          <p:cNvSpPr/>
          <p:nvPr/>
        </p:nvSpPr>
        <p:spPr>
          <a:xfrm>
            <a:off x="2873416" y="1647572"/>
            <a:ext cx="1645920" cy="347472"/>
          </a:xfrm>
          <a:prstGeom prst="rect">
            <a:avLst/>
          </a:prstGeom>
          <a:noFill/>
          <a:ln/>
        </p:spPr>
        <p:txBody>
          <a:bodyPr wrap="square" lIns="0" tIns="0" rIns="0" bIns="0" rtlCol="0" anchor="t"/>
          <a:lstStyle/>
          <a:p>
            <a:pPr marL="0" indent="0" algn="ctr">
              <a:buNone/>
            </a:pPr>
            <a:r>
              <a:rPr lang="en-US" sz="950" dirty="0">
                <a:solidFill>
                  <a:srgbClr val="7A5C3A"/>
                </a:solidFill>
                <a:latin typeface="Calibri" pitchFamily="34" charset="0"/>
                <a:ea typeface="Calibri" pitchFamily="34" charset="-122"/>
                <a:cs typeface="Calibri" pitchFamily="34" charset="-120"/>
              </a:rPr>
              <a:t>Top Product Units (Camembert)</a:t>
            </a:r>
            <a:endParaRPr lang="en-US" sz="950" dirty="0"/>
          </a:p>
        </p:txBody>
      </p:sp>
      <p:sp>
        <p:nvSpPr>
          <p:cNvPr id="16" name="Shape 14"/>
          <p:cNvSpPr/>
          <p:nvPr/>
        </p:nvSpPr>
        <p:spPr>
          <a:xfrm>
            <a:off x="4702216" y="1098932"/>
            <a:ext cx="1828800" cy="91440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4702216" y="1098932"/>
            <a:ext cx="54864" cy="914400"/>
          </a:xfrm>
          <a:prstGeom prst="rect">
            <a:avLst/>
          </a:prstGeom>
          <a:solidFill>
            <a:srgbClr val="E8820C"/>
          </a:solidFill>
          <a:ln w="12700">
            <a:solidFill>
              <a:srgbClr val="E8820C"/>
            </a:solidFill>
            <a:prstDash val="solid"/>
          </a:ln>
        </p:spPr>
        <p:txBody>
          <a:bodyPr/>
          <a:lstStyle/>
          <a:p>
            <a:endParaRPr lang="en-US"/>
          </a:p>
        </p:txBody>
      </p:sp>
      <p:sp>
        <p:nvSpPr>
          <p:cNvPr id="18" name="Text 16"/>
          <p:cNvSpPr/>
          <p:nvPr/>
        </p:nvSpPr>
        <p:spPr>
          <a:xfrm>
            <a:off x="4811944" y="1190372"/>
            <a:ext cx="1645920" cy="502920"/>
          </a:xfrm>
          <a:prstGeom prst="rect">
            <a:avLst/>
          </a:prstGeom>
          <a:noFill/>
          <a:ln/>
        </p:spPr>
        <p:txBody>
          <a:bodyPr wrap="square" lIns="0" tIns="0" rIns="0" bIns="0" rtlCol="0" anchor="b"/>
          <a:lstStyle/>
          <a:p>
            <a:pPr marL="0" indent="0" algn="ctr">
              <a:buNone/>
            </a:pPr>
            <a:r>
              <a:rPr lang="en-US" sz="2200" b="1" dirty="0">
                <a:solidFill>
                  <a:srgbClr val="E8820C"/>
                </a:solidFill>
                <a:latin typeface="Calibri" pitchFamily="34" charset="0"/>
                <a:ea typeface="Calibri" pitchFamily="34" charset="-122"/>
                <a:cs typeface="Calibri" pitchFamily="34" charset="-120"/>
              </a:rPr>
              <a:t>8</a:t>
            </a:r>
            <a:endParaRPr lang="en-US" sz="2200" dirty="0"/>
          </a:p>
        </p:txBody>
      </p:sp>
      <p:sp>
        <p:nvSpPr>
          <p:cNvPr id="19" name="Text 17"/>
          <p:cNvSpPr/>
          <p:nvPr/>
        </p:nvSpPr>
        <p:spPr>
          <a:xfrm>
            <a:off x="4811944" y="1647572"/>
            <a:ext cx="1645920" cy="347472"/>
          </a:xfrm>
          <a:prstGeom prst="rect">
            <a:avLst/>
          </a:prstGeom>
          <a:noFill/>
          <a:ln/>
        </p:spPr>
        <p:txBody>
          <a:bodyPr wrap="square" lIns="0" tIns="0" rIns="0" bIns="0" rtlCol="0" anchor="t"/>
          <a:lstStyle/>
          <a:p>
            <a:pPr marL="0" indent="0" algn="ctr">
              <a:buNone/>
            </a:pPr>
            <a:r>
              <a:rPr lang="en-US" sz="950" dirty="0">
                <a:solidFill>
                  <a:srgbClr val="7A5C3A"/>
                </a:solidFill>
                <a:latin typeface="Calibri" pitchFamily="34" charset="0"/>
                <a:ea typeface="Calibri" pitchFamily="34" charset="-122"/>
                <a:cs typeface="Calibri" pitchFamily="34" charset="-120"/>
              </a:rPr>
              <a:t>Product Categories</a:t>
            </a:r>
            <a:endParaRPr lang="en-US" sz="950" dirty="0"/>
          </a:p>
        </p:txBody>
      </p:sp>
      <p:sp>
        <p:nvSpPr>
          <p:cNvPr id="20" name="Shape 18"/>
          <p:cNvSpPr/>
          <p:nvPr/>
        </p:nvSpPr>
        <p:spPr>
          <a:xfrm>
            <a:off x="6640744" y="1098932"/>
            <a:ext cx="1828800" cy="91440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21" name="Shape 19"/>
          <p:cNvSpPr/>
          <p:nvPr/>
        </p:nvSpPr>
        <p:spPr>
          <a:xfrm>
            <a:off x="6640744" y="1098932"/>
            <a:ext cx="54864" cy="914400"/>
          </a:xfrm>
          <a:prstGeom prst="rect">
            <a:avLst/>
          </a:prstGeom>
          <a:solidFill>
            <a:srgbClr val="E8820C"/>
          </a:solidFill>
          <a:ln w="12700">
            <a:solidFill>
              <a:srgbClr val="E8820C"/>
            </a:solidFill>
            <a:prstDash val="solid"/>
          </a:ln>
        </p:spPr>
        <p:txBody>
          <a:bodyPr/>
          <a:lstStyle/>
          <a:p>
            <a:endParaRPr lang="en-US"/>
          </a:p>
        </p:txBody>
      </p:sp>
      <p:sp>
        <p:nvSpPr>
          <p:cNvPr id="22" name="Text 20"/>
          <p:cNvSpPr/>
          <p:nvPr/>
        </p:nvSpPr>
        <p:spPr>
          <a:xfrm>
            <a:off x="6750472" y="1190372"/>
            <a:ext cx="1645920" cy="502920"/>
          </a:xfrm>
          <a:prstGeom prst="rect">
            <a:avLst/>
          </a:prstGeom>
          <a:noFill/>
          <a:ln/>
        </p:spPr>
        <p:txBody>
          <a:bodyPr wrap="square" lIns="0" tIns="0" rIns="0" bIns="0" rtlCol="0" anchor="b"/>
          <a:lstStyle/>
          <a:p>
            <a:pPr marL="0" indent="0" algn="ctr">
              <a:buNone/>
            </a:pPr>
            <a:r>
              <a:rPr lang="en-US" sz="2200" b="1" dirty="0">
                <a:solidFill>
                  <a:srgbClr val="E8820C"/>
                </a:solidFill>
                <a:latin typeface="Calibri" pitchFamily="34" charset="0"/>
                <a:ea typeface="Calibri" pitchFamily="34" charset="-122"/>
                <a:cs typeface="Calibri" pitchFamily="34" charset="-120"/>
              </a:rPr>
              <a:t>$28.87</a:t>
            </a:r>
            <a:endParaRPr lang="en-US" sz="2200" dirty="0"/>
          </a:p>
        </p:txBody>
      </p:sp>
      <p:sp>
        <p:nvSpPr>
          <p:cNvPr id="23" name="Text 21"/>
          <p:cNvSpPr/>
          <p:nvPr/>
        </p:nvSpPr>
        <p:spPr>
          <a:xfrm>
            <a:off x="6750472" y="1647572"/>
            <a:ext cx="1645920" cy="347472"/>
          </a:xfrm>
          <a:prstGeom prst="rect">
            <a:avLst/>
          </a:prstGeom>
          <a:noFill/>
          <a:ln/>
        </p:spPr>
        <p:txBody>
          <a:bodyPr wrap="square" lIns="0" tIns="0" rIns="0" bIns="0" rtlCol="0" anchor="t"/>
          <a:lstStyle/>
          <a:p>
            <a:pPr marL="0" indent="0" algn="ctr">
              <a:buNone/>
            </a:pPr>
            <a:r>
              <a:rPr lang="en-US" sz="950" dirty="0">
                <a:solidFill>
                  <a:srgbClr val="7A5C3A"/>
                </a:solidFill>
                <a:latin typeface="Calibri" pitchFamily="34" charset="0"/>
                <a:ea typeface="Calibri" pitchFamily="34" charset="-122"/>
                <a:cs typeface="Calibri" pitchFamily="34" charset="-120"/>
              </a:rPr>
              <a:t>Avg List Price</a:t>
            </a:r>
            <a:endParaRPr lang="en-US" sz="950" dirty="0"/>
          </a:p>
        </p:txBody>
      </p:sp>
      <p:sp>
        <p:nvSpPr>
          <p:cNvPr id="29" name="Text 27"/>
          <p:cNvSpPr/>
          <p:nvPr/>
        </p:nvSpPr>
        <p:spPr>
          <a:xfrm>
            <a:off x="5669280" y="2249424"/>
            <a:ext cx="315468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Business Insights</a:t>
            </a:r>
            <a:endParaRPr lang="en-US" sz="1000" dirty="0"/>
          </a:p>
        </p:txBody>
      </p:sp>
      <p:sp>
        <p:nvSpPr>
          <p:cNvPr id="31" name="Shape 22">
            <a:extLst>
              <a:ext uri="{FF2B5EF4-FFF2-40B4-BE49-F238E27FC236}">
                <a16:creationId xmlns:a16="http://schemas.microsoft.com/office/drawing/2014/main" id="{C794C717-D72E-9B17-5129-72D561DF721D}"/>
              </a:ext>
            </a:extLst>
          </p:cNvPr>
          <p:cNvSpPr/>
          <p:nvPr/>
        </p:nvSpPr>
        <p:spPr>
          <a:xfrm>
            <a:off x="53983" y="2114160"/>
            <a:ext cx="3036565" cy="290322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32" name="Text 23">
            <a:extLst>
              <a:ext uri="{FF2B5EF4-FFF2-40B4-BE49-F238E27FC236}">
                <a16:creationId xmlns:a16="http://schemas.microsoft.com/office/drawing/2014/main" id="{373C50AE-F8F5-0177-EC4E-B685AE549677}"/>
              </a:ext>
            </a:extLst>
          </p:cNvPr>
          <p:cNvSpPr/>
          <p:nvPr/>
        </p:nvSpPr>
        <p:spPr>
          <a:xfrm>
            <a:off x="64997" y="2114160"/>
            <a:ext cx="3036565" cy="320040"/>
          </a:xfrm>
          <a:prstGeom prst="rect">
            <a:avLst/>
          </a:prstGeom>
          <a:solidFill>
            <a:srgbClr val="C45C0A"/>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Key Findings</a:t>
            </a:r>
            <a:endParaRPr lang="en-US" sz="1200" dirty="0"/>
          </a:p>
        </p:txBody>
      </p:sp>
      <p:sp>
        <p:nvSpPr>
          <p:cNvPr id="33" name="Text 24">
            <a:extLst>
              <a:ext uri="{FF2B5EF4-FFF2-40B4-BE49-F238E27FC236}">
                <a16:creationId xmlns:a16="http://schemas.microsoft.com/office/drawing/2014/main" id="{2E820897-FA1F-3F1F-5075-0479CBA66040}"/>
              </a:ext>
            </a:extLst>
          </p:cNvPr>
          <p:cNvSpPr/>
          <p:nvPr/>
        </p:nvSpPr>
        <p:spPr>
          <a:xfrm>
            <a:off x="58939" y="2507352"/>
            <a:ext cx="2988322" cy="2194560"/>
          </a:xfrm>
          <a:prstGeom prst="rect">
            <a:avLst/>
          </a:prstGeom>
          <a:noFill/>
          <a:ln/>
        </p:spPr>
        <p:txBody>
          <a:bodyPr wrap="square" rtlCol="0" anchor="t"/>
          <a:lstStyle/>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Camembert Pierrot leads sales volume at 1,577 units, followed by Raclette </a:t>
            </a:r>
            <a:r>
              <a:rPr lang="en-US" sz="1050" dirty="0" err="1">
                <a:solidFill>
                  <a:srgbClr val="2A1500"/>
                </a:solidFill>
                <a:latin typeface="Calibri" pitchFamily="34" charset="0"/>
                <a:ea typeface="Calibri" pitchFamily="34" charset="-122"/>
                <a:cs typeface="Calibri" pitchFamily="34" charset="-120"/>
              </a:rPr>
              <a:t>Courdavault</a:t>
            </a:r>
            <a:r>
              <a:rPr lang="en-US" sz="1050" dirty="0">
                <a:solidFill>
                  <a:srgbClr val="2A1500"/>
                </a:solidFill>
                <a:latin typeface="Calibri" pitchFamily="34" charset="0"/>
                <a:ea typeface="Calibri" pitchFamily="34" charset="-122"/>
                <a:cs typeface="Calibri" pitchFamily="34" charset="-120"/>
              </a:rPr>
              <a:t> (1,496) &amp; Gorgonzola </a:t>
            </a:r>
            <a:r>
              <a:rPr lang="en-US" sz="1050" dirty="0" err="1">
                <a:solidFill>
                  <a:srgbClr val="2A1500"/>
                </a:solidFill>
                <a:latin typeface="Calibri" pitchFamily="34" charset="0"/>
                <a:ea typeface="Calibri" pitchFamily="34" charset="-122"/>
                <a:cs typeface="Calibri" pitchFamily="34" charset="-120"/>
              </a:rPr>
              <a:t>Telino</a:t>
            </a:r>
            <a:r>
              <a:rPr lang="en-US" sz="1050" dirty="0">
                <a:solidFill>
                  <a:srgbClr val="2A1500"/>
                </a:solidFill>
                <a:latin typeface="Calibri" pitchFamily="34" charset="0"/>
                <a:ea typeface="Calibri" pitchFamily="34" charset="-122"/>
                <a:cs typeface="Calibri" pitchFamily="34" charset="-120"/>
              </a:rPr>
              <a:t> (1,397)</a:t>
            </a:r>
            <a:endParaRPr lang="en-US" sz="1050" dirty="0"/>
          </a:p>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Beverages, Condiments &amp; Confections drive the largest share of quarterly revenue</a:t>
            </a:r>
            <a:endParaRPr lang="en-US" sz="1050" dirty="0"/>
          </a:p>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Revenue peaks in Q1–Q2, suggesting seasonal demand patterns in specialty foods</a:t>
            </a:r>
            <a:endParaRPr lang="en-US" sz="1050" dirty="0"/>
          </a:p>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Dairy products and niche items show consistent but lower contribution volumes</a:t>
            </a:r>
            <a:endParaRPr lang="en-US" sz="1050" dirty="0"/>
          </a:p>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Category diversification ensures no single product segment creates over-dependence</a:t>
            </a:r>
            <a:endParaRPr lang="en-US" sz="1050" dirty="0"/>
          </a:p>
        </p:txBody>
      </p:sp>
      <p:sp>
        <p:nvSpPr>
          <p:cNvPr id="34" name="Shape 25">
            <a:extLst>
              <a:ext uri="{FF2B5EF4-FFF2-40B4-BE49-F238E27FC236}">
                <a16:creationId xmlns:a16="http://schemas.microsoft.com/office/drawing/2014/main" id="{5B92E3E5-1100-FBEE-4662-35F1E57EADD8}"/>
              </a:ext>
            </a:extLst>
          </p:cNvPr>
          <p:cNvSpPr/>
          <p:nvPr/>
        </p:nvSpPr>
        <p:spPr>
          <a:xfrm>
            <a:off x="6897112" y="2240280"/>
            <a:ext cx="2194560" cy="2651760"/>
          </a:xfrm>
          <a:prstGeom prst="rect">
            <a:avLst/>
          </a:prstGeom>
          <a:solidFill>
            <a:srgbClr val="FFF8E7"/>
          </a:solidFill>
          <a:ln w="19050">
            <a:solidFill>
              <a:srgbClr val="E8820C"/>
            </a:solidFill>
            <a:prstDash val="solid"/>
          </a:ln>
          <a:effectLst>
            <a:outerShdw blurRad="101600" dist="38100" dir="8100000" algn="bl" rotWithShape="0">
              <a:srgbClr val="000000">
                <a:alpha val="12000"/>
              </a:srgbClr>
            </a:outerShdw>
          </a:effectLst>
        </p:spPr>
        <p:txBody>
          <a:bodyPr/>
          <a:lstStyle/>
          <a:p>
            <a:endParaRPr lang="en-US"/>
          </a:p>
        </p:txBody>
      </p:sp>
      <p:sp>
        <p:nvSpPr>
          <p:cNvPr id="35" name="Shape 26">
            <a:extLst>
              <a:ext uri="{FF2B5EF4-FFF2-40B4-BE49-F238E27FC236}">
                <a16:creationId xmlns:a16="http://schemas.microsoft.com/office/drawing/2014/main" id="{87990A6E-AFDD-E0D1-E644-4D44CA2C1D57}"/>
              </a:ext>
            </a:extLst>
          </p:cNvPr>
          <p:cNvSpPr/>
          <p:nvPr/>
        </p:nvSpPr>
        <p:spPr>
          <a:xfrm>
            <a:off x="6897112" y="2240280"/>
            <a:ext cx="2194560" cy="274320"/>
          </a:xfrm>
          <a:prstGeom prst="rect">
            <a:avLst/>
          </a:prstGeom>
          <a:solidFill>
            <a:srgbClr val="E8820C"/>
          </a:solidFill>
          <a:ln w="12700">
            <a:solidFill>
              <a:srgbClr val="E8820C"/>
            </a:solidFill>
            <a:prstDash val="solid"/>
          </a:ln>
        </p:spPr>
        <p:txBody>
          <a:bodyPr/>
          <a:lstStyle/>
          <a:p>
            <a:endParaRPr lang="en-US"/>
          </a:p>
        </p:txBody>
      </p:sp>
      <p:sp>
        <p:nvSpPr>
          <p:cNvPr id="36" name="Text 27">
            <a:extLst>
              <a:ext uri="{FF2B5EF4-FFF2-40B4-BE49-F238E27FC236}">
                <a16:creationId xmlns:a16="http://schemas.microsoft.com/office/drawing/2014/main" id="{4128564A-E164-69DD-3691-756277A6ECB2}"/>
              </a:ext>
            </a:extLst>
          </p:cNvPr>
          <p:cNvSpPr/>
          <p:nvPr/>
        </p:nvSpPr>
        <p:spPr>
          <a:xfrm>
            <a:off x="6908129" y="2249424"/>
            <a:ext cx="2103120" cy="2468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Business Insights</a:t>
            </a:r>
            <a:endParaRPr lang="en-US" sz="1100" dirty="0"/>
          </a:p>
        </p:txBody>
      </p:sp>
      <p:sp>
        <p:nvSpPr>
          <p:cNvPr id="37" name="Text 28">
            <a:extLst>
              <a:ext uri="{FF2B5EF4-FFF2-40B4-BE49-F238E27FC236}">
                <a16:creationId xmlns:a16="http://schemas.microsoft.com/office/drawing/2014/main" id="{DF599B4F-70AD-FAD6-0C19-6AE7EA4A927E}"/>
              </a:ext>
            </a:extLst>
          </p:cNvPr>
          <p:cNvSpPr/>
          <p:nvPr/>
        </p:nvSpPr>
        <p:spPr>
          <a:xfrm>
            <a:off x="6897112" y="2560320"/>
            <a:ext cx="2103120" cy="2267712"/>
          </a:xfrm>
          <a:prstGeom prst="rect">
            <a:avLst/>
          </a:prstGeom>
          <a:noFill/>
          <a:ln/>
        </p:spPr>
        <p:txBody>
          <a:bodyPr wrap="square" rtlCol="0" anchor="t"/>
          <a:lstStyle/>
          <a:p>
            <a:pPr marL="342900" indent="-342900">
              <a:spcAft>
                <a:spcPts val="400"/>
              </a:spcAft>
              <a:buSzPct val="100000"/>
              <a:buChar char="•"/>
            </a:pPr>
            <a:r>
              <a:rPr lang="en-US" sz="1050" dirty="0">
                <a:solidFill>
                  <a:srgbClr val="2A1500"/>
                </a:solidFill>
                <a:latin typeface="Calibri" pitchFamily="34" charset="0"/>
                <a:ea typeface="Calibri" pitchFamily="34" charset="-122"/>
                <a:cs typeface="Calibri" pitchFamily="34" charset="-120"/>
              </a:rPr>
              <a:t>Portfolio Strength: Top 3 products are all dairy/cheese — a defensible niche in specialty foods</a:t>
            </a:r>
            <a:endParaRPr lang="en-US" sz="1050" dirty="0"/>
          </a:p>
          <a:p>
            <a:pPr marL="342900" indent="-342900">
              <a:spcAft>
                <a:spcPts val="400"/>
              </a:spcAft>
              <a:buSzPct val="100000"/>
              <a:buChar char="•"/>
            </a:pPr>
            <a:r>
              <a:rPr lang="en-US" sz="1050" dirty="0">
                <a:solidFill>
                  <a:srgbClr val="2A1500"/>
                </a:solidFill>
                <a:latin typeface="Calibri" pitchFamily="34" charset="0"/>
                <a:ea typeface="Calibri" pitchFamily="34" charset="-122"/>
                <a:cs typeface="Calibri" pitchFamily="34" charset="-120"/>
              </a:rPr>
              <a:t>Revenue Seasonality: Q1–Q2 peak indicates promotional timing opportunities for slower quarters</a:t>
            </a:r>
            <a:endParaRPr lang="en-US" sz="1050" dirty="0"/>
          </a:p>
          <a:p>
            <a:pPr marL="342900" indent="-342900">
              <a:spcAft>
                <a:spcPts val="400"/>
              </a:spcAft>
              <a:buSzPct val="100000"/>
              <a:buChar char="•"/>
            </a:pPr>
            <a:r>
              <a:rPr lang="en-US" sz="1050" dirty="0">
                <a:solidFill>
                  <a:srgbClr val="2A1500"/>
                </a:solidFill>
                <a:latin typeface="Calibri" pitchFamily="34" charset="0"/>
                <a:ea typeface="Calibri" pitchFamily="34" charset="-122"/>
                <a:cs typeface="Calibri" pitchFamily="34" charset="-120"/>
              </a:rPr>
              <a:t>Pricing Breadth: $28.87 average price masks a wide range (low: $4.50 → premium: $140.75)</a:t>
            </a:r>
            <a:endParaRPr lang="en-US" sz="1050" dirty="0"/>
          </a:p>
        </p:txBody>
      </p:sp>
      <p:pic>
        <p:nvPicPr>
          <p:cNvPr id="39" name="Picture 38">
            <a:extLst>
              <a:ext uri="{FF2B5EF4-FFF2-40B4-BE49-F238E27FC236}">
                <a16:creationId xmlns:a16="http://schemas.microsoft.com/office/drawing/2014/main" id="{B47CDE38-72A8-CC18-BD12-7E231FE827C6}"/>
              </a:ext>
            </a:extLst>
          </p:cNvPr>
          <p:cNvPicPr>
            <a:picLocks noChangeAspect="1"/>
          </p:cNvPicPr>
          <p:nvPr/>
        </p:nvPicPr>
        <p:blipFill rotWithShape="1">
          <a:blip r:embed="rId3"/>
          <a:srcRect l="13351" t="33134" r="40207" b="12346"/>
          <a:stretch>
            <a:fillRect/>
          </a:stretch>
        </p:blipFill>
        <p:spPr>
          <a:xfrm>
            <a:off x="3194505" y="2392301"/>
            <a:ext cx="3609663" cy="23836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BF2"/>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3D1C02"/>
          </a:solidFill>
          <a:ln w="12700">
            <a:solidFill>
              <a:srgbClr val="3D1C02"/>
            </a:solidFill>
            <a:prstDash val="solid"/>
          </a:ln>
        </p:spPr>
        <p:txBody>
          <a:bodyPr/>
          <a:lstStyle/>
          <a:p>
            <a:endParaRPr lang="en-US"/>
          </a:p>
        </p:txBody>
      </p:sp>
      <p:sp>
        <p:nvSpPr>
          <p:cNvPr id="3" name="Text 1"/>
          <p:cNvSpPr/>
          <p:nvPr/>
        </p:nvSpPr>
        <p:spPr>
          <a:xfrm>
            <a:off x="320040" y="118872"/>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Order Analysis</a:t>
            </a:r>
            <a:endParaRPr lang="en-US" sz="2200" dirty="0"/>
          </a:p>
        </p:txBody>
      </p:sp>
      <p:sp>
        <p:nvSpPr>
          <p:cNvPr id="4" name="Text 2"/>
          <p:cNvSpPr/>
          <p:nvPr/>
        </p:nvSpPr>
        <p:spPr>
          <a:xfrm>
            <a:off x="320040" y="658368"/>
            <a:ext cx="6400800" cy="292608"/>
          </a:xfrm>
          <a:prstGeom prst="rect">
            <a:avLst/>
          </a:prstGeom>
          <a:noFill/>
          <a:ln/>
        </p:spPr>
        <p:txBody>
          <a:bodyPr wrap="square" lIns="0" tIns="0" rIns="0" bIns="0" rtlCol="0" anchor="ctr"/>
          <a:lstStyle/>
          <a:p>
            <a:pPr marL="0" indent="0">
              <a:buNone/>
            </a:pPr>
            <a:r>
              <a:rPr lang="en-US" sz="1100" i="1" dirty="0">
                <a:solidFill>
                  <a:srgbClr val="F5C842"/>
                </a:solidFill>
                <a:latin typeface="Calibri" pitchFamily="34" charset="0"/>
                <a:ea typeface="Calibri" pitchFamily="34" charset="-122"/>
                <a:cs typeface="Calibri" pitchFamily="34" charset="-120"/>
              </a:rPr>
              <a:t>830 Orders · Order Volume Trends · Shipping Performance</a:t>
            </a:r>
            <a:endParaRPr lang="en-US" sz="1100" dirty="0"/>
          </a:p>
        </p:txBody>
      </p:sp>
      <p:sp>
        <p:nvSpPr>
          <p:cNvPr id="5" name="Shape 3"/>
          <p:cNvSpPr/>
          <p:nvPr/>
        </p:nvSpPr>
        <p:spPr>
          <a:xfrm>
            <a:off x="8412480" y="182880"/>
            <a:ext cx="548640" cy="640080"/>
          </a:xfrm>
          <a:prstGeom prst="rect">
            <a:avLst/>
          </a:prstGeom>
          <a:solidFill>
            <a:srgbClr val="E8820C"/>
          </a:solidFill>
          <a:ln w="12700">
            <a:solidFill>
              <a:srgbClr val="E8820C"/>
            </a:solidFill>
            <a:prstDash val="solid"/>
          </a:ln>
        </p:spPr>
        <p:txBody>
          <a:bodyPr/>
          <a:lstStyle/>
          <a:p>
            <a:endParaRPr lang="en-US"/>
          </a:p>
        </p:txBody>
      </p:sp>
      <p:sp>
        <p:nvSpPr>
          <p:cNvPr id="6" name="Shape 4"/>
          <p:cNvSpPr/>
          <p:nvPr/>
        </p:nvSpPr>
        <p:spPr>
          <a:xfrm>
            <a:off x="7863840" y="164592"/>
            <a:ext cx="1097280" cy="292608"/>
          </a:xfrm>
          <a:prstGeom prst="rect">
            <a:avLst/>
          </a:prstGeom>
          <a:solidFill>
            <a:srgbClr val="E8820C"/>
          </a:solidFill>
          <a:ln w="12700">
            <a:solidFill>
              <a:srgbClr val="E8820C"/>
            </a:solidFill>
            <a:prstDash val="solid"/>
          </a:ln>
        </p:spPr>
        <p:txBody>
          <a:bodyPr/>
          <a:lstStyle/>
          <a:p>
            <a:endParaRPr lang="en-US"/>
          </a:p>
        </p:txBody>
      </p:sp>
      <p:sp>
        <p:nvSpPr>
          <p:cNvPr id="7" name="Text 5"/>
          <p:cNvSpPr/>
          <p:nvPr/>
        </p:nvSpPr>
        <p:spPr>
          <a:xfrm>
            <a:off x="7863840" y="164592"/>
            <a:ext cx="10972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SLIDE 8 / 13</a:t>
            </a:r>
            <a:endParaRPr lang="en-US" sz="900" dirty="0"/>
          </a:p>
        </p:txBody>
      </p:sp>
      <p:sp>
        <p:nvSpPr>
          <p:cNvPr id="8" name="Shape 6"/>
          <p:cNvSpPr/>
          <p:nvPr/>
        </p:nvSpPr>
        <p:spPr>
          <a:xfrm>
            <a:off x="274320" y="1085250"/>
            <a:ext cx="1737360" cy="91440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274320" y="1085250"/>
            <a:ext cx="54864" cy="914400"/>
          </a:xfrm>
          <a:prstGeom prst="rect">
            <a:avLst/>
          </a:prstGeom>
          <a:solidFill>
            <a:srgbClr val="E8820C"/>
          </a:solidFill>
          <a:ln w="12700">
            <a:solidFill>
              <a:srgbClr val="E8820C"/>
            </a:solidFill>
            <a:prstDash val="solid"/>
          </a:ln>
        </p:spPr>
        <p:txBody>
          <a:bodyPr/>
          <a:lstStyle/>
          <a:p>
            <a:endParaRPr lang="en-US"/>
          </a:p>
        </p:txBody>
      </p:sp>
      <p:sp>
        <p:nvSpPr>
          <p:cNvPr id="10" name="Text 8"/>
          <p:cNvSpPr/>
          <p:nvPr/>
        </p:nvSpPr>
        <p:spPr>
          <a:xfrm>
            <a:off x="384048" y="1176690"/>
            <a:ext cx="1554480" cy="502920"/>
          </a:xfrm>
          <a:prstGeom prst="rect">
            <a:avLst/>
          </a:prstGeom>
          <a:noFill/>
          <a:ln/>
        </p:spPr>
        <p:txBody>
          <a:bodyPr wrap="square" lIns="0" tIns="0" rIns="0" bIns="0" rtlCol="0" anchor="b"/>
          <a:lstStyle/>
          <a:p>
            <a:pPr marL="0" indent="0" algn="ctr">
              <a:buNone/>
            </a:pPr>
            <a:r>
              <a:rPr lang="en-US" sz="2200" b="1" dirty="0">
                <a:solidFill>
                  <a:srgbClr val="E8820C"/>
                </a:solidFill>
                <a:latin typeface="Calibri" pitchFamily="34" charset="0"/>
                <a:ea typeface="Calibri" pitchFamily="34" charset="-122"/>
                <a:cs typeface="Calibri" pitchFamily="34" charset="-120"/>
              </a:rPr>
              <a:t>830</a:t>
            </a:r>
            <a:endParaRPr lang="en-US" sz="2200" dirty="0"/>
          </a:p>
        </p:txBody>
      </p:sp>
      <p:sp>
        <p:nvSpPr>
          <p:cNvPr id="11" name="Text 9"/>
          <p:cNvSpPr/>
          <p:nvPr/>
        </p:nvSpPr>
        <p:spPr>
          <a:xfrm>
            <a:off x="384048" y="1633890"/>
            <a:ext cx="1554480" cy="347472"/>
          </a:xfrm>
          <a:prstGeom prst="rect">
            <a:avLst/>
          </a:prstGeom>
          <a:noFill/>
          <a:ln/>
        </p:spPr>
        <p:txBody>
          <a:bodyPr wrap="square" lIns="0" tIns="0" rIns="0" bIns="0" rtlCol="0" anchor="t"/>
          <a:lstStyle/>
          <a:p>
            <a:pPr marL="0" indent="0" algn="ctr">
              <a:buNone/>
            </a:pPr>
            <a:r>
              <a:rPr lang="en-US" sz="950" dirty="0">
                <a:solidFill>
                  <a:srgbClr val="7A5C3A"/>
                </a:solidFill>
                <a:latin typeface="Calibri" pitchFamily="34" charset="0"/>
                <a:ea typeface="Calibri" pitchFamily="34" charset="-122"/>
                <a:cs typeface="Calibri" pitchFamily="34" charset="-120"/>
              </a:rPr>
              <a:t>Total Orders</a:t>
            </a:r>
            <a:endParaRPr lang="en-US" sz="950" dirty="0"/>
          </a:p>
        </p:txBody>
      </p:sp>
      <p:sp>
        <p:nvSpPr>
          <p:cNvPr id="12" name="Shape 10"/>
          <p:cNvSpPr/>
          <p:nvPr/>
        </p:nvSpPr>
        <p:spPr>
          <a:xfrm>
            <a:off x="2103120" y="1085250"/>
            <a:ext cx="1737360" cy="91440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2103120" y="1085250"/>
            <a:ext cx="54864" cy="914400"/>
          </a:xfrm>
          <a:prstGeom prst="rect">
            <a:avLst/>
          </a:prstGeom>
          <a:solidFill>
            <a:srgbClr val="E8820C"/>
          </a:solidFill>
          <a:ln w="12700">
            <a:solidFill>
              <a:srgbClr val="E8820C"/>
            </a:solidFill>
            <a:prstDash val="solid"/>
          </a:ln>
        </p:spPr>
        <p:txBody>
          <a:bodyPr/>
          <a:lstStyle/>
          <a:p>
            <a:endParaRPr lang="en-US"/>
          </a:p>
        </p:txBody>
      </p:sp>
      <p:sp>
        <p:nvSpPr>
          <p:cNvPr id="14" name="Text 12"/>
          <p:cNvSpPr/>
          <p:nvPr/>
        </p:nvSpPr>
        <p:spPr>
          <a:xfrm>
            <a:off x="2212848" y="1176690"/>
            <a:ext cx="1554480" cy="502920"/>
          </a:xfrm>
          <a:prstGeom prst="rect">
            <a:avLst/>
          </a:prstGeom>
          <a:noFill/>
          <a:ln/>
        </p:spPr>
        <p:txBody>
          <a:bodyPr wrap="square" lIns="0" tIns="0" rIns="0" bIns="0" rtlCol="0" anchor="b"/>
          <a:lstStyle/>
          <a:p>
            <a:pPr marL="0" indent="0" algn="ctr">
              <a:buNone/>
            </a:pPr>
            <a:r>
              <a:rPr lang="en-US" sz="2200" b="1" dirty="0">
                <a:solidFill>
                  <a:srgbClr val="E8820C"/>
                </a:solidFill>
                <a:latin typeface="Calibri" pitchFamily="34" charset="0"/>
                <a:ea typeface="Calibri" pitchFamily="34" charset="-122"/>
                <a:cs typeface="Calibri" pitchFamily="34" charset="-120"/>
              </a:rPr>
              <a:t>$1.53K</a:t>
            </a:r>
            <a:endParaRPr lang="en-US" sz="2200" dirty="0"/>
          </a:p>
        </p:txBody>
      </p:sp>
      <p:sp>
        <p:nvSpPr>
          <p:cNvPr id="15" name="Text 13"/>
          <p:cNvSpPr/>
          <p:nvPr/>
        </p:nvSpPr>
        <p:spPr>
          <a:xfrm>
            <a:off x="2212848" y="1633890"/>
            <a:ext cx="1554480" cy="347472"/>
          </a:xfrm>
          <a:prstGeom prst="rect">
            <a:avLst/>
          </a:prstGeom>
          <a:noFill/>
          <a:ln/>
        </p:spPr>
        <p:txBody>
          <a:bodyPr wrap="square" lIns="0" tIns="0" rIns="0" bIns="0" rtlCol="0" anchor="t"/>
          <a:lstStyle/>
          <a:p>
            <a:pPr marL="0" indent="0" algn="ctr">
              <a:buNone/>
            </a:pPr>
            <a:r>
              <a:rPr lang="en-US" sz="950" dirty="0">
                <a:solidFill>
                  <a:srgbClr val="7A5C3A"/>
                </a:solidFill>
                <a:latin typeface="Calibri" pitchFamily="34" charset="0"/>
                <a:ea typeface="Calibri" pitchFamily="34" charset="-122"/>
                <a:cs typeface="Calibri" pitchFamily="34" charset="-120"/>
              </a:rPr>
              <a:t>Avg Order Value</a:t>
            </a:r>
            <a:endParaRPr lang="en-US" sz="950" dirty="0"/>
          </a:p>
        </p:txBody>
      </p:sp>
      <p:sp>
        <p:nvSpPr>
          <p:cNvPr id="16" name="Shape 14"/>
          <p:cNvSpPr/>
          <p:nvPr/>
        </p:nvSpPr>
        <p:spPr>
          <a:xfrm>
            <a:off x="3931920" y="1085250"/>
            <a:ext cx="1737360" cy="91440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3931920" y="1085250"/>
            <a:ext cx="54864" cy="914400"/>
          </a:xfrm>
          <a:prstGeom prst="rect">
            <a:avLst/>
          </a:prstGeom>
          <a:solidFill>
            <a:srgbClr val="E8820C"/>
          </a:solidFill>
          <a:ln w="12700">
            <a:solidFill>
              <a:srgbClr val="E8820C"/>
            </a:solidFill>
            <a:prstDash val="solid"/>
          </a:ln>
        </p:spPr>
        <p:txBody>
          <a:bodyPr/>
          <a:lstStyle/>
          <a:p>
            <a:endParaRPr lang="en-US"/>
          </a:p>
        </p:txBody>
      </p:sp>
      <p:sp>
        <p:nvSpPr>
          <p:cNvPr id="18" name="Text 16"/>
          <p:cNvSpPr/>
          <p:nvPr/>
        </p:nvSpPr>
        <p:spPr>
          <a:xfrm>
            <a:off x="4041648" y="1176690"/>
            <a:ext cx="1554480" cy="502920"/>
          </a:xfrm>
          <a:prstGeom prst="rect">
            <a:avLst/>
          </a:prstGeom>
          <a:noFill/>
          <a:ln/>
        </p:spPr>
        <p:txBody>
          <a:bodyPr wrap="square" lIns="0" tIns="0" rIns="0" bIns="0" rtlCol="0" anchor="b"/>
          <a:lstStyle/>
          <a:p>
            <a:pPr marL="0" indent="0" algn="ctr">
              <a:buNone/>
            </a:pPr>
            <a:r>
              <a:rPr lang="en-US" sz="2200" b="1" dirty="0">
                <a:solidFill>
                  <a:srgbClr val="E8820C"/>
                </a:solidFill>
                <a:latin typeface="Calibri" pitchFamily="34" charset="0"/>
                <a:ea typeface="Calibri" pitchFamily="34" charset="-122"/>
                <a:cs typeface="Calibri" pitchFamily="34" charset="-120"/>
              </a:rPr>
              <a:t>8.49</a:t>
            </a:r>
            <a:endParaRPr lang="en-US" sz="2200" dirty="0"/>
          </a:p>
        </p:txBody>
      </p:sp>
      <p:sp>
        <p:nvSpPr>
          <p:cNvPr id="19" name="Text 17"/>
          <p:cNvSpPr/>
          <p:nvPr/>
        </p:nvSpPr>
        <p:spPr>
          <a:xfrm>
            <a:off x="4041648" y="1633890"/>
            <a:ext cx="1554480" cy="347472"/>
          </a:xfrm>
          <a:prstGeom prst="rect">
            <a:avLst/>
          </a:prstGeom>
          <a:noFill/>
          <a:ln/>
        </p:spPr>
        <p:txBody>
          <a:bodyPr wrap="square" lIns="0" tIns="0" rIns="0" bIns="0" rtlCol="0" anchor="t"/>
          <a:lstStyle/>
          <a:p>
            <a:pPr marL="0" indent="0" algn="ctr">
              <a:buNone/>
            </a:pPr>
            <a:r>
              <a:rPr lang="en-US" sz="950" dirty="0">
                <a:solidFill>
                  <a:srgbClr val="7A5C3A"/>
                </a:solidFill>
                <a:latin typeface="Calibri" pitchFamily="34" charset="0"/>
                <a:ea typeface="Calibri" pitchFamily="34" charset="-122"/>
                <a:cs typeface="Calibri" pitchFamily="34" charset="-120"/>
              </a:rPr>
              <a:t>Avg Shipping Days</a:t>
            </a:r>
            <a:endParaRPr lang="en-US" sz="950" dirty="0"/>
          </a:p>
        </p:txBody>
      </p:sp>
      <p:sp>
        <p:nvSpPr>
          <p:cNvPr id="20" name="Shape 18"/>
          <p:cNvSpPr/>
          <p:nvPr/>
        </p:nvSpPr>
        <p:spPr>
          <a:xfrm>
            <a:off x="5760720" y="1085250"/>
            <a:ext cx="1737360" cy="91440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21" name="Shape 19"/>
          <p:cNvSpPr/>
          <p:nvPr/>
        </p:nvSpPr>
        <p:spPr>
          <a:xfrm>
            <a:off x="5760720" y="1085250"/>
            <a:ext cx="54864" cy="914400"/>
          </a:xfrm>
          <a:prstGeom prst="rect">
            <a:avLst/>
          </a:prstGeom>
          <a:solidFill>
            <a:srgbClr val="E8820C"/>
          </a:solidFill>
          <a:ln w="12700">
            <a:solidFill>
              <a:srgbClr val="E8820C"/>
            </a:solidFill>
            <a:prstDash val="solid"/>
          </a:ln>
        </p:spPr>
        <p:txBody>
          <a:bodyPr/>
          <a:lstStyle/>
          <a:p>
            <a:endParaRPr lang="en-US"/>
          </a:p>
        </p:txBody>
      </p:sp>
      <p:sp>
        <p:nvSpPr>
          <p:cNvPr id="22" name="Text 20"/>
          <p:cNvSpPr/>
          <p:nvPr/>
        </p:nvSpPr>
        <p:spPr>
          <a:xfrm>
            <a:off x="5870448" y="1176690"/>
            <a:ext cx="1554480" cy="502920"/>
          </a:xfrm>
          <a:prstGeom prst="rect">
            <a:avLst/>
          </a:prstGeom>
          <a:noFill/>
          <a:ln/>
        </p:spPr>
        <p:txBody>
          <a:bodyPr wrap="square" lIns="0" tIns="0" rIns="0" bIns="0" rtlCol="0" anchor="b"/>
          <a:lstStyle/>
          <a:p>
            <a:pPr marL="0" indent="0" algn="ctr">
              <a:buNone/>
            </a:pPr>
            <a:r>
              <a:rPr lang="en-US" sz="2200" b="1" dirty="0">
                <a:solidFill>
                  <a:srgbClr val="E8820C"/>
                </a:solidFill>
                <a:latin typeface="Calibri" pitchFamily="34" charset="0"/>
                <a:ea typeface="Calibri" pitchFamily="34" charset="-122"/>
                <a:cs typeface="Calibri" pitchFamily="34" charset="-120"/>
              </a:rPr>
              <a:t>37</a:t>
            </a:r>
            <a:endParaRPr lang="en-US" sz="2200" dirty="0"/>
          </a:p>
        </p:txBody>
      </p:sp>
      <p:sp>
        <p:nvSpPr>
          <p:cNvPr id="23" name="Text 21"/>
          <p:cNvSpPr/>
          <p:nvPr/>
        </p:nvSpPr>
        <p:spPr>
          <a:xfrm>
            <a:off x="5870448" y="1633890"/>
            <a:ext cx="1554480" cy="347472"/>
          </a:xfrm>
          <a:prstGeom prst="rect">
            <a:avLst/>
          </a:prstGeom>
          <a:noFill/>
          <a:ln/>
        </p:spPr>
        <p:txBody>
          <a:bodyPr wrap="square" lIns="0" tIns="0" rIns="0" bIns="0" rtlCol="0" anchor="t"/>
          <a:lstStyle/>
          <a:p>
            <a:pPr marL="0" indent="0" algn="ctr">
              <a:buNone/>
            </a:pPr>
            <a:r>
              <a:rPr lang="en-US" sz="950" dirty="0">
                <a:solidFill>
                  <a:srgbClr val="7A5C3A"/>
                </a:solidFill>
                <a:latin typeface="Calibri" pitchFamily="34" charset="0"/>
                <a:ea typeface="Calibri" pitchFamily="34" charset="-122"/>
                <a:cs typeface="Calibri" pitchFamily="34" charset="-120"/>
              </a:rPr>
              <a:t>Late Shipments</a:t>
            </a:r>
            <a:endParaRPr lang="en-US" sz="950" dirty="0"/>
          </a:p>
        </p:txBody>
      </p:sp>
      <p:sp>
        <p:nvSpPr>
          <p:cNvPr id="24" name="Shape 22"/>
          <p:cNvSpPr/>
          <p:nvPr/>
        </p:nvSpPr>
        <p:spPr>
          <a:xfrm>
            <a:off x="7543800" y="1085250"/>
            <a:ext cx="1417320" cy="91440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25" name="Shape 23"/>
          <p:cNvSpPr/>
          <p:nvPr/>
        </p:nvSpPr>
        <p:spPr>
          <a:xfrm>
            <a:off x="7543800" y="1085250"/>
            <a:ext cx="54864" cy="914400"/>
          </a:xfrm>
          <a:prstGeom prst="rect">
            <a:avLst/>
          </a:prstGeom>
          <a:solidFill>
            <a:srgbClr val="E8820C"/>
          </a:solidFill>
          <a:ln w="12700">
            <a:solidFill>
              <a:srgbClr val="E8820C"/>
            </a:solidFill>
            <a:prstDash val="solid"/>
          </a:ln>
        </p:spPr>
        <p:txBody>
          <a:bodyPr/>
          <a:lstStyle/>
          <a:p>
            <a:endParaRPr lang="en-US"/>
          </a:p>
        </p:txBody>
      </p:sp>
      <p:sp>
        <p:nvSpPr>
          <p:cNvPr id="26" name="Text 24"/>
          <p:cNvSpPr/>
          <p:nvPr/>
        </p:nvSpPr>
        <p:spPr>
          <a:xfrm>
            <a:off x="7653528" y="1176690"/>
            <a:ext cx="1234440" cy="502920"/>
          </a:xfrm>
          <a:prstGeom prst="rect">
            <a:avLst/>
          </a:prstGeom>
          <a:noFill/>
          <a:ln/>
        </p:spPr>
        <p:txBody>
          <a:bodyPr wrap="square" lIns="0" tIns="0" rIns="0" bIns="0" rtlCol="0" anchor="b"/>
          <a:lstStyle/>
          <a:p>
            <a:pPr marL="0" indent="0" algn="ctr">
              <a:buNone/>
            </a:pPr>
            <a:r>
              <a:rPr lang="en-US" sz="2200" b="1" dirty="0">
                <a:solidFill>
                  <a:srgbClr val="E8820C"/>
                </a:solidFill>
                <a:latin typeface="Calibri" pitchFamily="34" charset="0"/>
                <a:ea typeface="Calibri" pitchFamily="34" charset="-122"/>
                <a:cs typeface="Calibri" pitchFamily="34" charset="-120"/>
              </a:rPr>
              <a:t>223%</a:t>
            </a:r>
            <a:endParaRPr lang="en-US" sz="2200" dirty="0"/>
          </a:p>
        </p:txBody>
      </p:sp>
      <p:sp>
        <p:nvSpPr>
          <p:cNvPr id="27" name="Text 25"/>
          <p:cNvSpPr/>
          <p:nvPr/>
        </p:nvSpPr>
        <p:spPr>
          <a:xfrm>
            <a:off x="7653528" y="1633890"/>
            <a:ext cx="1234440" cy="347472"/>
          </a:xfrm>
          <a:prstGeom prst="rect">
            <a:avLst/>
          </a:prstGeom>
          <a:noFill/>
          <a:ln/>
        </p:spPr>
        <p:txBody>
          <a:bodyPr wrap="square" lIns="0" tIns="0" rIns="0" bIns="0" rtlCol="0" anchor="t"/>
          <a:lstStyle/>
          <a:p>
            <a:pPr marL="0" indent="0" algn="ctr">
              <a:buNone/>
            </a:pPr>
            <a:r>
              <a:rPr lang="en-US" sz="950" dirty="0">
                <a:solidFill>
                  <a:srgbClr val="7A5C3A"/>
                </a:solidFill>
                <a:latin typeface="Calibri" pitchFamily="34" charset="0"/>
                <a:ea typeface="Calibri" pitchFamily="34" charset="-122"/>
                <a:cs typeface="Calibri" pitchFamily="34" charset="-120"/>
              </a:rPr>
              <a:t>Orders YoY Growth</a:t>
            </a:r>
            <a:endParaRPr lang="en-US" sz="950" dirty="0"/>
          </a:p>
        </p:txBody>
      </p:sp>
      <p:sp>
        <p:nvSpPr>
          <p:cNvPr id="35" name="Shape 22">
            <a:extLst>
              <a:ext uri="{FF2B5EF4-FFF2-40B4-BE49-F238E27FC236}">
                <a16:creationId xmlns:a16="http://schemas.microsoft.com/office/drawing/2014/main" id="{D91559B2-EF1F-F04F-D0BB-CC374A64BB31}"/>
              </a:ext>
            </a:extLst>
          </p:cNvPr>
          <p:cNvSpPr/>
          <p:nvPr/>
        </p:nvSpPr>
        <p:spPr>
          <a:xfrm>
            <a:off x="53983" y="2114160"/>
            <a:ext cx="3036565" cy="290322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36" name="Text 23">
            <a:extLst>
              <a:ext uri="{FF2B5EF4-FFF2-40B4-BE49-F238E27FC236}">
                <a16:creationId xmlns:a16="http://schemas.microsoft.com/office/drawing/2014/main" id="{26449397-583A-2828-909D-B38B67FBE52F}"/>
              </a:ext>
            </a:extLst>
          </p:cNvPr>
          <p:cNvSpPr/>
          <p:nvPr/>
        </p:nvSpPr>
        <p:spPr>
          <a:xfrm>
            <a:off x="64997" y="2114160"/>
            <a:ext cx="3036565" cy="320040"/>
          </a:xfrm>
          <a:prstGeom prst="rect">
            <a:avLst/>
          </a:prstGeom>
          <a:solidFill>
            <a:srgbClr val="C45C0A"/>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Key Findings</a:t>
            </a:r>
            <a:endParaRPr lang="en-US" sz="1200" dirty="0"/>
          </a:p>
        </p:txBody>
      </p:sp>
      <p:sp>
        <p:nvSpPr>
          <p:cNvPr id="37" name="Text 24">
            <a:extLst>
              <a:ext uri="{FF2B5EF4-FFF2-40B4-BE49-F238E27FC236}">
                <a16:creationId xmlns:a16="http://schemas.microsoft.com/office/drawing/2014/main" id="{ADD12891-90F1-2316-68B6-12B50ED26D87}"/>
              </a:ext>
            </a:extLst>
          </p:cNvPr>
          <p:cNvSpPr/>
          <p:nvPr/>
        </p:nvSpPr>
        <p:spPr>
          <a:xfrm>
            <a:off x="58939" y="2507352"/>
            <a:ext cx="2988322" cy="2194560"/>
          </a:xfrm>
          <a:prstGeom prst="rect">
            <a:avLst/>
          </a:prstGeom>
          <a:noFill/>
          <a:ln/>
        </p:spPr>
        <p:txBody>
          <a:bodyPr wrap="square" rtlCol="0" anchor="t"/>
          <a:lstStyle/>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Orders grew steadily from ~25–30/month (1994) to 35–40/month (1995), confirming demand expansion</a:t>
            </a:r>
            <a:endParaRPr lang="en-US" sz="1050" dirty="0"/>
          </a:p>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Sharp 1996 decline followed by ~100% MoM spike — suggests external disruption, not structural weakness</a:t>
            </a:r>
            <a:endParaRPr lang="en-US" sz="1050" dirty="0"/>
          </a:p>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May records the highest monthly order volume, April second — seasonal demand concentration</a:t>
            </a:r>
            <a:endParaRPr lang="en-US" sz="1050" dirty="0"/>
          </a:p>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$1K–$2K bucket dominates order value distribution across all three shipping partners</a:t>
            </a:r>
            <a:endParaRPr lang="en-US" sz="1050" dirty="0"/>
          </a:p>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37 late shipments out of 830 represent a 4.5% late rate — moderate but improvable</a:t>
            </a:r>
            <a:endParaRPr lang="en-US" sz="1050" dirty="0"/>
          </a:p>
        </p:txBody>
      </p:sp>
      <p:sp>
        <p:nvSpPr>
          <p:cNvPr id="38" name="Shape 25">
            <a:extLst>
              <a:ext uri="{FF2B5EF4-FFF2-40B4-BE49-F238E27FC236}">
                <a16:creationId xmlns:a16="http://schemas.microsoft.com/office/drawing/2014/main" id="{29F293F9-6FD9-0D57-7735-74820ED0F47E}"/>
              </a:ext>
            </a:extLst>
          </p:cNvPr>
          <p:cNvSpPr/>
          <p:nvPr/>
        </p:nvSpPr>
        <p:spPr>
          <a:xfrm>
            <a:off x="6897112" y="2240280"/>
            <a:ext cx="2194560" cy="2651760"/>
          </a:xfrm>
          <a:prstGeom prst="rect">
            <a:avLst/>
          </a:prstGeom>
          <a:solidFill>
            <a:srgbClr val="FFF8E7"/>
          </a:solidFill>
          <a:ln w="19050">
            <a:solidFill>
              <a:srgbClr val="E8820C"/>
            </a:solidFill>
            <a:prstDash val="solid"/>
          </a:ln>
          <a:effectLst>
            <a:outerShdw blurRad="101600" dist="38100" dir="8100000" algn="bl" rotWithShape="0">
              <a:srgbClr val="000000">
                <a:alpha val="12000"/>
              </a:srgbClr>
            </a:outerShdw>
          </a:effectLst>
        </p:spPr>
        <p:txBody>
          <a:bodyPr/>
          <a:lstStyle/>
          <a:p>
            <a:endParaRPr lang="en-US"/>
          </a:p>
        </p:txBody>
      </p:sp>
      <p:sp>
        <p:nvSpPr>
          <p:cNvPr id="39" name="Shape 26">
            <a:extLst>
              <a:ext uri="{FF2B5EF4-FFF2-40B4-BE49-F238E27FC236}">
                <a16:creationId xmlns:a16="http://schemas.microsoft.com/office/drawing/2014/main" id="{1E9B9439-D58E-2382-E5A3-168B6F80962F}"/>
              </a:ext>
            </a:extLst>
          </p:cNvPr>
          <p:cNvSpPr/>
          <p:nvPr/>
        </p:nvSpPr>
        <p:spPr>
          <a:xfrm>
            <a:off x="6897112" y="2240280"/>
            <a:ext cx="2194560" cy="274320"/>
          </a:xfrm>
          <a:prstGeom prst="rect">
            <a:avLst/>
          </a:prstGeom>
          <a:solidFill>
            <a:srgbClr val="E8820C"/>
          </a:solidFill>
          <a:ln w="12700">
            <a:solidFill>
              <a:srgbClr val="E8820C"/>
            </a:solidFill>
            <a:prstDash val="solid"/>
          </a:ln>
        </p:spPr>
        <p:txBody>
          <a:bodyPr/>
          <a:lstStyle/>
          <a:p>
            <a:endParaRPr lang="en-US"/>
          </a:p>
        </p:txBody>
      </p:sp>
      <p:sp>
        <p:nvSpPr>
          <p:cNvPr id="40" name="Text 27">
            <a:extLst>
              <a:ext uri="{FF2B5EF4-FFF2-40B4-BE49-F238E27FC236}">
                <a16:creationId xmlns:a16="http://schemas.microsoft.com/office/drawing/2014/main" id="{AC601293-8D8B-6402-C2D3-4DE4BE476EDB}"/>
              </a:ext>
            </a:extLst>
          </p:cNvPr>
          <p:cNvSpPr/>
          <p:nvPr/>
        </p:nvSpPr>
        <p:spPr>
          <a:xfrm>
            <a:off x="6908129" y="2249424"/>
            <a:ext cx="2103120" cy="2468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Business Insights</a:t>
            </a:r>
            <a:endParaRPr lang="en-US" sz="1100" dirty="0"/>
          </a:p>
        </p:txBody>
      </p:sp>
      <p:sp>
        <p:nvSpPr>
          <p:cNvPr id="41" name="Text 28">
            <a:extLst>
              <a:ext uri="{FF2B5EF4-FFF2-40B4-BE49-F238E27FC236}">
                <a16:creationId xmlns:a16="http://schemas.microsoft.com/office/drawing/2014/main" id="{A5F967F0-3598-CD92-B78F-265467E3CD98}"/>
              </a:ext>
            </a:extLst>
          </p:cNvPr>
          <p:cNvSpPr/>
          <p:nvPr/>
        </p:nvSpPr>
        <p:spPr>
          <a:xfrm>
            <a:off x="6897112" y="2560320"/>
            <a:ext cx="2103120" cy="2267712"/>
          </a:xfrm>
          <a:prstGeom prst="rect">
            <a:avLst/>
          </a:prstGeom>
          <a:noFill/>
          <a:ln/>
        </p:spPr>
        <p:txBody>
          <a:bodyPr wrap="square" rtlCol="0" anchor="t"/>
          <a:lstStyle/>
          <a:p>
            <a:pPr marL="342900" indent="-342900">
              <a:spcAft>
                <a:spcPts val="400"/>
              </a:spcAft>
              <a:buSzPct val="100000"/>
              <a:buChar char="•"/>
            </a:pPr>
            <a:r>
              <a:rPr lang="en-US" sz="1050" dirty="0">
                <a:solidFill>
                  <a:srgbClr val="2A1500"/>
                </a:solidFill>
                <a:latin typeface="Calibri" pitchFamily="34" charset="0"/>
                <a:ea typeface="Calibri" pitchFamily="34" charset="-122"/>
                <a:cs typeface="Calibri" pitchFamily="34" charset="-120"/>
              </a:rPr>
              <a:t>Resilience Signal: Post-decline recovery with 100% MoM growth confirms business resilience</a:t>
            </a:r>
            <a:endParaRPr lang="en-US" sz="1050" dirty="0"/>
          </a:p>
          <a:p>
            <a:pPr marL="342900" indent="-342900">
              <a:spcAft>
                <a:spcPts val="400"/>
              </a:spcAft>
              <a:buSzPct val="100000"/>
              <a:buChar char="•"/>
            </a:pPr>
            <a:r>
              <a:rPr lang="en-US" sz="1050" dirty="0">
                <a:solidFill>
                  <a:srgbClr val="2A1500"/>
                </a:solidFill>
                <a:latin typeface="Calibri" pitchFamily="34" charset="0"/>
                <a:ea typeface="Calibri" pitchFamily="34" charset="-122"/>
                <a:cs typeface="Calibri" pitchFamily="34" charset="-120"/>
              </a:rPr>
              <a:t>Shipping Bottleneck: Belgium and Ireland average 13–15 days — above-average inefficiency requiring process review</a:t>
            </a:r>
            <a:endParaRPr lang="en-US" sz="1050" dirty="0"/>
          </a:p>
          <a:p>
            <a:pPr marL="342900" indent="-342900">
              <a:spcAft>
                <a:spcPts val="400"/>
              </a:spcAft>
              <a:buSzPct val="100000"/>
              <a:buChar char="•"/>
            </a:pPr>
            <a:r>
              <a:rPr lang="en-US" sz="1050" dirty="0">
                <a:solidFill>
                  <a:srgbClr val="2A1500"/>
                </a:solidFill>
                <a:latin typeface="Calibri" pitchFamily="34" charset="0"/>
                <a:ea typeface="Calibri" pitchFamily="34" charset="-122"/>
                <a:cs typeface="Calibri" pitchFamily="34" charset="-120"/>
              </a:rPr>
              <a:t>Carrier Gap: Speedy Express consistently shows higher delivery times than peers across regions</a:t>
            </a:r>
            <a:endParaRPr lang="en-US" sz="1050" dirty="0"/>
          </a:p>
        </p:txBody>
      </p:sp>
      <p:pic>
        <p:nvPicPr>
          <p:cNvPr id="43" name="Picture 42">
            <a:extLst>
              <a:ext uri="{FF2B5EF4-FFF2-40B4-BE49-F238E27FC236}">
                <a16:creationId xmlns:a16="http://schemas.microsoft.com/office/drawing/2014/main" id="{C08DF4CA-0F64-D053-5A8C-99EA62594B9E}"/>
              </a:ext>
            </a:extLst>
          </p:cNvPr>
          <p:cNvPicPr>
            <a:picLocks noChangeAspect="1"/>
          </p:cNvPicPr>
          <p:nvPr/>
        </p:nvPicPr>
        <p:blipFill rotWithShape="1">
          <a:blip r:embed="rId3"/>
          <a:srcRect l="13375" t="35346" r="34392" b="12156"/>
          <a:stretch>
            <a:fillRect/>
          </a:stretch>
        </p:blipFill>
        <p:spPr>
          <a:xfrm>
            <a:off x="3117464" y="2548710"/>
            <a:ext cx="3748802" cy="211930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BF2"/>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3D1C02"/>
          </a:solidFill>
          <a:ln w="12700">
            <a:solidFill>
              <a:srgbClr val="3D1C02"/>
            </a:solidFill>
            <a:prstDash val="solid"/>
          </a:ln>
        </p:spPr>
        <p:txBody>
          <a:bodyPr/>
          <a:lstStyle/>
          <a:p>
            <a:endParaRPr lang="en-US"/>
          </a:p>
        </p:txBody>
      </p:sp>
      <p:sp>
        <p:nvSpPr>
          <p:cNvPr id="3" name="Text 1"/>
          <p:cNvSpPr/>
          <p:nvPr/>
        </p:nvSpPr>
        <p:spPr>
          <a:xfrm>
            <a:off x="320040" y="118872"/>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Supplier Analysis</a:t>
            </a:r>
            <a:endParaRPr lang="en-US" sz="2200" dirty="0"/>
          </a:p>
        </p:txBody>
      </p:sp>
      <p:sp>
        <p:nvSpPr>
          <p:cNvPr id="4" name="Text 2"/>
          <p:cNvSpPr/>
          <p:nvPr/>
        </p:nvSpPr>
        <p:spPr>
          <a:xfrm>
            <a:off x="320040" y="658368"/>
            <a:ext cx="6400800" cy="292608"/>
          </a:xfrm>
          <a:prstGeom prst="rect">
            <a:avLst/>
          </a:prstGeom>
          <a:noFill/>
          <a:ln/>
        </p:spPr>
        <p:txBody>
          <a:bodyPr wrap="square" lIns="0" tIns="0" rIns="0" bIns="0" rtlCol="0" anchor="ctr"/>
          <a:lstStyle/>
          <a:p>
            <a:pPr marL="0" indent="0">
              <a:buNone/>
            </a:pPr>
            <a:r>
              <a:rPr lang="en-US" sz="1100" i="1" dirty="0">
                <a:solidFill>
                  <a:srgbClr val="F5C842"/>
                </a:solidFill>
                <a:latin typeface="Calibri" pitchFamily="34" charset="0"/>
                <a:ea typeface="Calibri" pitchFamily="34" charset="-122"/>
                <a:cs typeface="Calibri" pitchFamily="34" charset="-120"/>
              </a:rPr>
              <a:t>29 Countries · 77 Products · $74.05K Inventory Value</a:t>
            </a:r>
            <a:endParaRPr lang="en-US" sz="1100" dirty="0"/>
          </a:p>
        </p:txBody>
      </p:sp>
      <p:sp>
        <p:nvSpPr>
          <p:cNvPr id="5" name="Shape 3"/>
          <p:cNvSpPr/>
          <p:nvPr/>
        </p:nvSpPr>
        <p:spPr>
          <a:xfrm>
            <a:off x="8412480" y="182880"/>
            <a:ext cx="548640" cy="640080"/>
          </a:xfrm>
          <a:prstGeom prst="rect">
            <a:avLst/>
          </a:prstGeom>
          <a:solidFill>
            <a:srgbClr val="E8820C"/>
          </a:solidFill>
          <a:ln w="12700">
            <a:solidFill>
              <a:srgbClr val="E8820C"/>
            </a:solidFill>
            <a:prstDash val="solid"/>
          </a:ln>
        </p:spPr>
        <p:txBody>
          <a:bodyPr/>
          <a:lstStyle/>
          <a:p>
            <a:endParaRPr lang="en-US"/>
          </a:p>
        </p:txBody>
      </p:sp>
      <p:sp>
        <p:nvSpPr>
          <p:cNvPr id="6" name="Shape 4"/>
          <p:cNvSpPr/>
          <p:nvPr/>
        </p:nvSpPr>
        <p:spPr>
          <a:xfrm>
            <a:off x="7863840" y="164592"/>
            <a:ext cx="1097280" cy="292608"/>
          </a:xfrm>
          <a:prstGeom prst="rect">
            <a:avLst/>
          </a:prstGeom>
          <a:solidFill>
            <a:srgbClr val="E8820C"/>
          </a:solidFill>
          <a:ln w="12700">
            <a:solidFill>
              <a:srgbClr val="E8820C"/>
            </a:solidFill>
            <a:prstDash val="solid"/>
          </a:ln>
        </p:spPr>
        <p:txBody>
          <a:bodyPr/>
          <a:lstStyle/>
          <a:p>
            <a:endParaRPr lang="en-US"/>
          </a:p>
        </p:txBody>
      </p:sp>
      <p:sp>
        <p:nvSpPr>
          <p:cNvPr id="7" name="Text 5"/>
          <p:cNvSpPr/>
          <p:nvPr/>
        </p:nvSpPr>
        <p:spPr>
          <a:xfrm>
            <a:off x="7863840" y="164592"/>
            <a:ext cx="10972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SLIDE 9 / 13</a:t>
            </a:r>
            <a:endParaRPr lang="en-US" sz="900" dirty="0"/>
          </a:p>
        </p:txBody>
      </p:sp>
      <p:sp>
        <p:nvSpPr>
          <p:cNvPr id="8" name="Shape 6"/>
          <p:cNvSpPr/>
          <p:nvPr/>
        </p:nvSpPr>
        <p:spPr>
          <a:xfrm>
            <a:off x="274320" y="1087245"/>
            <a:ext cx="1737360" cy="91440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274320" y="1087245"/>
            <a:ext cx="54864" cy="914400"/>
          </a:xfrm>
          <a:prstGeom prst="rect">
            <a:avLst/>
          </a:prstGeom>
          <a:solidFill>
            <a:srgbClr val="E8820C"/>
          </a:solidFill>
          <a:ln w="12700">
            <a:solidFill>
              <a:srgbClr val="E8820C"/>
            </a:solidFill>
            <a:prstDash val="solid"/>
          </a:ln>
        </p:spPr>
        <p:txBody>
          <a:bodyPr/>
          <a:lstStyle/>
          <a:p>
            <a:endParaRPr lang="en-US"/>
          </a:p>
        </p:txBody>
      </p:sp>
      <p:sp>
        <p:nvSpPr>
          <p:cNvPr id="10" name="Text 8"/>
          <p:cNvSpPr/>
          <p:nvPr/>
        </p:nvSpPr>
        <p:spPr>
          <a:xfrm>
            <a:off x="384048" y="1178685"/>
            <a:ext cx="1554480" cy="502920"/>
          </a:xfrm>
          <a:prstGeom prst="rect">
            <a:avLst/>
          </a:prstGeom>
          <a:noFill/>
          <a:ln/>
        </p:spPr>
        <p:txBody>
          <a:bodyPr wrap="square" lIns="0" tIns="0" rIns="0" bIns="0" rtlCol="0" anchor="b"/>
          <a:lstStyle/>
          <a:p>
            <a:pPr marL="0" indent="0" algn="ctr">
              <a:buNone/>
            </a:pPr>
            <a:r>
              <a:rPr lang="en-US" sz="2200" b="1" dirty="0">
                <a:solidFill>
                  <a:srgbClr val="E8820C"/>
                </a:solidFill>
                <a:latin typeface="Calibri" pitchFamily="34" charset="0"/>
                <a:ea typeface="Calibri" pitchFamily="34" charset="-122"/>
                <a:cs typeface="Calibri" pitchFamily="34" charset="-120"/>
              </a:rPr>
              <a:t>28.87</a:t>
            </a:r>
            <a:endParaRPr lang="en-US" sz="2200" dirty="0"/>
          </a:p>
        </p:txBody>
      </p:sp>
      <p:sp>
        <p:nvSpPr>
          <p:cNvPr id="11" name="Text 9"/>
          <p:cNvSpPr/>
          <p:nvPr/>
        </p:nvSpPr>
        <p:spPr>
          <a:xfrm>
            <a:off x="384048" y="1635885"/>
            <a:ext cx="1554480" cy="347472"/>
          </a:xfrm>
          <a:prstGeom prst="rect">
            <a:avLst/>
          </a:prstGeom>
          <a:noFill/>
          <a:ln/>
        </p:spPr>
        <p:txBody>
          <a:bodyPr wrap="square" lIns="0" tIns="0" rIns="0" bIns="0" rtlCol="0" anchor="t"/>
          <a:lstStyle/>
          <a:p>
            <a:pPr marL="0" indent="0" algn="ctr">
              <a:buNone/>
            </a:pPr>
            <a:r>
              <a:rPr lang="en-US" sz="950" dirty="0">
                <a:solidFill>
                  <a:srgbClr val="7A5C3A"/>
                </a:solidFill>
                <a:latin typeface="Calibri" pitchFamily="34" charset="0"/>
                <a:ea typeface="Calibri" pitchFamily="34" charset="-122"/>
                <a:cs typeface="Calibri" pitchFamily="34" charset="-120"/>
              </a:rPr>
              <a:t>Avg Supplier Price ($)</a:t>
            </a:r>
            <a:endParaRPr lang="en-US" sz="950" dirty="0"/>
          </a:p>
        </p:txBody>
      </p:sp>
      <p:sp>
        <p:nvSpPr>
          <p:cNvPr id="12" name="Shape 10"/>
          <p:cNvSpPr/>
          <p:nvPr/>
        </p:nvSpPr>
        <p:spPr>
          <a:xfrm>
            <a:off x="2103120" y="1087245"/>
            <a:ext cx="1737360" cy="91440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2103120" y="1087245"/>
            <a:ext cx="54864" cy="914400"/>
          </a:xfrm>
          <a:prstGeom prst="rect">
            <a:avLst/>
          </a:prstGeom>
          <a:solidFill>
            <a:srgbClr val="E8820C"/>
          </a:solidFill>
          <a:ln w="12700">
            <a:solidFill>
              <a:srgbClr val="E8820C"/>
            </a:solidFill>
            <a:prstDash val="solid"/>
          </a:ln>
        </p:spPr>
        <p:txBody>
          <a:bodyPr/>
          <a:lstStyle/>
          <a:p>
            <a:endParaRPr lang="en-US"/>
          </a:p>
        </p:txBody>
      </p:sp>
      <p:sp>
        <p:nvSpPr>
          <p:cNvPr id="14" name="Text 12"/>
          <p:cNvSpPr/>
          <p:nvPr/>
        </p:nvSpPr>
        <p:spPr>
          <a:xfrm>
            <a:off x="2212848" y="1178685"/>
            <a:ext cx="1554480" cy="502920"/>
          </a:xfrm>
          <a:prstGeom prst="rect">
            <a:avLst/>
          </a:prstGeom>
          <a:noFill/>
          <a:ln/>
        </p:spPr>
        <p:txBody>
          <a:bodyPr wrap="square" lIns="0" tIns="0" rIns="0" bIns="0" rtlCol="0" anchor="b"/>
          <a:lstStyle/>
          <a:p>
            <a:pPr marL="0" indent="0" algn="ctr">
              <a:buNone/>
            </a:pPr>
            <a:r>
              <a:rPr lang="en-US" sz="2200" b="1" dirty="0">
                <a:solidFill>
                  <a:srgbClr val="E8820C"/>
                </a:solidFill>
                <a:latin typeface="Calibri" pitchFamily="34" charset="0"/>
                <a:ea typeface="Calibri" pitchFamily="34" charset="-122"/>
                <a:cs typeface="Calibri" pitchFamily="34" charset="-120"/>
              </a:rPr>
              <a:t>77</a:t>
            </a:r>
            <a:endParaRPr lang="en-US" sz="2200" dirty="0"/>
          </a:p>
        </p:txBody>
      </p:sp>
      <p:sp>
        <p:nvSpPr>
          <p:cNvPr id="15" name="Text 13"/>
          <p:cNvSpPr/>
          <p:nvPr/>
        </p:nvSpPr>
        <p:spPr>
          <a:xfrm>
            <a:off x="2212848" y="1635885"/>
            <a:ext cx="1554480" cy="347472"/>
          </a:xfrm>
          <a:prstGeom prst="rect">
            <a:avLst/>
          </a:prstGeom>
          <a:noFill/>
          <a:ln/>
        </p:spPr>
        <p:txBody>
          <a:bodyPr wrap="square" lIns="0" tIns="0" rIns="0" bIns="0" rtlCol="0" anchor="t"/>
          <a:lstStyle/>
          <a:p>
            <a:pPr marL="0" indent="0" algn="ctr">
              <a:buNone/>
            </a:pPr>
            <a:r>
              <a:rPr lang="en-US" sz="950" dirty="0">
                <a:solidFill>
                  <a:srgbClr val="7A5C3A"/>
                </a:solidFill>
                <a:latin typeface="Calibri" pitchFamily="34" charset="0"/>
                <a:ea typeface="Calibri" pitchFamily="34" charset="-122"/>
                <a:cs typeface="Calibri" pitchFamily="34" charset="-120"/>
              </a:rPr>
              <a:t>Products Supplied</a:t>
            </a:r>
            <a:endParaRPr lang="en-US" sz="950" dirty="0"/>
          </a:p>
        </p:txBody>
      </p:sp>
      <p:sp>
        <p:nvSpPr>
          <p:cNvPr id="16" name="Shape 14"/>
          <p:cNvSpPr/>
          <p:nvPr/>
        </p:nvSpPr>
        <p:spPr>
          <a:xfrm>
            <a:off x="3931920" y="1087245"/>
            <a:ext cx="1737360" cy="91440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3931920" y="1087245"/>
            <a:ext cx="54864" cy="914400"/>
          </a:xfrm>
          <a:prstGeom prst="rect">
            <a:avLst/>
          </a:prstGeom>
          <a:solidFill>
            <a:srgbClr val="E8820C"/>
          </a:solidFill>
          <a:ln w="12700">
            <a:solidFill>
              <a:srgbClr val="E8820C"/>
            </a:solidFill>
            <a:prstDash val="solid"/>
          </a:ln>
        </p:spPr>
        <p:txBody>
          <a:bodyPr/>
          <a:lstStyle/>
          <a:p>
            <a:endParaRPr lang="en-US"/>
          </a:p>
        </p:txBody>
      </p:sp>
      <p:sp>
        <p:nvSpPr>
          <p:cNvPr id="18" name="Text 16"/>
          <p:cNvSpPr/>
          <p:nvPr/>
        </p:nvSpPr>
        <p:spPr>
          <a:xfrm>
            <a:off x="4041648" y="1178685"/>
            <a:ext cx="1554480" cy="502920"/>
          </a:xfrm>
          <a:prstGeom prst="rect">
            <a:avLst/>
          </a:prstGeom>
          <a:noFill/>
          <a:ln/>
        </p:spPr>
        <p:txBody>
          <a:bodyPr wrap="square" lIns="0" tIns="0" rIns="0" bIns="0" rtlCol="0" anchor="b"/>
          <a:lstStyle/>
          <a:p>
            <a:pPr marL="0" indent="0" algn="ctr">
              <a:buNone/>
            </a:pPr>
            <a:r>
              <a:rPr lang="en-US" sz="2200" b="1" dirty="0">
                <a:solidFill>
                  <a:srgbClr val="E8820C"/>
                </a:solidFill>
                <a:latin typeface="Calibri" pitchFamily="34" charset="0"/>
                <a:ea typeface="Calibri" pitchFamily="34" charset="-122"/>
                <a:cs typeface="Calibri" pitchFamily="34" charset="-120"/>
              </a:rPr>
              <a:t>74.05K</a:t>
            </a:r>
            <a:endParaRPr lang="en-US" sz="2200" dirty="0"/>
          </a:p>
        </p:txBody>
      </p:sp>
      <p:sp>
        <p:nvSpPr>
          <p:cNvPr id="19" name="Text 17"/>
          <p:cNvSpPr/>
          <p:nvPr/>
        </p:nvSpPr>
        <p:spPr>
          <a:xfrm>
            <a:off x="4041648" y="1635885"/>
            <a:ext cx="1554480" cy="347472"/>
          </a:xfrm>
          <a:prstGeom prst="rect">
            <a:avLst/>
          </a:prstGeom>
          <a:noFill/>
          <a:ln/>
        </p:spPr>
        <p:txBody>
          <a:bodyPr wrap="square" lIns="0" tIns="0" rIns="0" bIns="0" rtlCol="0" anchor="t"/>
          <a:lstStyle/>
          <a:p>
            <a:pPr marL="0" indent="0" algn="ctr">
              <a:buNone/>
            </a:pPr>
            <a:r>
              <a:rPr lang="en-US" sz="950" dirty="0">
                <a:solidFill>
                  <a:srgbClr val="7A5C3A"/>
                </a:solidFill>
                <a:latin typeface="Calibri" pitchFamily="34" charset="0"/>
                <a:ea typeface="Calibri" pitchFamily="34" charset="-122"/>
                <a:cs typeface="Calibri" pitchFamily="34" charset="-120"/>
              </a:rPr>
              <a:t>Inventory Value ($)</a:t>
            </a:r>
            <a:endParaRPr lang="en-US" sz="950" dirty="0"/>
          </a:p>
        </p:txBody>
      </p:sp>
      <p:sp>
        <p:nvSpPr>
          <p:cNvPr id="20" name="Shape 18"/>
          <p:cNvSpPr/>
          <p:nvPr/>
        </p:nvSpPr>
        <p:spPr>
          <a:xfrm>
            <a:off x="5760720" y="1087245"/>
            <a:ext cx="1737360" cy="91440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21" name="Shape 19"/>
          <p:cNvSpPr/>
          <p:nvPr/>
        </p:nvSpPr>
        <p:spPr>
          <a:xfrm>
            <a:off x="5760720" y="1087245"/>
            <a:ext cx="54864" cy="914400"/>
          </a:xfrm>
          <a:prstGeom prst="rect">
            <a:avLst/>
          </a:prstGeom>
          <a:solidFill>
            <a:srgbClr val="E8820C"/>
          </a:solidFill>
          <a:ln w="12700">
            <a:solidFill>
              <a:srgbClr val="E8820C"/>
            </a:solidFill>
            <a:prstDash val="solid"/>
          </a:ln>
        </p:spPr>
        <p:txBody>
          <a:bodyPr/>
          <a:lstStyle/>
          <a:p>
            <a:endParaRPr lang="en-US"/>
          </a:p>
        </p:txBody>
      </p:sp>
      <p:sp>
        <p:nvSpPr>
          <p:cNvPr id="22" name="Text 20"/>
          <p:cNvSpPr/>
          <p:nvPr/>
        </p:nvSpPr>
        <p:spPr>
          <a:xfrm>
            <a:off x="5870448" y="1178685"/>
            <a:ext cx="1554480" cy="502920"/>
          </a:xfrm>
          <a:prstGeom prst="rect">
            <a:avLst/>
          </a:prstGeom>
          <a:noFill/>
          <a:ln/>
        </p:spPr>
        <p:txBody>
          <a:bodyPr wrap="square" lIns="0" tIns="0" rIns="0" bIns="0" rtlCol="0" anchor="b"/>
          <a:lstStyle/>
          <a:p>
            <a:pPr marL="0" indent="0" algn="ctr">
              <a:buNone/>
            </a:pPr>
            <a:r>
              <a:rPr lang="en-US" sz="2200" b="1" dirty="0">
                <a:solidFill>
                  <a:srgbClr val="E8820C"/>
                </a:solidFill>
                <a:latin typeface="Calibri" pitchFamily="34" charset="0"/>
                <a:ea typeface="Calibri" pitchFamily="34" charset="-122"/>
                <a:cs typeface="Calibri" pitchFamily="34" charset="-120"/>
              </a:rPr>
              <a:t>3,119</a:t>
            </a:r>
            <a:endParaRPr lang="en-US" sz="2200" dirty="0"/>
          </a:p>
        </p:txBody>
      </p:sp>
      <p:sp>
        <p:nvSpPr>
          <p:cNvPr id="23" name="Text 21"/>
          <p:cNvSpPr/>
          <p:nvPr/>
        </p:nvSpPr>
        <p:spPr>
          <a:xfrm>
            <a:off x="5870448" y="1635885"/>
            <a:ext cx="1554480" cy="347472"/>
          </a:xfrm>
          <a:prstGeom prst="rect">
            <a:avLst/>
          </a:prstGeom>
          <a:noFill/>
          <a:ln/>
        </p:spPr>
        <p:txBody>
          <a:bodyPr wrap="square" lIns="0" tIns="0" rIns="0" bIns="0" rtlCol="0" anchor="t"/>
          <a:lstStyle/>
          <a:p>
            <a:pPr marL="0" indent="0" algn="ctr">
              <a:buNone/>
            </a:pPr>
            <a:r>
              <a:rPr lang="en-US" sz="950" dirty="0">
                <a:solidFill>
                  <a:srgbClr val="7A5C3A"/>
                </a:solidFill>
                <a:latin typeface="Calibri" pitchFamily="34" charset="0"/>
                <a:ea typeface="Calibri" pitchFamily="34" charset="-122"/>
                <a:cs typeface="Calibri" pitchFamily="34" charset="-120"/>
              </a:rPr>
              <a:t>Total Units in Stock</a:t>
            </a:r>
            <a:endParaRPr lang="en-US" sz="950" dirty="0"/>
          </a:p>
        </p:txBody>
      </p:sp>
      <p:sp>
        <p:nvSpPr>
          <p:cNvPr id="24" name="Shape 22"/>
          <p:cNvSpPr/>
          <p:nvPr/>
        </p:nvSpPr>
        <p:spPr>
          <a:xfrm>
            <a:off x="7543800" y="1087245"/>
            <a:ext cx="1417320" cy="91440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25" name="Shape 23"/>
          <p:cNvSpPr/>
          <p:nvPr/>
        </p:nvSpPr>
        <p:spPr>
          <a:xfrm>
            <a:off x="7543800" y="1087245"/>
            <a:ext cx="54864" cy="914400"/>
          </a:xfrm>
          <a:prstGeom prst="rect">
            <a:avLst/>
          </a:prstGeom>
          <a:solidFill>
            <a:srgbClr val="E8820C"/>
          </a:solidFill>
          <a:ln w="12700">
            <a:solidFill>
              <a:srgbClr val="E8820C"/>
            </a:solidFill>
            <a:prstDash val="solid"/>
          </a:ln>
        </p:spPr>
        <p:txBody>
          <a:bodyPr/>
          <a:lstStyle/>
          <a:p>
            <a:endParaRPr lang="en-US"/>
          </a:p>
        </p:txBody>
      </p:sp>
      <p:sp>
        <p:nvSpPr>
          <p:cNvPr id="26" name="Text 24"/>
          <p:cNvSpPr/>
          <p:nvPr/>
        </p:nvSpPr>
        <p:spPr>
          <a:xfrm>
            <a:off x="7653528" y="1178685"/>
            <a:ext cx="1234440" cy="502920"/>
          </a:xfrm>
          <a:prstGeom prst="rect">
            <a:avLst/>
          </a:prstGeom>
          <a:noFill/>
          <a:ln/>
        </p:spPr>
        <p:txBody>
          <a:bodyPr wrap="square" lIns="0" tIns="0" rIns="0" bIns="0" rtlCol="0" anchor="b"/>
          <a:lstStyle/>
          <a:p>
            <a:pPr marL="0" indent="0" algn="ctr">
              <a:buNone/>
            </a:pPr>
            <a:r>
              <a:rPr lang="en-US" sz="2200" b="1" dirty="0">
                <a:solidFill>
                  <a:srgbClr val="E8820C"/>
                </a:solidFill>
                <a:latin typeface="Calibri" pitchFamily="34" charset="0"/>
                <a:ea typeface="Calibri" pitchFamily="34" charset="-122"/>
                <a:cs typeface="Calibri" pitchFamily="34" charset="-120"/>
              </a:rPr>
              <a:t>780</a:t>
            </a:r>
            <a:endParaRPr lang="en-US" sz="2200" dirty="0"/>
          </a:p>
        </p:txBody>
      </p:sp>
      <p:sp>
        <p:nvSpPr>
          <p:cNvPr id="27" name="Text 25"/>
          <p:cNvSpPr/>
          <p:nvPr/>
        </p:nvSpPr>
        <p:spPr>
          <a:xfrm>
            <a:off x="7653528" y="1635885"/>
            <a:ext cx="1234440" cy="347472"/>
          </a:xfrm>
          <a:prstGeom prst="rect">
            <a:avLst/>
          </a:prstGeom>
          <a:noFill/>
          <a:ln/>
        </p:spPr>
        <p:txBody>
          <a:bodyPr wrap="square" lIns="0" tIns="0" rIns="0" bIns="0" rtlCol="0" anchor="t"/>
          <a:lstStyle/>
          <a:p>
            <a:pPr marL="0" indent="0" algn="ctr">
              <a:buNone/>
            </a:pPr>
            <a:r>
              <a:rPr lang="en-US" sz="950" dirty="0">
                <a:solidFill>
                  <a:srgbClr val="7A5C3A"/>
                </a:solidFill>
                <a:latin typeface="Calibri" pitchFamily="34" charset="0"/>
                <a:ea typeface="Calibri" pitchFamily="34" charset="-122"/>
                <a:cs typeface="Calibri" pitchFamily="34" charset="-120"/>
              </a:rPr>
              <a:t>Units on Order</a:t>
            </a:r>
            <a:endParaRPr lang="en-US" sz="950" dirty="0"/>
          </a:p>
        </p:txBody>
      </p:sp>
      <p:sp>
        <p:nvSpPr>
          <p:cNvPr id="35" name="Shape 22">
            <a:extLst>
              <a:ext uri="{FF2B5EF4-FFF2-40B4-BE49-F238E27FC236}">
                <a16:creationId xmlns:a16="http://schemas.microsoft.com/office/drawing/2014/main" id="{1831AD32-F152-9263-0B36-A880ECD8BA7E}"/>
              </a:ext>
            </a:extLst>
          </p:cNvPr>
          <p:cNvSpPr/>
          <p:nvPr/>
        </p:nvSpPr>
        <p:spPr>
          <a:xfrm>
            <a:off x="53983" y="2114160"/>
            <a:ext cx="3036565" cy="290322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36" name="Text 23">
            <a:extLst>
              <a:ext uri="{FF2B5EF4-FFF2-40B4-BE49-F238E27FC236}">
                <a16:creationId xmlns:a16="http://schemas.microsoft.com/office/drawing/2014/main" id="{465D82C6-61A4-F57D-A96A-ADAAB5FF4FCE}"/>
              </a:ext>
            </a:extLst>
          </p:cNvPr>
          <p:cNvSpPr/>
          <p:nvPr/>
        </p:nvSpPr>
        <p:spPr>
          <a:xfrm>
            <a:off x="64997" y="2114160"/>
            <a:ext cx="3036565" cy="320040"/>
          </a:xfrm>
          <a:prstGeom prst="rect">
            <a:avLst/>
          </a:prstGeom>
          <a:solidFill>
            <a:srgbClr val="C45C0A"/>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Key Findings</a:t>
            </a:r>
            <a:endParaRPr lang="en-US" sz="1200" dirty="0"/>
          </a:p>
        </p:txBody>
      </p:sp>
      <p:sp>
        <p:nvSpPr>
          <p:cNvPr id="37" name="Text 24">
            <a:extLst>
              <a:ext uri="{FF2B5EF4-FFF2-40B4-BE49-F238E27FC236}">
                <a16:creationId xmlns:a16="http://schemas.microsoft.com/office/drawing/2014/main" id="{79E124BE-9AED-1B4E-77D7-E3BE8EA5F13C}"/>
              </a:ext>
            </a:extLst>
          </p:cNvPr>
          <p:cNvSpPr/>
          <p:nvPr/>
        </p:nvSpPr>
        <p:spPr>
          <a:xfrm>
            <a:off x="58939" y="2507352"/>
            <a:ext cx="2988322" cy="2194560"/>
          </a:xfrm>
          <a:prstGeom prst="rect">
            <a:avLst/>
          </a:prstGeom>
          <a:noFill/>
          <a:ln/>
        </p:spPr>
        <p:txBody>
          <a:bodyPr wrap="square" rtlCol="0" anchor="t"/>
          <a:lstStyle/>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Pavlova Ltd. &amp; Plutzer </a:t>
            </a:r>
            <a:r>
              <a:rPr lang="en-US" sz="1050" dirty="0" err="1">
                <a:solidFill>
                  <a:srgbClr val="2A1500"/>
                </a:solidFill>
                <a:latin typeface="Calibri" pitchFamily="34" charset="0"/>
                <a:ea typeface="Calibri" pitchFamily="34" charset="-122"/>
                <a:cs typeface="Calibri" pitchFamily="34" charset="-120"/>
              </a:rPr>
              <a:t>Lebensmittel</a:t>
            </a:r>
            <a:r>
              <a:rPr lang="en-US" sz="1050" dirty="0">
                <a:solidFill>
                  <a:srgbClr val="2A1500"/>
                </a:solidFill>
                <a:latin typeface="Calibri" pitchFamily="34" charset="0"/>
                <a:ea typeface="Calibri" pitchFamily="34" charset="-122"/>
                <a:cs typeface="Calibri" pitchFamily="34" charset="-120"/>
              </a:rPr>
              <a:t> each supply 5 products — the broadest product portfolios</a:t>
            </a:r>
            <a:endParaRPr lang="en-US" sz="1050" dirty="0"/>
          </a:p>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Price range: $4.50 (min) to $140.75 (max), average $28.87 — highly skewed by premium outliers</a:t>
            </a:r>
            <a:endParaRPr lang="en-US" sz="1050" dirty="0"/>
          </a:p>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USA suppliers: 4 companies, 244 total orders, strong operational hub</a:t>
            </a:r>
            <a:endParaRPr lang="en-US" sz="1050" dirty="0"/>
          </a:p>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Australia suppliers: 2 companies, 95 orders, higher avg price ($33 vs USA's $20)</a:t>
            </a:r>
            <a:endParaRPr lang="en-US" sz="1050" dirty="0"/>
          </a:p>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North America &amp; Europe hold the highest supplier density; South America &amp; Asia are secondary</a:t>
            </a:r>
            <a:endParaRPr lang="en-US" sz="1050" dirty="0"/>
          </a:p>
        </p:txBody>
      </p:sp>
      <p:sp>
        <p:nvSpPr>
          <p:cNvPr id="38" name="Shape 25">
            <a:extLst>
              <a:ext uri="{FF2B5EF4-FFF2-40B4-BE49-F238E27FC236}">
                <a16:creationId xmlns:a16="http://schemas.microsoft.com/office/drawing/2014/main" id="{ED24C62C-175C-8D25-84B0-748775F402E5}"/>
              </a:ext>
            </a:extLst>
          </p:cNvPr>
          <p:cNvSpPr/>
          <p:nvPr/>
        </p:nvSpPr>
        <p:spPr>
          <a:xfrm>
            <a:off x="6897112" y="2240280"/>
            <a:ext cx="2194560" cy="2651760"/>
          </a:xfrm>
          <a:prstGeom prst="rect">
            <a:avLst/>
          </a:prstGeom>
          <a:solidFill>
            <a:srgbClr val="FFF8E7"/>
          </a:solidFill>
          <a:ln w="19050">
            <a:solidFill>
              <a:srgbClr val="E8820C"/>
            </a:solidFill>
            <a:prstDash val="solid"/>
          </a:ln>
          <a:effectLst>
            <a:outerShdw blurRad="101600" dist="38100" dir="8100000" algn="bl" rotWithShape="0">
              <a:srgbClr val="000000">
                <a:alpha val="12000"/>
              </a:srgbClr>
            </a:outerShdw>
          </a:effectLst>
        </p:spPr>
        <p:txBody>
          <a:bodyPr/>
          <a:lstStyle/>
          <a:p>
            <a:endParaRPr lang="en-US"/>
          </a:p>
        </p:txBody>
      </p:sp>
      <p:sp>
        <p:nvSpPr>
          <p:cNvPr id="39" name="Shape 26">
            <a:extLst>
              <a:ext uri="{FF2B5EF4-FFF2-40B4-BE49-F238E27FC236}">
                <a16:creationId xmlns:a16="http://schemas.microsoft.com/office/drawing/2014/main" id="{9EA0597E-5178-77B0-2C7D-6D7274163EE3}"/>
              </a:ext>
            </a:extLst>
          </p:cNvPr>
          <p:cNvSpPr/>
          <p:nvPr/>
        </p:nvSpPr>
        <p:spPr>
          <a:xfrm>
            <a:off x="6897112" y="2240280"/>
            <a:ext cx="2194560" cy="274320"/>
          </a:xfrm>
          <a:prstGeom prst="rect">
            <a:avLst/>
          </a:prstGeom>
          <a:solidFill>
            <a:srgbClr val="E8820C"/>
          </a:solidFill>
          <a:ln w="12700">
            <a:solidFill>
              <a:srgbClr val="E8820C"/>
            </a:solidFill>
            <a:prstDash val="solid"/>
          </a:ln>
        </p:spPr>
        <p:txBody>
          <a:bodyPr/>
          <a:lstStyle/>
          <a:p>
            <a:endParaRPr lang="en-US"/>
          </a:p>
        </p:txBody>
      </p:sp>
      <p:sp>
        <p:nvSpPr>
          <p:cNvPr id="40" name="Text 27">
            <a:extLst>
              <a:ext uri="{FF2B5EF4-FFF2-40B4-BE49-F238E27FC236}">
                <a16:creationId xmlns:a16="http://schemas.microsoft.com/office/drawing/2014/main" id="{33EB9599-5967-14AF-CFE1-D8B79C08F1E1}"/>
              </a:ext>
            </a:extLst>
          </p:cNvPr>
          <p:cNvSpPr/>
          <p:nvPr/>
        </p:nvSpPr>
        <p:spPr>
          <a:xfrm>
            <a:off x="6908129" y="2249424"/>
            <a:ext cx="2103120" cy="2468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Business Insights</a:t>
            </a:r>
            <a:endParaRPr lang="en-US" sz="1100" dirty="0"/>
          </a:p>
        </p:txBody>
      </p:sp>
      <p:sp>
        <p:nvSpPr>
          <p:cNvPr id="41" name="Text 28">
            <a:extLst>
              <a:ext uri="{FF2B5EF4-FFF2-40B4-BE49-F238E27FC236}">
                <a16:creationId xmlns:a16="http://schemas.microsoft.com/office/drawing/2014/main" id="{98E72990-3816-0647-D879-01F4FC798026}"/>
              </a:ext>
            </a:extLst>
          </p:cNvPr>
          <p:cNvSpPr/>
          <p:nvPr/>
        </p:nvSpPr>
        <p:spPr>
          <a:xfrm>
            <a:off x="6897112" y="2560320"/>
            <a:ext cx="2103120" cy="2267712"/>
          </a:xfrm>
          <a:prstGeom prst="rect">
            <a:avLst/>
          </a:prstGeom>
          <a:noFill/>
          <a:ln/>
        </p:spPr>
        <p:txBody>
          <a:bodyPr wrap="square" rtlCol="0" anchor="t"/>
          <a:lstStyle/>
          <a:p>
            <a:pPr marL="342900" indent="-342900">
              <a:spcAft>
                <a:spcPts val="400"/>
              </a:spcAft>
              <a:buSzPct val="100000"/>
              <a:buChar char="•"/>
            </a:pPr>
            <a:r>
              <a:rPr lang="en-US" sz="1050" dirty="0">
                <a:solidFill>
                  <a:srgbClr val="2A1500"/>
                </a:solidFill>
                <a:latin typeface="Calibri" pitchFamily="34" charset="0"/>
                <a:ea typeface="Calibri" pitchFamily="34" charset="-122"/>
                <a:cs typeface="Calibri" pitchFamily="34" charset="-120"/>
              </a:rPr>
              <a:t>Tiered Pricing Strategy: Low-tier ($2.50–$10) for volume, Mid-tier ($15–$40) for stability, Premium (&gt;$100) for margin expansion</a:t>
            </a:r>
            <a:endParaRPr lang="en-US" sz="1050" dirty="0"/>
          </a:p>
          <a:p>
            <a:pPr marL="342900" indent="-342900">
              <a:spcAft>
                <a:spcPts val="400"/>
              </a:spcAft>
              <a:buSzPct val="100000"/>
              <a:buChar char="•"/>
            </a:pPr>
            <a:r>
              <a:rPr lang="en-US" sz="1050" dirty="0">
                <a:solidFill>
                  <a:srgbClr val="2A1500"/>
                </a:solidFill>
                <a:latin typeface="Calibri" pitchFamily="34" charset="0"/>
                <a:ea typeface="Calibri" pitchFamily="34" charset="-122"/>
                <a:cs typeface="Calibri" pitchFamily="34" charset="-120"/>
              </a:rPr>
              <a:t>Supply Chain Balance: Multi-region sourcing reduces single-point dependency</a:t>
            </a:r>
            <a:endParaRPr lang="en-US" sz="1050" dirty="0"/>
          </a:p>
          <a:p>
            <a:pPr marL="342900" indent="-342900">
              <a:spcAft>
                <a:spcPts val="400"/>
              </a:spcAft>
              <a:buSzPct val="100000"/>
              <a:buChar char="•"/>
            </a:pPr>
            <a:r>
              <a:rPr lang="en-US" sz="1050" dirty="0">
                <a:solidFill>
                  <a:srgbClr val="2A1500"/>
                </a:solidFill>
                <a:latin typeface="Calibri" pitchFamily="34" charset="0"/>
                <a:ea typeface="Calibri" pitchFamily="34" charset="-122"/>
                <a:cs typeface="Calibri" pitchFamily="34" charset="-120"/>
              </a:rPr>
              <a:t>Inventory Risk: 780 units on order vs. 3,119 in stock — re-order triggers need review</a:t>
            </a:r>
            <a:endParaRPr lang="en-US" sz="1050" dirty="0"/>
          </a:p>
        </p:txBody>
      </p:sp>
      <p:pic>
        <p:nvPicPr>
          <p:cNvPr id="43" name="Picture 42">
            <a:extLst>
              <a:ext uri="{FF2B5EF4-FFF2-40B4-BE49-F238E27FC236}">
                <a16:creationId xmlns:a16="http://schemas.microsoft.com/office/drawing/2014/main" id="{B9395623-47EC-A5D6-539F-7233FEE011B7}"/>
              </a:ext>
            </a:extLst>
          </p:cNvPr>
          <p:cNvPicPr>
            <a:picLocks noChangeAspect="1"/>
          </p:cNvPicPr>
          <p:nvPr/>
        </p:nvPicPr>
        <p:blipFill>
          <a:blip r:embed="rId3"/>
          <a:srcRect l="61156" t="61871" r="17646" b="12633"/>
          <a:stretch>
            <a:fillRect/>
          </a:stretch>
        </p:blipFill>
        <p:spPr>
          <a:xfrm>
            <a:off x="3172041" y="2283824"/>
            <a:ext cx="1807075" cy="1222620"/>
          </a:xfrm>
          <a:prstGeom prst="rect">
            <a:avLst/>
          </a:prstGeom>
        </p:spPr>
      </p:pic>
      <p:pic>
        <p:nvPicPr>
          <p:cNvPr id="44" name="Picture 43">
            <a:extLst>
              <a:ext uri="{FF2B5EF4-FFF2-40B4-BE49-F238E27FC236}">
                <a16:creationId xmlns:a16="http://schemas.microsoft.com/office/drawing/2014/main" id="{8C435866-AD86-DB6D-6B9F-1EE26DED903D}"/>
              </a:ext>
            </a:extLst>
          </p:cNvPr>
          <p:cNvPicPr>
            <a:picLocks noChangeAspect="1"/>
          </p:cNvPicPr>
          <p:nvPr/>
        </p:nvPicPr>
        <p:blipFill>
          <a:blip r:embed="rId3"/>
          <a:srcRect l="61331" t="36714" r="17646" b="38018"/>
          <a:stretch>
            <a:fillRect/>
          </a:stretch>
        </p:blipFill>
        <p:spPr>
          <a:xfrm>
            <a:off x="4990919" y="2283824"/>
            <a:ext cx="1825770" cy="1234440"/>
          </a:xfrm>
          <a:prstGeom prst="rect">
            <a:avLst/>
          </a:prstGeom>
        </p:spPr>
      </p:pic>
      <p:pic>
        <p:nvPicPr>
          <p:cNvPr id="45" name="Picture 44">
            <a:extLst>
              <a:ext uri="{FF2B5EF4-FFF2-40B4-BE49-F238E27FC236}">
                <a16:creationId xmlns:a16="http://schemas.microsoft.com/office/drawing/2014/main" id="{DBF94237-B250-3AB6-8D2D-7603566CB259}"/>
              </a:ext>
            </a:extLst>
          </p:cNvPr>
          <p:cNvPicPr>
            <a:picLocks noChangeAspect="1"/>
          </p:cNvPicPr>
          <p:nvPr/>
        </p:nvPicPr>
        <p:blipFill>
          <a:blip r:embed="rId3"/>
          <a:srcRect l="13662" t="34091" r="39624" b="37631"/>
          <a:stretch>
            <a:fillRect/>
          </a:stretch>
        </p:blipFill>
        <p:spPr>
          <a:xfrm>
            <a:off x="3191447" y="3630538"/>
            <a:ext cx="3625376" cy="12344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BF2"/>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3D1C02"/>
          </a:solidFill>
          <a:ln w="12700">
            <a:solidFill>
              <a:srgbClr val="3D1C02"/>
            </a:solidFill>
            <a:prstDash val="solid"/>
          </a:ln>
        </p:spPr>
        <p:txBody>
          <a:bodyPr/>
          <a:lstStyle/>
          <a:p>
            <a:endParaRPr lang="en-US"/>
          </a:p>
        </p:txBody>
      </p:sp>
      <p:sp>
        <p:nvSpPr>
          <p:cNvPr id="3" name="Text 1"/>
          <p:cNvSpPr/>
          <p:nvPr/>
        </p:nvSpPr>
        <p:spPr>
          <a:xfrm>
            <a:off x="320040" y="118872"/>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Employee Analysis</a:t>
            </a:r>
            <a:endParaRPr lang="en-US" sz="2200" dirty="0"/>
          </a:p>
        </p:txBody>
      </p:sp>
      <p:sp>
        <p:nvSpPr>
          <p:cNvPr id="4" name="Text 2"/>
          <p:cNvSpPr/>
          <p:nvPr/>
        </p:nvSpPr>
        <p:spPr>
          <a:xfrm>
            <a:off x="320040" y="658368"/>
            <a:ext cx="6400800" cy="292608"/>
          </a:xfrm>
          <a:prstGeom prst="rect">
            <a:avLst/>
          </a:prstGeom>
          <a:noFill/>
          <a:ln/>
        </p:spPr>
        <p:txBody>
          <a:bodyPr wrap="square" lIns="0" tIns="0" rIns="0" bIns="0" rtlCol="0" anchor="ctr"/>
          <a:lstStyle/>
          <a:p>
            <a:pPr marL="0" indent="0">
              <a:buNone/>
            </a:pPr>
            <a:r>
              <a:rPr lang="en-US" sz="1100" i="1" dirty="0">
                <a:solidFill>
                  <a:srgbClr val="F5C842"/>
                </a:solidFill>
                <a:latin typeface="Calibri" pitchFamily="34" charset="0"/>
                <a:ea typeface="Calibri" pitchFamily="34" charset="-122"/>
                <a:cs typeface="Calibri" pitchFamily="34" charset="-120"/>
              </a:rPr>
              <a:t>9 Employees · Flat Hierarchy · Long-Term Retention</a:t>
            </a:r>
            <a:endParaRPr lang="en-US" sz="1100" dirty="0"/>
          </a:p>
        </p:txBody>
      </p:sp>
      <p:sp>
        <p:nvSpPr>
          <p:cNvPr id="5" name="Shape 3"/>
          <p:cNvSpPr/>
          <p:nvPr/>
        </p:nvSpPr>
        <p:spPr>
          <a:xfrm>
            <a:off x="8412480" y="182880"/>
            <a:ext cx="548640" cy="640080"/>
          </a:xfrm>
          <a:prstGeom prst="rect">
            <a:avLst/>
          </a:prstGeom>
          <a:solidFill>
            <a:srgbClr val="E8820C"/>
          </a:solidFill>
          <a:ln w="12700">
            <a:solidFill>
              <a:srgbClr val="E8820C"/>
            </a:solidFill>
            <a:prstDash val="solid"/>
          </a:ln>
        </p:spPr>
        <p:txBody>
          <a:bodyPr/>
          <a:lstStyle/>
          <a:p>
            <a:endParaRPr lang="en-US"/>
          </a:p>
        </p:txBody>
      </p:sp>
      <p:sp>
        <p:nvSpPr>
          <p:cNvPr id="6" name="Shape 4"/>
          <p:cNvSpPr/>
          <p:nvPr/>
        </p:nvSpPr>
        <p:spPr>
          <a:xfrm>
            <a:off x="7863840" y="164592"/>
            <a:ext cx="1097280" cy="292608"/>
          </a:xfrm>
          <a:prstGeom prst="rect">
            <a:avLst/>
          </a:prstGeom>
          <a:solidFill>
            <a:srgbClr val="E8820C"/>
          </a:solidFill>
          <a:ln w="12700">
            <a:solidFill>
              <a:srgbClr val="E8820C"/>
            </a:solidFill>
            <a:prstDash val="solid"/>
          </a:ln>
        </p:spPr>
        <p:txBody>
          <a:bodyPr/>
          <a:lstStyle/>
          <a:p>
            <a:endParaRPr lang="en-US"/>
          </a:p>
        </p:txBody>
      </p:sp>
      <p:sp>
        <p:nvSpPr>
          <p:cNvPr id="7" name="Text 5"/>
          <p:cNvSpPr/>
          <p:nvPr/>
        </p:nvSpPr>
        <p:spPr>
          <a:xfrm>
            <a:off x="7863840" y="164592"/>
            <a:ext cx="10972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SLIDE 10 / 13</a:t>
            </a:r>
            <a:endParaRPr lang="en-US" sz="900" dirty="0"/>
          </a:p>
        </p:txBody>
      </p:sp>
      <p:sp>
        <p:nvSpPr>
          <p:cNvPr id="8" name="Shape 6"/>
          <p:cNvSpPr/>
          <p:nvPr/>
        </p:nvSpPr>
        <p:spPr>
          <a:xfrm>
            <a:off x="631156" y="1076094"/>
            <a:ext cx="1828800" cy="91440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631156" y="1076094"/>
            <a:ext cx="54864" cy="914400"/>
          </a:xfrm>
          <a:prstGeom prst="rect">
            <a:avLst/>
          </a:prstGeom>
          <a:solidFill>
            <a:srgbClr val="E8820C"/>
          </a:solidFill>
          <a:ln w="12700">
            <a:solidFill>
              <a:srgbClr val="E8820C"/>
            </a:solidFill>
            <a:prstDash val="solid"/>
          </a:ln>
        </p:spPr>
        <p:txBody>
          <a:bodyPr/>
          <a:lstStyle/>
          <a:p>
            <a:endParaRPr lang="en-US"/>
          </a:p>
        </p:txBody>
      </p:sp>
      <p:sp>
        <p:nvSpPr>
          <p:cNvPr id="10" name="Text 8"/>
          <p:cNvSpPr/>
          <p:nvPr/>
        </p:nvSpPr>
        <p:spPr>
          <a:xfrm>
            <a:off x="740884" y="1167534"/>
            <a:ext cx="1645920" cy="502920"/>
          </a:xfrm>
          <a:prstGeom prst="rect">
            <a:avLst/>
          </a:prstGeom>
          <a:noFill/>
          <a:ln/>
        </p:spPr>
        <p:txBody>
          <a:bodyPr wrap="square" lIns="0" tIns="0" rIns="0" bIns="0" rtlCol="0" anchor="b"/>
          <a:lstStyle/>
          <a:p>
            <a:pPr marL="0" indent="0" algn="ctr">
              <a:buNone/>
            </a:pPr>
            <a:r>
              <a:rPr lang="en-US" sz="2200" b="1" dirty="0">
                <a:solidFill>
                  <a:srgbClr val="E8820C"/>
                </a:solidFill>
                <a:latin typeface="Calibri" pitchFamily="34" charset="0"/>
                <a:ea typeface="Calibri" pitchFamily="34" charset="-122"/>
                <a:cs typeface="Calibri" pitchFamily="34" charset="-120"/>
              </a:rPr>
              <a:t>9</a:t>
            </a:r>
            <a:endParaRPr lang="en-US" sz="2200" dirty="0"/>
          </a:p>
        </p:txBody>
      </p:sp>
      <p:sp>
        <p:nvSpPr>
          <p:cNvPr id="11" name="Text 9"/>
          <p:cNvSpPr/>
          <p:nvPr/>
        </p:nvSpPr>
        <p:spPr>
          <a:xfrm>
            <a:off x="740884" y="1624734"/>
            <a:ext cx="1645920" cy="347472"/>
          </a:xfrm>
          <a:prstGeom prst="rect">
            <a:avLst/>
          </a:prstGeom>
          <a:noFill/>
          <a:ln/>
        </p:spPr>
        <p:txBody>
          <a:bodyPr wrap="square" lIns="0" tIns="0" rIns="0" bIns="0" rtlCol="0" anchor="t"/>
          <a:lstStyle/>
          <a:p>
            <a:pPr marL="0" indent="0" algn="ctr">
              <a:buNone/>
            </a:pPr>
            <a:r>
              <a:rPr lang="en-US" sz="950" dirty="0">
                <a:solidFill>
                  <a:srgbClr val="7A5C3A"/>
                </a:solidFill>
                <a:latin typeface="Calibri" pitchFamily="34" charset="0"/>
                <a:ea typeface="Calibri" pitchFamily="34" charset="-122"/>
                <a:cs typeface="Calibri" pitchFamily="34" charset="-120"/>
              </a:rPr>
              <a:t>Total Employees</a:t>
            </a:r>
            <a:endParaRPr lang="en-US" sz="950" dirty="0"/>
          </a:p>
        </p:txBody>
      </p:sp>
      <p:sp>
        <p:nvSpPr>
          <p:cNvPr id="12" name="Shape 10"/>
          <p:cNvSpPr/>
          <p:nvPr/>
        </p:nvSpPr>
        <p:spPr>
          <a:xfrm>
            <a:off x="2569684" y="1076094"/>
            <a:ext cx="1828800" cy="91440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2569684" y="1076094"/>
            <a:ext cx="54864" cy="914400"/>
          </a:xfrm>
          <a:prstGeom prst="rect">
            <a:avLst/>
          </a:prstGeom>
          <a:solidFill>
            <a:srgbClr val="E8820C"/>
          </a:solidFill>
          <a:ln w="12700">
            <a:solidFill>
              <a:srgbClr val="E8820C"/>
            </a:solidFill>
            <a:prstDash val="solid"/>
          </a:ln>
        </p:spPr>
        <p:txBody>
          <a:bodyPr/>
          <a:lstStyle/>
          <a:p>
            <a:endParaRPr lang="en-US"/>
          </a:p>
        </p:txBody>
      </p:sp>
      <p:sp>
        <p:nvSpPr>
          <p:cNvPr id="14" name="Text 12"/>
          <p:cNvSpPr/>
          <p:nvPr/>
        </p:nvSpPr>
        <p:spPr>
          <a:xfrm>
            <a:off x="2679412" y="1167534"/>
            <a:ext cx="1645920" cy="502920"/>
          </a:xfrm>
          <a:prstGeom prst="rect">
            <a:avLst/>
          </a:prstGeom>
          <a:noFill/>
          <a:ln/>
        </p:spPr>
        <p:txBody>
          <a:bodyPr wrap="square" lIns="0" tIns="0" rIns="0" bIns="0" rtlCol="0" anchor="b"/>
          <a:lstStyle/>
          <a:p>
            <a:pPr marL="0" indent="0" algn="ctr">
              <a:buNone/>
            </a:pPr>
            <a:r>
              <a:rPr lang="en-US" sz="2200" b="1" dirty="0">
                <a:solidFill>
                  <a:srgbClr val="E8820C"/>
                </a:solidFill>
                <a:latin typeface="Calibri" pitchFamily="34" charset="0"/>
                <a:ea typeface="Calibri" pitchFamily="34" charset="-122"/>
                <a:cs typeface="Calibri" pitchFamily="34" charset="-120"/>
              </a:rPr>
              <a:t>2</a:t>
            </a:r>
            <a:endParaRPr lang="en-US" sz="2200" dirty="0"/>
          </a:p>
        </p:txBody>
      </p:sp>
      <p:sp>
        <p:nvSpPr>
          <p:cNvPr id="15" name="Text 13"/>
          <p:cNvSpPr/>
          <p:nvPr/>
        </p:nvSpPr>
        <p:spPr>
          <a:xfrm>
            <a:off x="2679412" y="1624734"/>
            <a:ext cx="1645920" cy="347472"/>
          </a:xfrm>
          <a:prstGeom prst="rect">
            <a:avLst/>
          </a:prstGeom>
          <a:noFill/>
          <a:ln/>
        </p:spPr>
        <p:txBody>
          <a:bodyPr wrap="square" lIns="0" tIns="0" rIns="0" bIns="0" rtlCol="0" anchor="t"/>
          <a:lstStyle/>
          <a:p>
            <a:pPr marL="0" indent="0" algn="ctr">
              <a:buNone/>
            </a:pPr>
            <a:r>
              <a:rPr lang="en-US" sz="950" dirty="0">
                <a:solidFill>
                  <a:srgbClr val="7A5C3A"/>
                </a:solidFill>
                <a:latin typeface="Calibri" pitchFamily="34" charset="0"/>
                <a:ea typeface="Calibri" pitchFamily="34" charset="-122"/>
                <a:cs typeface="Calibri" pitchFamily="34" charset="-120"/>
              </a:rPr>
              <a:t>Managers</a:t>
            </a:r>
            <a:endParaRPr lang="en-US" sz="950" dirty="0"/>
          </a:p>
        </p:txBody>
      </p:sp>
      <p:sp>
        <p:nvSpPr>
          <p:cNvPr id="16" name="Shape 14"/>
          <p:cNvSpPr/>
          <p:nvPr/>
        </p:nvSpPr>
        <p:spPr>
          <a:xfrm>
            <a:off x="4508212" y="1076094"/>
            <a:ext cx="1828800" cy="91440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4508212" y="1076094"/>
            <a:ext cx="54864" cy="914400"/>
          </a:xfrm>
          <a:prstGeom prst="rect">
            <a:avLst/>
          </a:prstGeom>
          <a:solidFill>
            <a:srgbClr val="E8820C"/>
          </a:solidFill>
          <a:ln w="12700">
            <a:solidFill>
              <a:srgbClr val="E8820C"/>
            </a:solidFill>
            <a:prstDash val="solid"/>
          </a:ln>
        </p:spPr>
        <p:txBody>
          <a:bodyPr/>
          <a:lstStyle/>
          <a:p>
            <a:endParaRPr lang="en-US"/>
          </a:p>
        </p:txBody>
      </p:sp>
      <p:sp>
        <p:nvSpPr>
          <p:cNvPr id="18" name="Text 16"/>
          <p:cNvSpPr/>
          <p:nvPr/>
        </p:nvSpPr>
        <p:spPr>
          <a:xfrm>
            <a:off x="4617940" y="1167534"/>
            <a:ext cx="1645920" cy="502920"/>
          </a:xfrm>
          <a:prstGeom prst="rect">
            <a:avLst/>
          </a:prstGeom>
          <a:noFill/>
          <a:ln/>
        </p:spPr>
        <p:txBody>
          <a:bodyPr wrap="square" lIns="0" tIns="0" rIns="0" bIns="0" rtlCol="0" anchor="b"/>
          <a:lstStyle/>
          <a:p>
            <a:pPr marL="0" indent="0" algn="ctr">
              <a:buNone/>
            </a:pPr>
            <a:r>
              <a:rPr lang="en-US" sz="2200" b="1" dirty="0">
                <a:solidFill>
                  <a:srgbClr val="E8820C"/>
                </a:solidFill>
                <a:latin typeface="Calibri" pitchFamily="34" charset="0"/>
                <a:ea typeface="Calibri" pitchFamily="34" charset="-122"/>
                <a:cs typeface="Calibri" pitchFamily="34" charset="-120"/>
              </a:rPr>
              <a:t>32.56</a:t>
            </a:r>
            <a:endParaRPr lang="en-US" sz="2200" dirty="0"/>
          </a:p>
        </p:txBody>
      </p:sp>
      <p:sp>
        <p:nvSpPr>
          <p:cNvPr id="19" name="Text 17"/>
          <p:cNvSpPr/>
          <p:nvPr/>
        </p:nvSpPr>
        <p:spPr>
          <a:xfrm>
            <a:off x="4617940" y="1624734"/>
            <a:ext cx="1645920" cy="347472"/>
          </a:xfrm>
          <a:prstGeom prst="rect">
            <a:avLst/>
          </a:prstGeom>
          <a:noFill/>
          <a:ln/>
        </p:spPr>
        <p:txBody>
          <a:bodyPr wrap="square" lIns="0" tIns="0" rIns="0" bIns="0" rtlCol="0" anchor="t"/>
          <a:lstStyle/>
          <a:p>
            <a:pPr marL="0" indent="0" algn="ctr">
              <a:buNone/>
            </a:pPr>
            <a:r>
              <a:rPr lang="en-US" sz="950" dirty="0">
                <a:solidFill>
                  <a:srgbClr val="7A5C3A"/>
                </a:solidFill>
                <a:latin typeface="Calibri" pitchFamily="34" charset="0"/>
                <a:ea typeface="Calibri" pitchFamily="34" charset="-122"/>
                <a:cs typeface="Calibri" pitchFamily="34" charset="-120"/>
              </a:rPr>
              <a:t>Avg Tenure (yrs)</a:t>
            </a:r>
            <a:endParaRPr lang="en-US" sz="950" dirty="0"/>
          </a:p>
        </p:txBody>
      </p:sp>
      <p:sp>
        <p:nvSpPr>
          <p:cNvPr id="20" name="Shape 18"/>
          <p:cNvSpPr/>
          <p:nvPr/>
        </p:nvSpPr>
        <p:spPr>
          <a:xfrm>
            <a:off x="6446740" y="1076094"/>
            <a:ext cx="1828800" cy="91440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21" name="Shape 19"/>
          <p:cNvSpPr/>
          <p:nvPr/>
        </p:nvSpPr>
        <p:spPr>
          <a:xfrm>
            <a:off x="6446740" y="1076094"/>
            <a:ext cx="54864" cy="914400"/>
          </a:xfrm>
          <a:prstGeom prst="rect">
            <a:avLst/>
          </a:prstGeom>
          <a:solidFill>
            <a:srgbClr val="E8820C"/>
          </a:solidFill>
          <a:ln w="12700">
            <a:solidFill>
              <a:srgbClr val="E8820C"/>
            </a:solidFill>
            <a:prstDash val="solid"/>
          </a:ln>
        </p:spPr>
        <p:txBody>
          <a:bodyPr/>
          <a:lstStyle/>
          <a:p>
            <a:endParaRPr lang="en-US"/>
          </a:p>
        </p:txBody>
      </p:sp>
      <p:sp>
        <p:nvSpPr>
          <p:cNvPr id="22" name="Text 20"/>
          <p:cNvSpPr/>
          <p:nvPr/>
        </p:nvSpPr>
        <p:spPr>
          <a:xfrm>
            <a:off x="6556468" y="1167534"/>
            <a:ext cx="1645920" cy="502920"/>
          </a:xfrm>
          <a:prstGeom prst="rect">
            <a:avLst/>
          </a:prstGeom>
          <a:noFill/>
          <a:ln/>
        </p:spPr>
        <p:txBody>
          <a:bodyPr wrap="square" lIns="0" tIns="0" rIns="0" bIns="0" rtlCol="0" anchor="b"/>
          <a:lstStyle/>
          <a:p>
            <a:pPr marL="0" indent="0" algn="ctr">
              <a:buNone/>
            </a:pPr>
            <a:r>
              <a:rPr lang="en-US" sz="2200" b="1" dirty="0">
                <a:solidFill>
                  <a:srgbClr val="E8820C"/>
                </a:solidFill>
                <a:latin typeface="Calibri" pitchFamily="34" charset="0"/>
                <a:ea typeface="Calibri" pitchFamily="34" charset="-122"/>
                <a:cs typeface="Calibri" pitchFamily="34" charset="-120"/>
              </a:rPr>
              <a:t>4</a:t>
            </a:r>
            <a:endParaRPr lang="en-US" sz="2200" dirty="0"/>
          </a:p>
        </p:txBody>
      </p:sp>
      <p:sp>
        <p:nvSpPr>
          <p:cNvPr id="23" name="Text 21"/>
          <p:cNvSpPr/>
          <p:nvPr/>
        </p:nvSpPr>
        <p:spPr>
          <a:xfrm>
            <a:off x="6556468" y="1624734"/>
            <a:ext cx="1645920" cy="347472"/>
          </a:xfrm>
          <a:prstGeom prst="rect">
            <a:avLst/>
          </a:prstGeom>
          <a:noFill/>
          <a:ln/>
        </p:spPr>
        <p:txBody>
          <a:bodyPr wrap="square" lIns="0" tIns="0" rIns="0" bIns="0" rtlCol="0" anchor="t"/>
          <a:lstStyle/>
          <a:p>
            <a:pPr marL="0" indent="0" algn="ctr">
              <a:buNone/>
            </a:pPr>
            <a:r>
              <a:rPr lang="en-US" sz="950" dirty="0">
                <a:solidFill>
                  <a:srgbClr val="7A5C3A"/>
                </a:solidFill>
                <a:latin typeface="Calibri" pitchFamily="34" charset="0"/>
                <a:ea typeface="Calibri" pitchFamily="34" charset="-122"/>
                <a:cs typeface="Calibri" pitchFamily="34" charset="-120"/>
              </a:rPr>
              <a:t>London-based</a:t>
            </a:r>
            <a:endParaRPr lang="en-US" sz="950" dirty="0"/>
          </a:p>
        </p:txBody>
      </p:sp>
      <p:sp>
        <p:nvSpPr>
          <p:cNvPr id="31" name="Shape 22">
            <a:extLst>
              <a:ext uri="{FF2B5EF4-FFF2-40B4-BE49-F238E27FC236}">
                <a16:creationId xmlns:a16="http://schemas.microsoft.com/office/drawing/2014/main" id="{EEED5DBF-2D8B-DF2F-209A-DA8903AF4EEE}"/>
              </a:ext>
            </a:extLst>
          </p:cNvPr>
          <p:cNvSpPr/>
          <p:nvPr/>
        </p:nvSpPr>
        <p:spPr>
          <a:xfrm>
            <a:off x="53983" y="2114160"/>
            <a:ext cx="3036565" cy="290322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32" name="Text 23">
            <a:extLst>
              <a:ext uri="{FF2B5EF4-FFF2-40B4-BE49-F238E27FC236}">
                <a16:creationId xmlns:a16="http://schemas.microsoft.com/office/drawing/2014/main" id="{55F9BF38-7440-7231-A87A-1F1D28333CE8}"/>
              </a:ext>
            </a:extLst>
          </p:cNvPr>
          <p:cNvSpPr/>
          <p:nvPr/>
        </p:nvSpPr>
        <p:spPr>
          <a:xfrm>
            <a:off x="64997" y="2114160"/>
            <a:ext cx="3036565" cy="320040"/>
          </a:xfrm>
          <a:prstGeom prst="rect">
            <a:avLst/>
          </a:prstGeom>
          <a:solidFill>
            <a:srgbClr val="C45C0A"/>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Key Findings</a:t>
            </a:r>
            <a:endParaRPr lang="en-US" sz="1200" dirty="0"/>
          </a:p>
        </p:txBody>
      </p:sp>
      <p:sp>
        <p:nvSpPr>
          <p:cNvPr id="33" name="Text 24">
            <a:extLst>
              <a:ext uri="{FF2B5EF4-FFF2-40B4-BE49-F238E27FC236}">
                <a16:creationId xmlns:a16="http://schemas.microsoft.com/office/drawing/2014/main" id="{AF9CD640-E419-9FD8-85FB-37769675E561}"/>
              </a:ext>
            </a:extLst>
          </p:cNvPr>
          <p:cNvSpPr/>
          <p:nvPr/>
        </p:nvSpPr>
        <p:spPr>
          <a:xfrm>
            <a:off x="58939" y="2507352"/>
            <a:ext cx="2988322" cy="2194560"/>
          </a:xfrm>
          <a:prstGeom prst="rect">
            <a:avLst/>
          </a:prstGeom>
          <a:noFill/>
          <a:ln/>
        </p:spPr>
        <p:txBody>
          <a:bodyPr wrap="square" rtlCol="0" anchor="t"/>
          <a:lstStyle/>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9 employees operate across UK (London) and USA (Seattle, Kirkland, Redmond, Tacoma)</a:t>
            </a:r>
            <a:endParaRPr lang="en-US" sz="1050" dirty="0"/>
          </a:p>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Flat hierarchy: ~1 employee per title — minimal managerial layers, lean structure</a:t>
            </a:r>
            <a:endParaRPr lang="en-US" sz="1050" dirty="0"/>
          </a:p>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Tenure tightly clustered between 31–34 years, reflecting uniform long-term retention</a:t>
            </a:r>
            <a:endParaRPr lang="en-US" sz="1050" dirty="0"/>
          </a:p>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Positive correlation between age at hire (30–55) and tenure — consistent retention regardless of hire age</a:t>
            </a:r>
            <a:endParaRPr lang="en-US" sz="1050" dirty="0"/>
          </a:p>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Sales Representatives make up the largest role group; London has the highest headcount (4)</a:t>
            </a:r>
            <a:endParaRPr lang="en-US" sz="1050" dirty="0"/>
          </a:p>
        </p:txBody>
      </p:sp>
      <p:sp>
        <p:nvSpPr>
          <p:cNvPr id="34" name="Shape 25">
            <a:extLst>
              <a:ext uri="{FF2B5EF4-FFF2-40B4-BE49-F238E27FC236}">
                <a16:creationId xmlns:a16="http://schemas.microsoft.com/office/drawing/2014/main" id="{6CC5615E-8118-1EB8-642A-3B9E796774A8}"/>
              </a:ext>
            </a:extLst>
          </p:cNvPr>
          <p:cNvSpPr/>
          <p:nvPr/>
        </p:nvSpPr>
        <p:spPr>
          <a:xfrm>
            <a:off x="6897112" y="2240280"/>
            <a:ext cx="2194560" cy="2777100"/>
          </a:xfrm>
          <a:prstGeom prst="rect">
            <a:avLst/>
          </a:prstGeom>
          <a:solidFill>
            <a:srgbClr val="FFF8E7"/>
          </a:solidFill>
          <a:ln w="19050">
            <a:solidFill>
              <a:srgbClr val="E8820C"/>
            </a:solidFill>
            <a:prstDash val="solid"/>
          </a:ln>
          <a:effectLst>
            <a:outerShdw blurRad="101600" dist="38100" dir="8100000" algn="bl" rotWithShape="0">
              <a:srgbClr val="000000">
                <a:alpha val="12000"/>
              </a:srgbClr>
            </a:outerShdw>
          </a:effectLst>
        </p:spPr>
        <p:txBody>
          <a:bodyPr/>
          <a:lstStyle/>
          <a:p>
            <a:endParaRPr lang="en-US"/>
          </a:p>
        </p:txBody>
      </p:sp>
      <p:sp>
        <p:nvSpPr>
          <p:cNvPr id="35" name="Shape 26">
            <a:extLst>
              <a:ext uri="{FF2B5EF4-FFF2-40B4-BE49-F238E27FC236}">
                <a16:creationId xmlns:a16="http://schemas.microsoft.com/office/drawing/2014/main" id="{6B36CA63-CEAC-7EB6-EF49-A6D489B342F2}"/>
              </a:ext>
            </a:extLst>
          </p:cNvPr>
          <p:cNvSpPr/>
          <p:nvPr/>
        </p:nvSpPr>
        <p:spPr>
          <a:xfrm>
            <a:off x="6897112" y="2240280"/>
            <a:ext cx="2194560" cy="274320"/>
          </a:xfrm>
          <a:prstGeom prst="rect">
            <a:avLst/>
          </a:prstGeom>
          <a:solidFill>
            <a:srgbClr val="E8820C"/>
          </a:solidFill>
          <a:ln w="12700">
            <a:solidFill>
              <a:srgbClr val="E8820C"/>
            </a:solidFill>
            <a:prstDash val="solid"/>
          </a:ln>
        </p:spPr>
        <p:txBody>
          <a:bodyPr/>
          <a:lstStyle/>
          <a:p>
            <a:endParaRPr lang="en-US"/>
          </a:p>
        </p:txBody>
      </p:sp>
      <p:sp>
        <p:nvSpPr>
          <p:cNvPr id="36" name="Text 27">
            <a:extLst>
              <a:ext uri="{FF2B5EF4-FFF2-40B4-BE49-F238E27FC236}">
                <a16:creationId xmlns:a16="http://schemas.microsoft.com/office/drawing/2014/main" id="{E8D4533A-4869-7C1B-398B-382ACC6A772E}"/>
              </a:ext>
            </a:extLst>
          </p:cNvPr>
          <p:cNvSpPr/>
          <p:nvPr/>
        </p:nvSpPr>
        <p:spPr>
          <a:xfrm>
            <a:off x="6908129" y="2249424"/>
            <a:ext cx="2103120" cy="2468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Business Insights</a:t>
            </a:r>
            <a:endParaRPr lang="en-US" sz="1100" dirty="0"/>
          </a:p>
        </p:txBody>
      </p:sp>
      <p:sp>
        <p:nvSpPr>
          <p:cNvPr id="37" name="Text 28">
            <a:extLst>
              <a:ext uri="{FF2B5EF4-FFF2-40B4-BE49-F238E27FC236}">
                <a16:creationId xmlns:a16="http://schemas.microsoft.com/office/drawing/2014/main" id="{C04D07C7-D1E9-E74E-B886-BA4EAA8F306B}"/>
              </a:ext>
            </a:extLst>
          </p:cNvPr>
          <p:cNvSpPr/>
          <p:nvPr/>
        </p:nvSpPr>
        <p:spPr>
          <a:xfrm>
            <a:off x="6897112" y="2560320"/>
            <a:ext cx="2103120" cy="2267712"/>
          </a:xfrm>
          <a:prstGeom prst="rect">
            <a:avLst/>
          </a:prstGeom>
          <a:noFill/>
          <a:ln/>
        </p:spPr>
        <p:txBody>
          <a:bodyPr wrap="square" rtlCol="0" anchor="t"/>
          <a:lstStyle/>
          <a:p>
            <a:pPr marL="342900" indent="-342900">
              <a:spcAft>
                <a:spcPts val="400"/>
              </a:spcAft>
              <a:buSzPct val="100000"/>
              <a:buChar char="•"/>
            </a:pPr>
            <a:r>
              <a:rPr lang="en-US" sz="1050" dirty="0">
                <a:solidFill>
                  <a:srgbClr val="2A1500"/>
                </a:solidFill>
                <a:latin typeface="Calibri" pitchFamily="34" charset="0"/>
                <a:ea typeface="Calibri" pitchFamily="34" charset="-122"/>
                <a:cs typeface="Calibri" pitchFamily="34" charset="-120"/>
              </a:rPr>
              <a:t>Retention Strength: 32.56-year average tenure signals very high employee loyalty and institutional knowledge</a:t>
            </a:r>
            <a:endParaRPr lang="en-US" sz="1050" dirty="0"/>
          </a:p>
          <a:p>
            <a:pPr marL="342900" indent="-342900">
              <a:spcAft>
                <a:spcPts val="400"/>
              </a:spcAft>
              <a:buSzPct val="100000"/>
              <a:buChar char="•"/>
            </a:pPr>
            <a:r>
              <a:rPr lang="en-US" sz="1050" dirty="0">
                <a:solidFill>
                  <a:srgbClr val="2A1500"/>
                </a:solidFill>
                <a:latin typeface="Calibri" pitchFamily="34" charset="0"/>
                <a:ea typeface="Calibri" pitchFamily="34" charset="-122"/>
                <a:cs typeface="Calibri" pitchFamily="34" charset="-120"/>
              </a:rPr>
              <a:t>Succession Risk: With 2 managers and no layered hierarchy, any attrition creates immediate coverage gaps</a:t>
            </a:r>
            <a:endParaRPr lang="en-US" sz="1050" dirty="0"/>
          </a:p>
          <a:p>
            <a:pPr marL="342900" indent="-342900">
              <a:spcAft>
                <a:spcPts val="400"/>
              </a:spcAft>
              <a:buSzPct val="100000"/>
              <a:buChar char="•"/>
            </a:pPr>
            <a:r>
              <a:rPr lang="en-US" sz="1050" dirty="0">
                <a:solidFill>
                  <a:srgbClr val="2A1500"/>
                </a:solidFill>
                <a:latin typeface="Calibri" pitchFamily="34" charset="0"/>
                <a:ea typeface="Calibri" pitchFamily="34" charset="-122"/>
                <a:cs typeface="Calibri" pitchFamily="34" charset="-120"/>
              </a:rPr>
              <a:t>Geographic Bottleneck: Reporting is concentrated in UK/London — limited geographic leadership diversity</a:t>
            </a:r>
            <a:endParaRPr lang="en-US" sz="1050" dirty="0"/>
          </a:p>
        </p:txBody>
      </p:sp>
      <p:pic>
        <p:nvPicPr>
          <p:cNvPr id="39" name="Picture 38">
            <a:extLst>
              <a:ext uri="{FF2B5EF4-FFF2-40B4-BE49-F238E27FC236}">
                <a16:creationId xmlns:a16="http://schemas.microsoft.com/office/drawing/2014/main" id="{A3D08A66-9663-6C67-4BAF-6F5B19CB5F40}"/>
              </a:ext>
            </a:extLst>
          </p:cNvPr>
          <p:cNvPicPr>
            <a:picLocks noChangeAspect="1"/>
          </p:cNvPicPr>
          <p:nvPr/>
        </p:nvPicPr>
        <p:blipFill rotWithShape="1">
          <a:blip r:embed="rId3"/>
          <a:srcRect l="63169" t="34092" r="17291" b="39341"/>
          <a:stretch>
            <a:fillRect/>
          </a:stretch>
        </p:blipFill>
        <p:spPr>
          <a:xfrm>
            <a:off x="3219961" y="2281128"/>
            <a:ext cx="1518828" cy="1161522"/>
          </a:xfrm>
          <a:prstGeom prst="rect">
            <a:avLst/>
          </a:prstGeom>
        </p:spPr>
      </p:pic>
      <p:pic>
        <p:nvPicPr>
          <p:cNvPr id="40" name="Picture 39">
            <a:extLst>
              <a:ext uri="{FF2B5EF4-FFF2-40B4-BE49-F238E27FC236}">
                <a16:creationId xmlns:a16="http://schemas.microsoft.com/office/drawing/2014/main" id="{38222ACB-4FC9-1B7D-2944-D752DB35BAB2}"/>
              </a:ext>
            </a:extLst>
          </p:cNvPr>
          <p:cNvPicPr>
            <a:picLocks noChangeAspect="1"/>
          </p:cNvPicPr>
          <p:nvPr/>
        </p:nvPicPr>
        <p:blipFill rotWithShape="1">
          <a:blip r:embed="rId3"/>
          <a:srcRect l="13710" t="59982" r="58379" b="12503"/>
          <a:stretch>
            <a:fillRect/>
          </a:stretch>
        </p:blipFill>
        <p:spPr>
          <a:xfrm>
            <a:off x="4830229" y="2239664"/>
            <a:ext cx="1975443" cy="1202986"/>
          </a:xfrm>
          <a:prstGeom prst="rect">
            <a:avLst/>
          </a:prstGeom>
        </p:spPr>
      </p:pic>
      <p:pic>
        <p:nvPicPr>
          <p:cNvPr id="41" name="Picture 40">
            <a:extLst>
              <a:ext uri="{FF2B5EF4-FFF2-40B4-BE49-F238E27FC236}">
                <a16:creationId xmlns:a16="http://schemas.microsoft.com/office/drawing/2014/main" id="{3A5A591B-8C05-1212-3A43-9E440CFA4165}"/>
              </a:ext>
            </a:extLst>
          </p:cNvPr>
          <p:cNvPicPr>
            <a:picLocks noChangeAspect="1"/>
          </p:cNvPicPr>
          <p:nvPr/>
        </p:nvPicPr>
        <p:blipFill rotWithShape="1">
          <a:blip r:embed="rId3"/>
          <a:srcRect l="44393" t="60265" r="18601" b="12503"/>
          <a:stretch>
            <a:fillRect/>
          </a:stretch>
        </p:blipFill>
        <p:spPr>
          <a:xfrm>
            <a:off x="3219961" y="3597753"/>
            <a:ext cx="3585711" cy="148418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BF2"/>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3D1C02"/>
          </a:solidFill>
          <a:ln w="12700">
            <a:solidFill>
              <a:srgbClr val="3D1C02"/>
            </a:solidFill>
            <a:prstDash val="solid"/>
          </a:ln>
        </p:spPr>
        <p:txBody>
          <a:bodyPr/>
          <a:lstStyle/>
          <a:p>
            <a:endParaRPr lang="en-US"/>
          </a:p>
        </p:txBody>
      </p:sp>
      <p:sp>
        <p:nvSpPr>
          <p:cNvPr id="3" name="Text 1"/>
          <p:cNvSpPr/>
          <p:nvPr/>
        </p:nvSpPr>
        <p:spPr>
          <a:xfrm>
            <a:off x="320040" y="118872"/>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Key Insights Summary</a:t>
            </a:r>
            <a:endParaRPr lang="en-US" sz="2200" dirty="0"/>
          </a:p>
        </p:txBody>
      </p:sp>
      <p:sp>
        <p:nvSpPr>
          <p:cNvPr id="4" name="Text 2"/>
          <p:cNvSpPr/>
          <p:nvPr/>
        </p:nvSpPr>
        <p:spPr>
          <a:xfrm>
            <a:off x="320040" y="658368"/>
            <a:ext cx="6400800" cy="292608"/>
          </a:xfrm>
          <a:prstGeom prst="rect">
            <a:avLst/>
          </a:prstGeom>
          <a:noFill/>
          <a:ln/>
        </p:spPr>
        <p:txBody>
          <a:bodyPr wrap="square" lIns="0" tIns="0" rIns="0" bIns="0" rtlCol="0" anchor="ctr"/>
          <a:lstStyle/>
          <a:p>
            <a:pPr marL="0" indent="0">
              <a:buNone/>
            </a:pPr>
            <a:r>
              <a:rPr lang="en-US" sz="1100" i="1" dirty="0">
                <a:solidFill>
                  <a:srgbClr val="F5C842"/>
                </a:solidFill>
                <a:latin typeface="Calibri" pitchFamily="34" charset="0"/>
                <a:ea typeface="Calibri" pitchFamily="34" charset="-122"/>
                <a:cs typeface="Calibri" pitchFamily="34" charset="-120"/>
              </a:rPr>
              <a:t>Cross-Domain Findings at a Glance</a:t>
            </a:r>
            <a:endParaRPr lang="en-US" sz="1100" dirty="0"/>
          </a:p>
        </p:txBody>
      </p:sp>
      <p:sp>
        <p:nvSpPr>
          <p:cNvPr id="5" name="Shape 3"/>
          <p:cNvSpPr/>
          <p:nvPr/>
        </p:nvSpPr>
        <p:spPr>
          <a:xfrm>
            <a:off x="8412480" y="182880"/>
            <a:ext cx="548640" cy="640080"/>
          </a:xfrm>
          <a:prstGeom prst="rect">
            <a:avLst/>
          </a:prstGeom>
          <a:solidFill>
            <a:srgbClr val="E8820C"/>
          </a:solidFill>
          <a:ln w="12700">
            <a:solidFill>
              <a:srgbClr val="E8820C"/>
            </a:solidFill>
            <a:prstDash val="solid"/>
          </a:ln>
        </p:spPr>
        <p:txBody>
          <a:bodyPr/>
          <a:lstStyle/>
          <a:p>
            <a:endParaRPr lang="en-US"/>
          </a:p>
        </p:txBody>
      </p:sp>
      <p:sp>
        <p:nvSpPr>
          <p:cNvPr id="6" name="Shape 4"/>
          <p:cNvSpPr/>
          <p:nvPr/>
        </p:nvSpPr>
        <p:spPr>
          <a:xfrm>
            <a:off x="274320" y="1188720"/>
            <a:ext cx="1572768" cy="324612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274320" y="1188720"/>
            <a:ext cx="1572768" cy="365760"/>
          </a:xfrm>
          <a:prstGeom prst="rect">
            <a:avLst/>
          </a:prstGeom>
          <a:solidFill>
            <a:srgbClr val="C45C0A"/>
          </a:solidFill>
          <a:ln w="12700">
            <a:solidFill>
              <a:srgbClr val="C45C0A"/>
            </a:solidFill>
            <a:prstDash val="solid"/>
          </a:ln>
        </p:spPr>
        <p:txBody>
          <a:bodyPr/>
          <a:lstStyle/>
          <a:p>
            <a:endParaRPr lang="en-US"/>
          </a:p>
        </p:txBody>
      </p:sp>
      <p:sp>
        <p:nvSpPr>
          <p:cNvPr id="8" name="Text 6"/>
          <p:cNvSpPr/>
          <p:nvPr/>
        </p:nvSpPr>
        <p:spPr>
          <a:xfrm>
            <a:off x="320040" y="1188720"/>
            <a:ext cx="1481328" cy="3657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Customers</a:t>
            </a:r>
            <a:endParaRPr lang="en-US" sz="1150" dirty="0"/>
          </a:p>
        </p:txBody>
      </p:sp>
      <p:sp>
        <p:nvSpPr>
          <p:cNvPr id="9" name="Text 7"/>
          <p:cNvSpPr/>
          <p:nvPr/>
        </p:nvSpPr>
        <p:spPr>
          <a:xfrm>
            <a:off x="347472" y="1609344"/>
            <a:ext cx="1426464" cy="2752344"/>
          </a:xfrm>
          <a:prstGeom prst="rect">
            <a:avLst/>
          </a:prstGeom>
          <a:noFill/>
          <a:ln/>
        </p:spPr>
        <p:txBody>
          <a:bodyPr wrap="square" rtlCol="0" anchor="t"/>
          <a:lstStyle/>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London &amp; USA dominate; Europe is fragmented</a:t>
            </a:r>
            <a:endParaRPr lang="en-US" sz="1050" dirty="0"/>
          </a:p>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170% YoY order growth reflects strong demand momentum</a:t>
            </a:r>
            <a:endParaRPr lang="en-US" sz="1050" dirty="0"/>
          </a:p>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Asia &amp; South America are largely untapped</a:t>
            </a:r>
            <a:endParaRPr lang="en-US" sz="1050" dirty="0"/>
          </a:p>
        </p:txBody>
      </p:sp>
      <p:sp>
        <p:nvSpPr>
          <p:cNvPr id="10" name="Shape 8"/>
          <p:cNvSpPr/>
          <p:nvPr/>
        </p:nvSpPr>
        <p:spPr>
          <a:xfrm>
            <a:off x="2002536" y="1188720"/>
            <a:ext cx="1572768" cy="324612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11" name="Shape 9"/>
          <p:cNvSpPr/>
          <p:nvPr/>
        </p:nvSpPr>
        <p:spPr>
          <a:xfrm>
            <a:off x="2002536" y="1188720"/>
            <a:ext cx="1572768" cy="365760"/>
          </a:xfrm>
          <a:prstGeom prst="rect">
            <a:avLst/>
          </a:prstGeom>
          <a:solidFill>
            <a:srgbClr val="D4A017"/>
          </a:solidFill>
          <a:ln w="12700">
            <a:solidFill>
              <a:srgbClr val="D4A017"/>
            </a:solidFill>
            <a:prstDash val="solid"/>
          </a:ln>
        </p:spPr>
        <p:txBody>
          <a:bodyPr/>
          <a:lstStyle/>
          <a:p>
            <a:endParaRPr lang="en-US"/>
          </a:p>
        </p:txBody>
      </p:sp>
      <p:sp>
        <p:nvSpPr>
          <p:cNvPr id="12" name="Text 10"/>
          <p:cNvSpPr/>
          <p:nvPr/>
        </p:nvSpPr>
        <p:spPr>
          <a:xfrm>
            <a:off x="2048256" y="1188720"/>
            <a:ext cx="1481328" cy="3657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Products</a:t>
            </a:r>
            <a:endParaRPr lang="en-US" sz="1150" dirty="0"/>
          </a:p>
        </p:txBody>
      </p:sp>
      <p:sp>
        <p:nvSpPr>
          <p:cNvPr id="13" name="Text 11"/>
          <p:cNvSpPr/>
          <p:nvPr/>
        </p:nvSpPr>
        <p:spPr>
          <a:xfrm>
            <a:off x="2075688" y="1609344"/>
            <a:ext cx="1426464" cy="2752344"/>
          </a:xfrm>
          <a:prstGeom prst="rect">
            <a:avLst/>
          </a:prstGeom>
          <a:noFill/>
          <a:ln/>
        </p:spPr>
        <p:txBody>
          <a:bodyPr wrap="square" rtlCol="0" anchor="t"/>
          <a:lstStyle/>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Top 3 products all dairy/cheese — strong defensible niche</a:t>
            </a:r>
            <a:endParaRPr lang="en-US" sz="1050" dirty="0"/>
          </a:p>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Beverages drive the highest quarterly revenue</a:t>
            </a:r>
            <a:endParaRPr lang="en-US" sz="1050" dirty="0"/>
          </a:p>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Premium tier (&gt;$100) products create margin upside</a:t>
            </a:r>
            <a:endParaRPr lang="en-US" sz="1050" dirty="0"/>
          </a:p>
        </p:txBody>
      </p:sp>
      <p:sp>
        <p:nvSpPr>
          <p:cNvPr id="14" name="Shape 12"/>
          <p:cNvSpPr/>
          <p:nvPr/>
        </p:nvSpPr>
        <p:spPr>
          <a:xfrm>
            <a:off x="3730752" y="1188720"/>
            <a:ext cx="1572768" cy="324612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15" name="Shape 13"/>
          <p:cNvSpPr/>
          <p:nvPr/>
        </p:nvSpPr>
        <p:spPr>
          <a:xfrm>
            <a:off x="3730752" y="1188720"/>
            <a:ext cx="1572768" cy="365760"/>
          </a:xfrm>
          <a:prstGeom prst="rect">
            <a:avLst/>
          </a:prstGeom>
          <a:solidFill>
            <a:srgbClr val="E8820C"/>
          </a:solidFill>
          <a:ln w="12700">
            <a:solidFill>
              <a:srgbClr val="E8820C"/>
            </a:solidFill>
            <a:prstDash val="solid"/>
          </a:ln>
        </p:spPr>
        <p:txBody>
          <a:bodyPr/>
          <a:lstStyle/>
          <a:p>
            <a:endParaRPr lang="en-US"/>
          </a:p>
        </p:txBody>
      </p:sp>
      <p:sp>
        <p:nvSpPr>
          <p:cNvPr id="16" name="Text 14"/>
          <p:cNvSpPr/>
          <p:nvPr/>
        </p:nvSpPr>
        <p:spPr>
          <a:xfrm>
            <a:off x="3776472" y="1188720"/>
            <a:ext cx="1481328" cy="3657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Orders</a:t>
            </a:r>
            <a:endParaRPr lang="en-US" sz="1150" dirty="0"/>
          </a:p>
        </p:txBody>
      </p:sp>
      <p:sp>
        <p:nvSpPr>
          <p:cNvPr id="17" name="Text 15"/>
          <p:cNvSpPr/>
          <p:nvPr/>
        </p:nvSpPr>
        <p:spPr>
          <a:xfrm>
            <a:off x="3803904" y="1609344"/>
            <a:ext cx="1426464" cy="2752344"/>
          </a:xfrm>
          <a:prstGeom prst="rect">
            <a:avLst/>
          </a:prstGeom>
          <a:noFill/>
          <a:ln/>
        </p:spPr>
        <p:txBody>
          <a:bodyPr wrap="square" rtlCol="0" anchor="t"/>
          <a:lstStyle/>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223% YoY growth; 8.49-day avg shipping indicates scale-up demand</a:t>
            </a:r>
            <a:endParaRPr lang="en-US" sz="1050" dirty="0"/>
          </a:p>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37 late shipments — Speedy Express is a weak-link carrier</a:t>
            </a:r>
            <a:endParaRPr lang="en-US" sz="1050" dirty="0"/>
          </a:p>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May–April seasonality drives over 50% of monthly peak volume</a:t>
            </a:r>
            <a:endParaRPr lang="en-US" sz="1050" dirty="0"/>
          </a:p>
        </p:txBody>
      </p:sp>
      <p:sp>
        <p:nvSpPr>
          <p:cNvPr id="18" name="Shape 16"/>
          <p:cNvSpPr/>
          <p:nvPr/>
        </p:nvSpPr>
        <p:spPr>
          <a:xfrm>
            <a:off x="5458968" y="1188720"/>
            <a:ext cx="1572768" cy="324612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19" name="Shape 17"/>
          <p:cNvSpPr/>
          <p:nvPr/>
        </p:nvSpPr>
        <p:spPr>
          <a:xfrm>
            <a:off x="5458968" y="1188720"/>
            <a:ext cx="1572768" cy="365760"/>
          </a:xfrm>
          <a:prstGeom prst="rect">
            <a:avLst/>
          </a:prstGeom>
          <a:solidFill>
            <a:srgbClr val="A84E05"/>
          </a:solidFill>
          <a:ln w="12700">
            <a:solidFill>
              <a:srgbClr val="A84E05"/>
            </a:solidFill>
            <a:prstDash val="solid"/>
          </a:ln>
        </p:spPr>
        <p:txBody>
          <a:bodyPr/>
          <a:lstStyle/>
          <a:p>
            <a:endParaRPr lang="en-US"/>
          </a:p>
        </p:txBody>
      </p:sp>
      <p:sp>
        <p:nvSpPr>
          <p:cNvPr id="20" name="Text 18"/>
          <p:cNvSpPr/>
          <p:nvPr/>
        </p:nvSpPr>
        <p:spPr>
          <a:xfrm>
            <a:off x="5504688" y="1188720"/>
            <a:ext cx="1481328" cy="3657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Suppliers</a:t>
            </a:r>
            <a:endParaRPr lang="en-US" sz="1150" dirty="0"/>
          </a:p>
        </p:txBody>
      </p:sp>
      <p:sp>
        <p:nvSpPr>
          <p:cNvPr id="21" name="Text 19"/>
          <p:cNvSpPr/>
          <p:nvPr/>
        </p:nvSpPr>
        <p:spPr>
          <a:xfrm>
            <a:off x="5532120" y="1609344"/>
            <a:ext cx="1426464" cy="2752344"/>
          </a:xfrm>
          <a:prstGeom prst="rect">
            <a:avLst/>
          </a:prstGeom>
          <a:noFill/>
          <a:ln/>
        </p:spPr>
        <p:txBody>
          <a:bodyPr wrap="square" rtlCol="0" anchor="t"/>
          <a:lstStyle/>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Multi-region supply chain reduces single-point risk</a:t>
            </a:r>
            <a:endParaRPr lang="en-US" sz="1050" dirty="0"/>
          </a:p>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Tiered pricing strategy supports volume + margin goals</a:t>
            </a:r>
            <a:endParaRPr lang="en-US" sz="1050" dirty="0"/>
          </a:p>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780 units on order — inventory replenishment is active</a:t>
            </a:r>
            <a:endParaRPr lang="en-US" sz="1050" dirty="0"/>
          </a:p>
        </p:txBody>
      </p:sp>
      <p:sp>
        <p:nvSpPr>
          <p:cNvPr id="22" name="Shape 20"/>
          <p:cNvSpPr/>
          <p:nvPr/>
        </p:nvSpPr>
        <p:spPr>
          <a:xfrm>
            <a:off x="7187184" y="1188720"/>
            <a:ext cx="1572768" cy="324612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23" name="Shape 21"/>
          <p:cNvSpPr/>
          <p:nvPr/>
        </p:nvSpPr>
        <p:spPr>
          <a:xfrm>
            <a:off x="7187184" y="1188720"/>
            <a:ext cx="1572768" cy="365760"/>
          </a:xfrm>
          <a:prstGeom prst="rect">
            <a:avLst/>
          </a:prstGeom>
          <a:solidFill>
            <a:srgbClr val="C9890A"/>
          </a:solidFill>
          <a:ln w="12700">
            <a:solidFill>
              <a:srgbClr val="C9890A"/>
            </a:solidFill>
            <a:prstDash val="solid"/>
          </a:ln>
        </p:spPr>
        <p:txBody>
          <a:bodyPr/>
          <a:lstStyle/>
          <a:p>
            <a:endParaRPr lang="en-US"/>
          </a:p>
        </p:txBody>
      </p:sp>
      <p:sp>
        <p:nvSpPr>
          <p:cNvPr id="24" name="Text 22"/>
          <p:cNvSpPr/>
          <p:nvPr/>
        </p:nvSpPr>
        <p:spPr>
          <a:xfrm>
            <a:off x="7232904" y="1188720"/>
            <a:ext cx="1481328" cy="3657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Employees</a:t>
            </a:r>
            <a:endParaRPr lang="en-US" sz="1150" dirty="0"/>
          </a:p>
        </p:txBody>
      </p:sp>
      <p:sp>
        <p:nvSpPr>
          <p:cNvPr id="25" name="Text 23"/>
          <p:cNvSpPr/>
          <p:nvPr/>
        </p:nvSpPr>
        <p:spPr>
          <a:xfrm>
            <a:off x="7260336" y="1609344"/>
            <a:ext cx="1426464" cy="2752344"/>
          </a:xfrm>
          <a:prstGeom prst="rect">
            <a:avLst/>
          </a:prstGeom>
          <a:noFill/>
          <a:ln/>
        </p:spPr>
        <p:txBody>
          <a:bodyPr wrap="square" rtlCol="0" anchor="t"/>
          <a:lstStyle/>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32.56-year average tenure signals exceptional retention</a:t>
            </a:r>
            <a:endParaRPr lang="en-US" sz="1050" dirty="0"/>
          </a:p>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Flat structure — lean but succession risk is real</a:t>
            </a:r>
            <a:endParaRPr lang="en-US" sz="1050" dirty="0"/>
          </a:p>
          <a:p>
            <a:pPr marL="342900" indent="-342900">
              <a:spcAft>
                <a:spcPts val="600"/>
              </a:spcAft>
              <a:buSzPct val="100000"/>
              <a:buChar char="•"/>
            </a:pPr>
            <a:r>
              <a:rPr lang="en-US" sz="1050" dirty="0">
                <a:solidFill>
                  <a:srgbClr val="2A1500"/>
                </a:solidFill>
                <a:latin typeface="Calibri" pitchFamily="34" charset="0"/>
                <a:ea typeface="Calibri" pitchFamily="34" charset="-122"/>
                <a:cs typeface="Calibri" pitchFamily="34" charset="-120"/>
              </a:rPr>
              <a:t>Geographic concentration in London/UK</a:t>
            </a:r>
            <a:endParaRPr lang="en-US" sz="1050" dirty="0"/>
          </a:p>
        </p:txBody>
      </p:sp>
      <p:sp>
        <p:nvSpPr>
          <p:cNvPr id="26" name="Shape 24"/>
          <p:cNvSpPr/>
          <p:nvPr/>
        </p:nvSpPr>
        <p:spPr>
          <a:xfrm>
            <a:off x="274320" y="4626864"/>
            <a:ext cx="8595360" cy="347472"/>
          </a:xfrm>
          <a:prstGeom prst="rect">
            <a:avLst/>
          </a:prstGeom>
          <a:solidFill>
            <a:srgbClr val="3D1C02"/>
          </a:solidFill>
          <a:ln w="12700">
            <a:solidFill>
              <a:srgbClr val="3D1C02"/>
            </a:solidFill>
            <a:prstDash val="solid"/>
          </a:ln>
        </p:spPr>
        <p:txBody>
          <a:bodyPr/>
          <a:lstStyle/>
          <a:p>
            <a:endParaRPr lang="en-US"/>
          </a:p>
        </p:txBody>
      </p:sp>
      <p:sp>
        <p:nvSpPr>
          <p:cNvPr id="27" name="Text 25"/>
          <p:cNvSpPr/>
          <p:nvPr/>
        </p:nvSpPr>
        <p:spPr>
          <a:xfrm>
            <a:off x="274320" y="4626864"/>
            <a:ext cx="8595360" cy="347472"/>
          </a:xfrm>
          <a:prstGeom prst="rect">
            <a:avLst/>
          </a:prstGeom>
          <a:noFill/>
          <a:ln/>
        </p:spPr>
        <p:txBody>
          <a:bodyPr wrap="square" lIns="0" tIns="0" rIns="0" bIns="0" rtlCol="0" anchor="ctr"/>
          <a:lstStyle/>
          <a:p>
            <a:pPr marL="0" indent="0" algn="ctr">
              <a:buNone/>
            </a:pPr>
            <a:r>
              <a:rPr lang="en-US" sz="1050" i="1" dirty="0">
                <a:solidFill>
                  <a:srgbClr val="F5C842"/>
                </a:solidFill>
                <a:latin typeface="Calibri" pitchFamily="34" charset="0"/>
                <a:ea typeface="Calibri" pitchFamily="34" charset="-122"/>
                <a:cs typeface="Calibri" pitchFamily="34" charset="-120"/>
              </a:rPr>
              <a:t>All insights are backed by data extracted via SQL, validated in Excel, and visualised through Power BI's interactive dashboards.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BF2"/>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3D1C02"/>
          </a:solidFill>
          <a:ln w="12700">
            <a:solidFill>
              <a:srgbClr val="3D1C02"/>
            </a:solidFill>
            <a:prstDash val="solid"/>
          </a:ln>
        </p:spPr>
        <p:txBody>
          <a:bodyPr/>
          <a:lstStyle/>
          <a:p>
            <a:endParaRPr lang="en-US"/>
          </a:p>
        </p:txBody>
      </p:sp>
      <p:sp>
        <p:nvSpPr>
          <p:cNvPr id="3" name="Text 1"/>
          <p:cNvSpPr/>
          <p:nvPr/>
        </p:nvSpPr>
        <p:spPr>
          <a:xfrm>
            <a:off x="320040" y="118872"/>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Business Recommendations</a:t>
            </a:r>
            <a:endParaRPr lang="en-US" sz="2200" dirty="0"/>
          </a:p>
        </p:txBody>
      </p:sp>
      <p:sp>
        <p:nvSpPr>
          <p:cNvPr id="4" name="Text 2"/>
          <p:cNvSpPr/>
          <p:nvPr/>
        </p:nvSpPr>
        <p:spPr>
          <a:xfrm>
            <a:off x="320040" y="658368"/>
            <a:ext cx="6400800" cy="292608"/>
          </a:xfrm>
          <a:prstGeom prst="rect">
            <a:avLst/>
          </a:prstGeom>
          <a:noFill/>
          <a:ln/>
        </p:spPr>
        <p:txBody>
          <a:bodyPr wrap="square" lIns="0" tIns="0" rIns="0" bIns="0" rtlCol="0" anchor="ctr"/>
          <a:lstStyle/>
          <a:p>
            <a:pPr marL="0" indent="0">
              <a:buNone/>
            </a:pPr>
            <a:r>
              <a:rPr lang="en-US" sz="1100" i="1" dirty="0">
                <a:solidFill>
                  <a:srgbClr val="F5C842"/>
                </a:solidFill>
                <a:latin typeface="Calibri" pitchFamily="34" charset="0"/>
                <a:ea typeface="Calibri" pitchFamily="34" charset="-122"/>
                <a:cs typeface="Calibri" pitchFamily="34" charset="-120"/>
              </a:rPr>
              <a:t>Actionable Strategies Derived from Data Analysis</a:t>
            </a:r>
            <a:endParaRPr lang="en-US" sz="1100" dirty="0"/>
          </a:p>
        </p:txBody>
      </p:sp>
      <p:sp>
        <p:nvSpPr>
          <p:cNvPr id="5" name="Shape 3"/>
          <p:cNvSpPr/>
          <p:nvPr/>
        </p:nvSpPr>
        <p:spPr>
          <a:xfrm>
            <a:off x="8412480" y="182880"/>
            <a:ext cx="548640" cy="640080"/>
          </a:xfrm>
          <a:prstGeom prst="rect">
            <a:avLst/>
          </a:prstGeom>
          <a:solidFill>
            <a:srgbClr val="E8820C"/>
          </a:solidFill>
          <a:ln w="12700">
            <a:solidFill>
              <a:srgbClr val="E8820C"/>
            </a:solidFill>
            <a:prstDash val="solid"/>
          </a:ln>
        </p:spPr>
        <p:txBody>
          <a:bodyPr/>
          <a:lstStyle/>
          <a:p>
            <a:endParaRPr lang="en-US"/>
          </a:p>
        </p:txBody>
      </p:sp>
      <p:sp>
        <p:nvSpPr>
          <p:cNvPr id="6" name="Shape 4"/>
          <p:cNvSpPr/>
          <p:nvPr/>
        </p:nvSpPr>
        <p:spPr>
          <a:xfrm>
            <a:off x="274320" y="1143000"/>
            <a:ext cx="4206240" cy="96012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274320" y="1143000"/>
            <a:ext cx="457200" cy="960120"/>
          </a:xfrm>
          <a:prstGeom prst="rect">
            <a:avLst/>
          </a:prstGeom>
          <a:solidFill>
            <a:srgbClr val="C45C0A"/>
          </a:solidFill>
          <a:ln w="12700">
            <a:solidFill>
              <a:srgbClr val="C45C0A"/>
            </a:solidFill>
            <a:prstDash val="solid"/>
          </a:ln>
        </p:spPr>
        <p:txBody>
          <a:bodyPr/>
          <a:lstStyle/>
          <a:p>
            <a:endParaRPr lang="en-US"/>
          </a:p>
        </p:txBody>
      </p:sp>
      <p:sp>
        <p:nvSpPr>
          <p:cNvPr id="8" name="Text 6"/>
          <p:cNvSpPr/>
          <p:nvPr/>
        </p:nvSpPr>
        <p:spPr>
          <a:xfrm>
            <a:off x="274320" y="1143000"/>
            <a:ext cx="457200" cy="9601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9" name="Text 7"/>
          <p:cNvSpPr/>
          <p:nvPr/>
        </p:nvSpPr>
        <p:spPr>
          <a:xfrm>
            <a:off x="786384" y="1197864"/>
            <a:ext cx="3621024" cy="256032"/>
          </a:xfrm>
          <a:prstGeom prst="rect">
            <a:avLst/>
          </a:prstGeom>
          <a:noFill/>
          <a:ln/>
        </p:spPr>
        <p:txBody>
          <a:bodyPr wrap="square" lIns="0" tIns="0" rIns="0" bIns="0" rtlCol="0" anchor="ctr"/>
          <a:lstStyle/>
          <a:p>
            <a:pPr marL="0" indent="0">
              <a:buNone/>
            </a:pPr>
            <a:r>
              <a:rPr lang="en-US" sz="1150" b="1" dirty="0">
                <a:solidFill>
                  <a:srgbClr val="C45C0A"/>
                </a:solidFill>
                <a:latin typeface="Calibri" pitchFamily="34" charset="0"/>
                <a:ea typeface="Calibri" pitchFamily="34" charset="-122"/>
                <a:cs typeface="Calibri" pitchFamily="34" charset="-120"/>
              </a:rPr>
              <a:t>Market Expansion</a:t>
            </a:r>
            <a:endParaRPr lang="en-US" sz="1150" dirty="0"/>
          </a:p>
        </p:txBody>
      </p:sp>
      <p:sp>
        <p:nvSpPr>
          <p:cNvPr id="10" name="Text 8"/>
          <p:cNvSpPr/>
          <p:nvPr/>
        </p:nvSpPr>
        <p:spPr>
          <a:xfrm>
            <a:off x="786384" y="1453896"/>
            <a:ext cx="3621024" cy="603504"/>
          </a:xfrm>
          <a:prstGeom prst="rect">
            <a:avLst/>
          </a:prstGeom>
          <a:noFill/>
          <a:ln/>
        </p:spPr>
        <p:txBody>
          <a:bodyPr wrap="square" lIns="0" tIns="0" rIns="0" bIns="0" rtlCol="0" anchor="ctr"/>
          <a:lstStyle/>
          <a:p>
            <a:pPr marL="0" indent="0">
              <a:buNone/>
            </a:pPr>
            <a:r>
              <a:rPr lang="en-US" sz="1000" dirty="0">
                <a:solidFill>
                  <a:srgbClr val="2A1500"/>
                </a:solidFill>
                <a:latin typeface="Calibri" pitchFamily="34" charset="0"/>
                <a:ea typeface="Calibri" pitchFamily="34" charset="-122"/>
                <a:cs typeface="Calibri" pitchFamily="34" charset="-120"/>
              </a:rPr>
              <a:t>Develop targeted campaigns for Asia &amp; South America where customer density is low but growth potential is significant. Start with distributors in Japan and Brazil.</a:t>
            </a:r>
            <a:endParaRPr lang="en-US" sz="1000" dirty="0"/>
          </a:p>
        </p:txBody>
      </p:sp>
      <p:sp>
        <p:nvSpPr>
          <p:cNvPr id="11" name="Shape 9"/>
          <p:cNvSpPr/>
          <p:nvPr/>
        </p:nvSpPr>
        <p:spPr>
          <a:xfrm>
            <a:off x="4663440" y="1143000"/>
            <a:ext cx="4206240" cy="96012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4663440" y="1143000"/>
            <a:ext cx="457200" cy="960120"/>
          </a:xfrm>
          <a:prstGeom prst="rect">
            <a:avLst/>
          </a:prstGeom>
          <a:solidFill>
            <a:srgbClr val="D4A017"/>
          </a:solidFill>
          <a:ln w="12700">
            <a:solidFill>
              <a:srgbClr val="D4A017"/>
            </a:solidFill>
            <a:prstDash val="solid"/>
          </a:ln>
        </p:spPr>
        <p:txBody>
          <a:bodyPr/>
          <a:lstStyle/>
          <a:p>
            <a:endParaRPr lang="en-US"/>
          </a:p>
        </p:txBody>
      </p:sp>
      <p:sp>
        <p:nvSpPr>
          <p:cNvPr id="13" name="Text 11"/>
          <p:cNvSpPr/>
          <p:nvPr/>
        </p:nvSpPr>
        <p:spPr>
          <a:xfrm>
            <a:off x="4663440" y="1143000"/>
            <a:ext cx="457200" cy="9601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4" name="Text 12"/>
          <p:cNvSpPr/>
          <p:nvPr/>
        </p:nvSpPr>
        <p:spPr>
          <a:xfrm>
            <a:off x="5175504" y="1197864"/>
            <a:ext cx="3621024" cy="256032"/>
          </a:xfrm>
          <a:prstGeom prst="rect">
            <a:avLst/>
          </a:prstGeom>
          <a:noFill/>
          <a:ln/>
        </p:spPr>
        <p:txBody>
          <a:bodyPr wrap="square" lIns="0" tIns="0" rIns="0" bIns="0" rtlCol="0" anchor="ctr"/>
          <a:lstStyle/>
          <a:p>
            <a:pPr marL="0" indent="0">
              <a:buNone/>
            </a:pPr>
            <a:r>
              <a:rPr lang="en-US" sz="1150" b="1" dirty="0">
                <a:solidFill>
                  <a:srgbClr val="D4A017"/>
                </a:solidFill>
                <a:latin typeface="Calibri" pitchFamily="34" charset="0"/>
                <a:ea typeface="Calibri" pitchFamily="34" charset="-122"/>
                <a:cs typeface="Calibri" pitchFamily="34" charset="-120"/>
              </a:rPr>
              <a:t>Carrier Performance Review</a:t>
            </a:r>
            <a:endParaRPr lang="en-US" sz="1150" dirty="0"/>
          </a:p>
        </p:txBody>
      </p:sp>
      <p:sp>
        <p:nvSpPr>
          <p:cNvPr id="15" name="Text 13"/>
          <p:cNvSpPr/>
          <p:nvPr/>
        </p:nvSpPr>
        <p:spPr>
          <a:xfrm>
            <a:off x="5175504" y="1453896"/>
            <a:ext cx="3621024" cy="603504"/>
          </a:xfrm>
          <a:prstGeom prst="rect">
            <a:avLst/>
          </a:prstGeom>
          <a:noFill/>
          <a:ln/>
        </p:spPr>
        <p:txBody>
          <a:bodyPr wrap="square" lIns="0" tIns="0" rIns="0" bIns="0" rtlCol="0" anchor="ctr"/>
          <a:lstStyle/>
          <a:p>
            <a:pPr marL="0" indent="0">
              <a:buNone/>
            </a:pPr>
            <a:r>
              <a:rPr lang="en-US" sz="1000" dirty="0">
                <a:solidFill>
                  <a:srgbClr val="2A1500"/>
                </a:solidFill>
                <a:latin typeface="Calibri" pitchFamily="34" charset="0"/>
                <a:ea typeface="Calibri" pitchFamily="34" charset="-122"/>
                <a:cs typeface="Calibri" pitchFamily="34" charset="-120"/>
              </a:rPr>
              <a:t>Replace or renegotiate with Speedy Express, which consistently exceeds average shipping days across multiple regions. Benchmark against Federal Shipping SLAs.</a:t>
            </a:r>
            <a:endParaRPr lang="en-US" sz="1000" dirty="0"/>
          </a:p>
        </p:txBody>
      </p:sp>
      <p:sp>
        <p:nvSpPr>
          <p:cNvPr id="16" name="Shape 14"/>
          <p:cNvSpPr/>
          <p:nvPr/>
        </p:nvSpPr>
        <p:spPr>
          <a:xfrm>
            <a:off x="274320" y="2231136"/>
            <a:ext cx="4206240" cy="96012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274320" y="2231136"/>
            <a:ext cx="457200" cy="960120"/>
          </a:xfrm>
          <a:prstGeom prst="rect">
            <a:avLst/>
          </a:prstGeom>
          <a:solidFill>
            <a:srgbClr val="E8820C"/>
          </a:solidFill>
          <a:ln w="12700">
            <a:solidFill>
              <a:srgbClr val="E8820C"/>
            </a:solidFill>
            <a:prstDash val="solid"/>
          </a:ln>
        </p:spPr>
        <p:txBody>
          <a:bodyPr/>
          <a:lstStyle/>
          <a:p>
            <a:endParaRPr lang="en-US"/>
          </a:p>
        </p:txBody>
      </p:sp>
      <p:sp>
        <p:nvSpPr>
          <p:cNvPr id="18" name="Text 16"/>
          <p:cNvSpPr/>
          <p:nvPr/>
        </p:nvSpPr>
        <p:spPr>
          <a:xfrm>
            <a:off x="274320" y="2231136"/>
            <a:ext cx="457200" cy="9601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9" name="Text 17"/>
          <p:cNvSpPr/>
          <p:nvPr/>
        </p:nvSpPr>
        <p:spPr>
          <a:xfrm>
            <a:off x="786384" y="2286000"/>
            <a:ext cx="3621024" cy="256032"/>
          </a:xfrm>
          <a:prstGeom prst="rect">
            <a:avLst/>
          </a:prstGeom>
          <a:noFill/>
          <a:ln/>
        </p:spPr>
        <p:txBody>
          <a:bodyPr wrap="square" lIns="0" tIns="0" rIns="0" bIns="0" rtlCol="0" anchor="ctr"/>
          <a:lstStyle/>
          <a:p>
            <a:pPr marL="0" indent="0">
              <a:buNone/>
            </a:pPr>
            <a:r>
              <a:rPr lang="en-US" sz="1150" b="1" dirty="0">
                <a:solidFill>
                  <a:srgbClr val="E8820C"/>
                </a:solidFill>
                <a:latin typeface="Calibri" pitchFamily="34" charset="0"/>
                <a:ea typeface="Calibri" pitchFamily="34" charset="-122"/>
                <a:cs typeface="Calibri" pitchFamily="34" charset="-120"/>
              </a:rPr>
              <a:t>Seasonal Demand Planning</a:t>
            </a:r>
            <a:endParaRPr lang="en-US" sz="1150" dirty="0"/>
          </a:p>
        </p:txBody>
      </p:sp>
      <p:sp>
        <p:nvSpPr>
          <p:cNvPr id="20" name="Text 18"/>
          <p:cNvSpPr/>
          <p:nvPr/>
        </p:nvSpPr>
        <p:spPr>
          <a:xfrm>
            <a:off x="786384" y="2542032"/>
            <a:ext cx="3621024" cy="603504"/>
          </a:xfrm>
          <a:prstGeom prst="rect">
            <a:avLst/>
          </a:prstGeom>
          <a:noFill/>
          <a:ln/>
        </p:spPr>
        <p:txBody>
          <a:bodyPr wrap="square" lIns="0" tIns="0" rIns="0" bIns="0" rtlCol="0" anchor="ctr"/>
          <a:lstStyle/>
          <a:p>
            <a:pPr marL="0" indent="0">
              <a:buNone/>
            </a:pPr>
            <a:r>
              <a:rPr lang="en-US" sz="1000" dirty="0">
                <a:solidFill>
                  <a:srgbClr val="2A1500"/>
                </a:solidFill>
                <a:latin typeface="Calibri" pitchFamily="34" charset="0"/>
                <a:ea typeface="Calibri" pitchFamily="34" charset="-122"/>
                <a:cs typeface="Calibri" pitchFamily="34" charset="-120"/>
              </a:rPr>
              <a:t>Capitalise on the May–April peak by increasing inventory buffer and promotional activity in Q1. Create demand-stimulation strategies for Q3–Q4 low periods.</a:t>
            </a:r>
            <a:endParaRPr lang="en-US" sz="1000" dirty="0"/>
          </a:p>
        </p:txBody>
      </p:sp>
      <p:sp>
        <p:nvSpPr>
          <p:cNvPr id="21" name="Shape 19"/>
          <p:cNvSpPr/>
          <p:nvPr/>
        </p:nvSpPr>
        <p:spPr>
          <a:xfrm>
            <a:off x="4663440" y="2231136"/>
            <a:ext cx="4206240" cy="96012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22" name="Shape 20"/>
          <p:cNvSpPr/>
          <p:nvPr/>
        </p:nvSpPr>
        <p:spPr>
          <a:xfrm>
            <a:off x="4663440" y="2231136"/>
            <a:ext cx="457200" cy="960120"/>
          </a:xfrm>
          <a:prstGeom prst="rect">
            <a:avLst/>
          </a:prstGeom>
          <a:solidFill>
            <a:srgbClr val="A84E05"/>
          </a:solidFill>
          <a:ln w="12700">
            <a:solidFill>
              <a:srgbClr val="A84E05"/>
            </a:solidFill>
            <a:prstDash val="solid"/>
          </a:ln>
        </p:spPr>
        <p:txBody>
          <a:bodyPr/>
          <a:lstStyle/>
          <a:p>
            <a:endParaRPr lang="en-US"/>
          </a:p>
        </p:txBody>
      </p:sp>
      <p:sp>
        <p:nvSpPr>
          <p:cNvPr id="23" name="Text 21"/>
          <p:cNvSpPr/>
          <p:nvPr/>
        </p:nvSpPr>
        <p:spPr>
          <a:xfrm>
            <a:off x="4663440" y="2231136"/>
            <a:ext cx="457200" cy="9601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4" name="Text 22"/>
          <p:cNvSpPr/>
          <p:nvPr/>
        </p:nvSpPr>
        <p:spPr>
          <a:xfrm>
            <a:off x="5175504" y="2286000"/>
            <a:ext cx="3621024" cy="256032"/>
          </a:xfrm>
          <a:prstGeom prst="rect">
            <a:avLst/>
          </a:prstGeom>
          <a:noFill/>
          <a:ln/>
        </p:spPr>
        <p:txBody>
          <a:bodyPr wrap="square" lIns="0" tIns="0" rIns="0" bIns="0" rtlCol="0" anchor="ctr"/>
          <a:lstStyle/>
          <a:p>
            <a:pPr marL="0" indent="0">
              <a:buNone/>
            </a:pPr>
            <a:r>
              <a:rPr lang="en-US" sz="1150" b="1" dirty="0">
                <a:solidFill>
                  <a:srgbClr val="A84E05"/>
                </a:solidFill>
                <a:latin typeface="Calibri" pitchFamily="34" charset="0"/>
                <a:ea typeface="Calibri" pitchFamily="34" charset="-122"/>
                <a:cs typeface="Calibri" pitchFamily="34" charset="-120"/>
              </a:rPr>
              <a:t>Supplier Consolidation</a:t>
            </a:r>
            <a:endParaRPr lang="en-US" sz="1150" dirty="0"/>
          </a:p>
        </p:txBody>
      </p:sp>
      <p:sp>
        <p:nvSpPr>
          <p:cNvPr id="25" name="Text 23"/>
          <p:cNvSpPr/>
          <p:nvPr/>
        </p:nvSpPr>
        <p:spPr>
          <a:xfrm>
            <a:off x="5175504" y="2542032"/>
            <a:ext cx="3621024" cy="603504"/>
          </a:xfrm>
          <a:prstGeom prst="rect">
            <a:avLst/>
          </a:prstGeom>
          <a:noFill/>
          <a:ln/>
        </p:spPr>
        <p:txBody>
          <a:bodyPr wrap="square" lIns="0" tIns="0" rIns="0" bIns="0" rtlCol="0" anchor="ctr"/>
          <a:lstStyle/>
          <a:p>
            <a:pPr marL="0" indent="0">
              <a:buNone/>
            </a:pPr>
            <a:r>
              <a:rPr lang="en-US" sz="1000" dirty="0">
                <a:solidFill>
                  <a:srgbClr val="2A1500"/>
                </a:solidFill>
                <a:latin typeface="Calibri" pitchFamily="34" charset="0"/>
                <a:ea typeface="Calibri" pitchFamily="34" charset="-122"/>
                <a:cs typeface="Calibri" pitchFamily="34" charset="-120"/>
              </a:rPr>
              <a:t>Identify mid-tier suppliers with overlapping product ranges and consolidate orders to achieve volume discounts. Focus on suppliers with &gt;3 products listed.</a:t>
            </a:r>
            <a:endParaRPr lang="en-US" sz="1000" dirty="0"/>
          </a:p>
        </p:txBody>
      </p:sp>
      <p:sp>
        <p:nvSpPr>
          <p:cNvPr id="26" name="Shape 24"/>
          <p:cNvSpPr/>
          <p:nvPr/>
        </p:nvSpPr>
        <p:spPr>
          <a:xfrm>
            <a:off x="274320" y="3319272"/>
            <a:ext cx="4206240" cy="96012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27" name="Shape 25"/>
          <p:cNvSpPr/>
          <p:nvPr/>
        </p:nvSpPr>
        <p:spPr>
          <a:xfrm>
            <a:off x="274320" y="3319272"/>
            <a:ext cx="457200" cy="960120"/>
          </a:xfrm>
          <a:prstGeom prst="rect">
            <a:avLst/>
          </a:prstGeom>
          <a:solidFill>
            <a:srgbClr val="C9890A"/>
          </a:solidFill>
          <a:ln w="12700">
            <a:solidFill>
              <a:srgbClr val="C9890A"/>
            </a:solidFill>
            <a:prstDash val="solid"/>
          </a:ln>
        </p:spPr>
        <p:txBody>
          <a:bodyPr/>
          <a:lstStyle/>
          <a:p>
            <a:endParaRPr lang="en-US"/>
          </a:p>
        </p:txBody>
      </p:sp>
      <p:sp>
        <p:nvSpPr>
          <p:cNvPr id="28" name="Text 26"/>
          <p:cNvSpPr/>
          <p:nvPr/>
        </p:nvSpPr>
        <p:spPr>
          <a:xfrm>
            <a:off x="274320" y="3319272"/>
            <a:ext cx="457200" cy="9601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29" name="Text 27"/>
          <p:cNvSpPr/>
          <p:nvPr/>
        </p:nvSpPr>
        <p:spPr>
          <a:xfrm>
            <a:off x="786384" y="3374136"/>
            <a:ext cx="3621024" cy="256032"/>
          </a:xfrm>
          <a:prstGeom prst="rect">
            <a:avLst/>
          </a:prstGeom>
          <a:noFill/>
          <a:ln/>
        </p:spPr>
        <p:txBody>
          <a:bodyPr wrap="square" lIns="0" tIns="0" rIns="0" bIns="0" rtlCol="0" anchor="ctr"/>
          <a:lstStyle/>
          <a:p>
            <a:pPr marL="0" indent="0">
              <a:buNone/>
            </a:pPr>
            <a:r>
              <a:rPr lang="en-US" sz="1150" b="1" dirty="0">
                <a:solidFill>
                  <a:srgbClr val="C9890A"/>
                </a:solidFill>
                <a:latin typeface="Calibri" pitchFamily="34" charset="0"/>
                <a:ea typeface="Calibri" pitchFamily="34" charset="-122"/>
                <a:cs typeface="Calibri" pitchFamily="34" charset="-120"/>
              </a:rPr>
              <a:t>Succession Planning</a:t>
            </a:r>
            <a:endParaRPr lang="en-US" sz="1150" dirty="0"/>
          </a:p>
        </p:txBody>
      </p:sp>
      <p:sp>
        <p:nvSpPr>
          <p:cNvPr id="30" name="Text 28"/>
          <p:cNvSpPr/>
          <p:nvPr/>
        </p:nvSpPr>
        <p:spPr>
          <a:xfrm>
            <a:off x="786384" y="3630168"/>
            <a:ext cx="3621024" cy="603504"/>
          </a:xfrm>
          <a:prstGeom prst="rect">
            <a:avLst/>
          </a:prstGeom>
          <a:noFill/>
          <a:ln/>
        </p:spPr>
        <p:txBody>
          <a:bodyPr wrap="square" lIns="0" tIns="0" rIns="0" bIns="0" rtlCol="0" anchor="ctr"/>
          <a:lstStyle/>
          <a:p>
            <a:pPr marL="0" indent="0">
              <a:buNone/>
            </a:pPr>
            <a:r>
              <a:rPr lang="en-US" sz="1000" dirty="0">
                <a:solidFill>
                  <a:srgbClr val="2A1500"/>
                </a:solidFill>
                <a:latin typeface="Calibri" pitchFamily="34" charset="0"/>
                <a:ea typeface="Calibri" pitchFamily="34" charset="-122"/>
                <a:cs typeface="Calibri" pitchFamily="34" charset="-120"/>
              </a:rPr>
              <a:t>With only 2 managers and high avg tenure (32.56 yrs), initiate succession planning. Identify Sales Representatives with leadership potential for future managerial roles.</a:t>
            </a:r>
            <a:endParaRPr lang="en-US" sz="1000" dirty="0"/>
          </a:p>
        </p:txBody>
      </p:sp>
      <p:sp>
        <p:nvSpPr>
          <p:cNvPr id="31" name="Shape 29"/>
          <p:cNvSpPr/>
          <p:nvPr/>
        </p:nvSpPr>
        <p:spPr>
          <a:xfrm>
            <a:off x="4663440" y="3319272"/>
            <a:ext cx="4206240" cy="960120"/>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32" name="Shape 30"/>
          <p:cNvSpPr/>
          <p:nvPr/>
        </p:nvSpPr>
        <p:spPr>
          <a:xfrm>
            <a:off x="4663440" y="3319272"/>
            <a:ext cx="457200" cy="960120"/>
          </a:xfrm>
          <a:prstGeom prst="rect">
            <a:avLst/>
          </a:prstGeom>
          <a:solidFill>
            <a:srgbClr val="B35B00"/>
          </a:solidFill>
          <a:ln w="12700">
            <a:solidFill>
              <a:srgbClr val="B35B00"/>
            </a:solidFill>
            <a:prstDash val="solid"/>
          </a:ln>
        </p:spPr>
        <p:txBody>
          <a:bodyPr/>
          <a:lstStyle/>
          <a:p>
            <a:endParaRPr lang="en-US"/>
          </a:p>
        </p:txBody>
      </p:sp>
      <p:sp>
        <p:nvSpPr>
          <p:cNvPr id="33" name="Text 31"/>
          <p:cNvSpPr/>
          <p:nvPr/>
        </p:nvSpPr>
        <p:spPr>
          <a:xfrm>
            <a:off x="4663440" y="3319272"/>
            <a:ext cx="457200" cy="9601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06</a:t>
            </a:r>
            <a:endParaRPr lang="en-US" sz="1400" dirty="0"/>
          </a:p>
        </p:txBody>
      </p:sp>
      <p:sp>
        <p:nvSpPr>
          <p:cNvPr id="34" name="Text 32"/>
          <p:cNvSpPr/>
          <p:nvPr/>
        </p:nvSpPr>
        <p:spPr>
          <a:xfrm>
            <a:off x="5175504" y="3374136"/>
            <a:ext cx="3621024" cy="256032"/>
          </a:xfrm>
          <a:prstGeom prst="rect">
            <a:avLst/>
          </a:prstGeom>
          <a:noFill/>
          <a:ln/>
        </p:spPr>
        <p:txBody>
          <a:bodyPr wrap="square" lIns="0" tIns="0" rIns="0" bIns="0" rtlCol="0" anchor="ctr"/>
          <a:lstStyle/>
          <a:p>
            <a:pPr marL="0" indent="0">
              <a:buNone/>
            </a:pPr>
            <a:r>
              <a:rPr lang="en-US" sz="1150" b="1" dirty="0">
                <a:solidFill>
                  <a:srgbClr val="B35B00"/>
                </a:solidFill>
                <a:latin typeface="Calibri" pitchFamily="34" charset="0"/>
                <a:ea typeface="Calibri" pitchFamily="34" charset="-122"/>
                <a:cs typeface="Calibri" pitchFamily="34" charset="-120"/>
              </a:rPr>
              <a:t>Premium Product Promotion</a:t>
            </a:r>
            <a:endParaRPr lang="en-US" sz="1150" dirty="0"/>
          </a:p>
        </p:txBody>
      </p:sp>
      <p:sp>
        <p:nvSpPr>
          <p:cNvPr id="35" name="Text 33"/>
          <p:cNvSpPr/>
          <p:nvPr/>
        </p:nvSpPr>
        <p:spPr>
          <a:xfrm>
            <a:off x="5175504" y="3630168"/>
            <a:ext cx="3621024" cy="603504"/>
          </a:xfrm>
          <a:prstGeom prst="rect">
            <a:avLst/>
          </a:prstGeom>
          <a:noFill/>
          <a:ln/>
        </p:spPr>
        <p:txBody>
          <a:bodyPr wrap="square" lIns="0" tIns="0" rIns="0" bIns="0" rtlCol="0" anchor="ctr"/>
          <a:lstStyle/>
          <a:p>
            <a:pPr marL="0" indent="0">
              <a:buNone/>
            </a:pPr>
            <a:r>
              <a:rPr lang="en-US" sz="1000" dirty="0">
                <a:solidFill>
                  <a:srgbClr val="2A1500"/>
                </a:solidFill>
                <a:latin typeface="Calibri" pitchFamily="34" charset="0"/>
                <a:ea typeface="Calibri" pitchFamily="34" charset="-122"/>
                <a:cs typeface="Calibri" pitchFamily="34" charset="-120"/>
              </a:rPr>
              <a:t>Products priced &gt;$100 represent high-margin opportunities. Create targeted B2B campaigns for premium specialty products to increase contribution to overall revenue.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3D1C02"/>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E8820C"/>
          </a:solidFill>
          <a:ln w="12700">
            <a:solidFill>
              <a:srgbClr val="E8820C"/>
            </a:solidFill>
            <a:prstDash val="solid"/>
          </a:ln>
        </p:spPr>
        <p:txBody>
          <a:bodyPr/>
          <a:lstStyle/>
          <a:p>
            <a:endParaRPr lang="en-US"/>
          </a:p>
        </p:txBody>
      </p:sp>
      <p:sp>
        <p:nvSpPr>
          <p:cNvPr id="3" name="Text 1"/>
          <p:cNvSpPr/>
          <p:nvPr/>
        </p:nvSpPr>
        <p:spPr>
          <a:xfrm>
            <a:off x="457200" y="274320"/>
            <a:ext cx="8229600" cy="54864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Conclusion &amp; Project Impact</a:t>
            </a:r>
            <a:endParaRPr lang="en-US" sz="2800" dirty="0"/>
          </a:p>
        </p:txBody>
      </p:sp>
      <p:sp>
        <p:nvSpPr>
          <p:cNvPr id="4" name="Text 2"/>
          <p:cNvSpPr/>
          <p:nvPr/>
        </p:nvSpPr>
        <p:spPr>
          <a:xfrm>
            <a:off x="457200" y="841248"/>
            <a:ext cx="8229600" cy="320040"/>
          </a:xfrm>
          <a:prstGeom prst="rect">
            <a:avLst/>
          </a:prstGeom>
          <a:noFill/>
          <a:ln/>
        </p:spPr>
        <p:txBody>
          <a:bodyPr wrap="square" lIns="0" tIns="0" rIns="0" bIns="0" rtlCol="0" anchor="ctr"/>
          <a:lstStyle/>
          <a:p>
            <a:pPr marL="0" indent="0" algn="ctr">
              <a:buNone/>
            </a:pPr>
            <a:r>
              <a:rPr lang="en-US" sz="1250" i="1" dirty="0">
                <a:solidFill>
                  <a:srgbClr val="F5C842"/>
                </a:solidFill>
                <a:latin typeface="Calibri" pitchFamily="34" charset="0"/>
                <a:ea typeface="Calibri" pitchFamily="34" charset="-122"/>
                <a:cs typeface="Calibri" pitchFamily="34" charset="-120"/>
              </a:rPr>
              <a:t>From Raw Data to Business Intelligence — End-to-End Power BI Analysis</a:t>
            </a:r>
            <a:endParaRPr lang="en-US" sz="1250" dirty="0"/>
          </a:p>
        </p:txBody>
      </p:sp>
      <p:sp>
        <p:nvSpPr>
          <p:cNvPr id="5" name="Shape 3"/>
          <p:cNvSpPr/>
          <p:nvPr/>
        </p:nvSpPr>
        <p:spPr>
          <a:xfrm>
            <a:off x="502920" y="1353312"/>
            <a:ext cx="2560320" cy="1572768"/>
          </a:xfrm>
          <a:prstGeom prst="rect">
            <a:avLst/>
          </a:prstGeom>
          <a:solidFill>
            <a:srgbClr val="5C2A04"/>
          </a:solidFill>
          <a:ln w="12700">
            <a:solidFill>
              <a:srgbClr val="E8820C"/>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502920" y="1353312"/>
            <a:ext cx="2560320" cy="292608"/>
          </a:xfrm>
          <a:prstGeom prst="rect">
            <a:avLst/>
          </a:prstGeom>
          <a:solidFill>
            <a:srgbClr val="E8820C"/>
          </a:solidFill>
          <a:ln w="12700">
            <a:solidFill>
              <a:srgbClr val="E8820C"/>
            </a:solidFill>
            <a:prstDash val="solid"/>
          </a:ln>
        </p:spPr>
        <p:txBody>
          <a:bodyPr/>
          <a:lstStyle/>
          <a:p>
            <a:endParaRPr lang="en-US"/>
          </a:p>
        </p:txBody>
      </p:sp>
      <p:sp>
        <p:nvSpPr>
          <p:cNvPr id="7" name="Text 5"/>
          <p:cNvSpPr/>
          <p:nvPr/>
        </p:nvSpPr>
        <p:spPr>
          <a:xfrm>
            <a:off x="548640" y="1353312"/>
            <a:ext cx="246888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End-to-End Pipeline</a:t>
            </a:r>
            <a:endParaRPr lang="en-US" sz="1050" dirty="0"/>
          </a:p>
        </p:txBody>
      </p:sp>
      <p:sp>
        <p:nvSpPr>
          <p:cNvPr id="8" name="Text 6"/>
          <p:cNvSpPr/>
          <p:nvPr/>
        </p:nvSpPr>
        <p:spPr>
          <a:xfrm>
            <a:off x="594360" y="1682496"/>
            <a:ext cx="2377440" cy="1188720"/>
          </a:xfrm>
          <a:prstGeom prst="rect">
            <a:avLst/>
          </a:prstGeom>
          <a:noFill/>
          <a:ln/>
        </p:spPr>
        <p:txBody>
          <a:bodyPr wrap="square" lIns="0" tIns="0" rIns="0" bIns="0" rtlCol="0" anchor="t"/>
          <a:lstStyle/>
          <a:p>
            <a:pPr marL="0" indent="0">
              <a:buNone/>
            </a:pPr>
            <a:r>
              <a:rPr lang="en-US" sz="1400" dirty="0">
                <a:solidFill>
                  <a:srgbClr val="FADED9"/>
                </a:solidFill>
                <a:latin typeface="Calibri" pitchFamily="34" charset="0"/>
                <a:ea typeface="Calibri" pitchFamily="34" charset="-122"/>
                <a:cs typeface="Calibri" pitchFamily="34" charset="-120"/>
              </a:rPr>
              <a:t>SQL extraction → Excel validation → Power BI dashboards; a reproducible analytics workflow</a:t>
            </a:r>
            <a:endParaRPr lang="en-US" sz="1400" dirty="0"/>
          </a:p>
        </p:txBody>
      </p:sp>
      <p:sp>
        <p:nvSpPr>
          <p:cNvPr id="9" name="Shape 7"/>
          <p:cNvSpPr/>
          <p:nvPr/>
        </p:nvSpPr>
        <p:spPr>
          <a:xfrm>
            <a:off x="3291840" y="1353312"/>
            <a:ext cx="2560320" cy="1572768"/>
          </a:xfrm>
          <a:prstGeom prst="rect">
            <a:avLst/>
          </a:prstGeom>
          <a:solidFill>
            <a:srgbClr val="5C2A04"/>
          </a:solidFill>
          <a:ln w="12700">
            <a:solidFill>
              <a:srgbClr val="E8820C"/>
            </a:solidFill>
            <a:prstDash val="solid"/>
          </a:ln>
          <a:effectLst>
            <a:outerShdw blurRad="101600" dist="38100" dir="8100000" algn="bl" rotWithShape="0">
              <a:srgbClr val="000000">
                <a:alpha val="12000"/>
              </a:srgbClr>
            </a:outerShdw>
          </a:effectLst>
        </p:spPr>
        <p:txBody>
          <a:bodyPr/>
          <a:lstStyle/>
          <a:p>
            <a:endParaRPr lang="en-US"/>
          </a:p>
        </p:txBody>
      </p:sp>
      <p:sp>
        <p:nvSpPr>
          <p:cNvPr id="10" name="Shape 8"/>
          <p:cNvSpPr/>
          <p:nvPr/>
        </p:nvSpPr>
        <p:spPr>
          <a:xfrm>
            <a:off x="3291840" y="1353312"/>
            <a:ext cx="2560320" cy="292608"/>
          </a:xfrm>
          <a:prstGeom prst="rect">
            <a:avLst/>
          </a:prstGeom>
          <a:solidFill>
            <a:srgbClr val="E8820C"/>
          </a:solidFill>
          <a:ln w="12700">
            <a:solidFill>
              <a:srgbClr val="E8820C"/>
            </a:solidFill>
            <a:prstDash val="solid"/>
          </a:ln>
        </p:spPr>
        <p:txBody>
          <a:bodyPr/>
          <a:lstStyle/>
          <a:p>
            <a:endParaRPr lang="en-US"/>
          </a:p>
        </p:txBody>
      </p:sp>
      <p:sp>
        <p:nvSpPr>
          <p:cNvPr id="11" name="Text 9"/>
          <p:cNvSpPr/>
          <p:nvPr/>
        </p:nvSpPr>
        <p:spPr>
          <a:xfrm>
            <a:off x="3337560" y="1353312"/>
            <a:ext cx="246888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Business Coverage</a:t>
            </a:r>
            <a:endParaRPr lang="en-US" sz="1050" dirty="0"/>
          </a:p>
        </p:txBody>
      </p:sp>
      <p:sp>
        <p:nvSpPr>
          <p:cNvPr id="12" name="Text 10"/>
          <p:cNvSpPr/>
          <p:nvPr/>
        </p:nvSpPr>
        <p:spPr>
          <a:xfrm>
            <a:off x="3383280" y="1682496"/>
            <a:ext cx="2377440" cy="1188720"/>
          </a:xfrm>
          <a:prstGeom prst="rect">
            <a:avLst/>
          </a:prstGeom>
          <a:noFill/>
          <a:ln/>
        </p:spPr>
        <p:txBody>
          <a:bodyPr wrap="square" lIns="0" tIns="0" rIns="0" bIns="0" rtlCol="0" anchor="t"/>
          <a:lstStyle/>
          <a:p>
            <a:pPr marL="0" indent="0">
              <a:buNone/>
            </a:pPr>
            <a:r>
              <a:rPr lang="en-US" sz="1400" dirty="0">
                <a:solidFill>
                  <a:srgbClr val="FADED9"/>
                </a:solidFill>
                <a:latin typeface="Calibri" pitchFamily="34" charset="0"/>
                <a:ea typeface="Calibri" pitchFamily="34" charset="-122"/>
                <a:cs typeface="Calibri" pitchFamily="34" charset="-120"/>
              </a:rPr>
              <a:t>Five analytical domains: Customers, Products, Orders, Suppliers, and Employees in one unified report</a:t>
            </a:r>
            <a:endParaRPr lang="en-US" sz="1400" dirty="0"/>
          </a:p>
        </p:txBody>
      </p:sp>
      <p:sp>
        <p:nvSpPr>
          <p:cNvPr id="13" name="Shape 11"/>
          <p:cNvSpPr/>
          <p:nvPr/>
        </p:nvSpPr>
        <p:spPr>
          <a:xfrm>
            <a:off x="6080760" y="1353312"/>
            <a:ext cx="2560320" cy="1572768"/>
          </a:xfrm>
          <a:prstGeom prst="rect">
            <a:avLst/>
          </a:prstGeom>
          <a:solidFill>
            <a:srgbClr val="5C2A04"/>
          </a:solidFill>
          <a:ln w="12700">
            <a:solidFill>
              <a:srgbClr val="E8820C"/>
            </a:solidFill>
            <a:prstDash val="solid"/>
          </a:ln>
          <a:effectLst>
            <a:outerShdw blurRad="101600" dist="38100" dir="8100000" algn="bl" rotWithShape="0">
              <a:srgbClr val="000000">
                <a:alpha val="12000"/>
              </a:srgbClr>
            </a:outerShdw>
          </a:effectLst>
        </p:spPr>
        <p:txBody>
          <a:bodyPr/>
          <a:lstStyle/>
          <a:p>
            <a:endParaRPr lang="en-US"/>
          </a:p>
        </p:txBody>
      </p:sp>
      <p:sp>
        <p:nvSpPr>
          <p:cNvPr id="14" name="Shape 12"/>
          <p:cNvSpPr/>
          <p:nvPr/>
        </p:nvSpPr>
        <p:spPr>
          <a:xfrm>
            <a:off x="6080760" y="1353312"/>
            <a:ext cx="2560320" cy="292608"/>
          </a:xfrm>
          <a:prstGeom prst="rect">
            <a:avLst/>
          </a:prstGeom>
          <a:solidFill>
            <a:srgbClr val="E8820C"/>
          </a:solidFill>
          <a:ln w="12700">
            <a:solidFill>
              <a:srgbClr val="E8820C"/>
            </a:solidFill>
            <a:prstDash val="solid"/>
          </a:ln>
        </p:spPr>
        <p:txBody>
          <a:bodyPr/>
          <a:lstStyle/>
          <a:p>
            <a:endParaRPr lang="en-US"/>
          </a:p>
        </p:txBody>
      </p:sp>
      <p:sp>
        <p:nvSpPr>
          <p:cNvPr id="15" name="Text 13"/>
          <p:cNvSpPr/>
          <p:nvPr/>
        </p:nvSpPr>
        <p:spPr>
          <a:xfrm>
            <a:off x="6126480" y="1353312"/>
            <a:ext cx="246888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Actionable Insights</a:t>
            </a:r>
            <a:endParaRPr lang="en-US" sz="1050" dirty="0"/>
          </a:p>
        </p:txBody>
      </p:sp>
      <p:sp>
        <p:nvSpPr>
          <p:cNvPr id="16" name="Text 14"/>
          <p:cNvSpPr/>
          <p:nvPr/>
        </p:nvSpPr>
        <p:spPr>
          <a:xfrm>
            <a:off x="6172200" y="1682496"/>
            <a:ext cx="2377440" cy="1188720"/>
          </a:xfrm>
          <a:prstGeom prst="rect">
            <a:avLst/>
          </a:prstGeom>
          <a:noFill/>
          <a:ln/>
        </p:spPr>
        <p:txBody>
          <a:bodyPr wrap="square" lIns="0" tIns="0" rIns="0" bIns="0" rtlCol="0" anchor="t"/>
          <a:lstStyle/>
          <a:p>
            <a:pPr marL="0" indent="0">
              <a:buNone/>
            </a:pPr>
            <a:r>
              <a:rPr lang="en-US" sz="1400" dirty="0">
                <a:solidFill>
                  <a:srgbClr val="FADED9"/>
                </a:solidFill>
                <a:latin typeface="Calibri" pitchFamily="34" charset="0"/>
                <a:ea typeface="Calibri" pitchFamily="34" charset="-122"/>
                <a:cs typeface="Calibri" pitchFamily="34" charset="-120"/>
              </a:rPr>
              <a:t>6 data-backed recommendations covering market expansion, logistics, inventory, pricing &amp; HR strategy</a:t>
            </a:r>
            <a:endParaRPr lang="en-US" sz="1400" dirty="0"/>
          </a:p>
        </p:txBody>
      </p:sp>
      <p:sp>
        <p:nvSpPr>
          <p:cNvPr id="17" name="Shape 15"/>
          <p:cNvSpPr/>
          <p:nvPr/>
        </p:nvSpPr>
        <p:spPr>
          <a:xfrm>
            <a:off x="502920" y="3090672"/>
            <a:ext cx="8138160" cy="1572768"/>
          </a:xfrm>
          <a:prstGeom prst="rect">
            <a:avLst/>
          </a:prstGeom>
          <a:solidFill>
            <a:srgbClr val="FFFFFF"/>
          </a:solidFill>
          <a:ln w="12700">
            <a:solidFill>
              <a:srgbClr val="FADED9"/>
            </a:solidFill>
            <a:prstDash val="solid"/>
          </a:ln>
          <a:effectLst>
            <a:outerShdw blurRad="101600" dist="38100" dir="8100000" algn="bl" rotWithShape="0">
              <a:srgbClr val="000000">
                <a:alpha val="12000"/>
              </a:srgbClr>
            </a:outerShdw>
          </a:effectLst>
        </p:spPr>
        <p:txBody>
          <a:bodyPr/>
          <a:lstStyle/>
          <a:p>
            <a:endParaRPr lang="en-US"/>
          </a:p>
        </p:txBody>
      </p:sp>
      <p:sp>
        <p:nvSpPr>
          <p:cNvPr id="18" name="Shape 16"/>
          <p:cNvSpPr/>
          <p:nvPr/>
        </p:nvSpPr>
        <p:spPr>
          <a:xfrm>
            <a:off x="502920" y="3090672"/>
            <a:ext cx="1463040" cy="1572768"/>
          </a:xfrm>
          <a:prstGeom prst="rect">
            <a:avLst/>
          </a:prstGeom>
          <a:solidFill>
            <a:srgbClr val="C45C0A"/>
          </a:solidFill>
          <a:ln w="12700">
            <a:solidFill>
              <a:srgbClr val="C45C0A"/>
            </a:solidFill>
            <a:prstDash val="solid"/>
          </a:ln>
        </p:spPr>
        <p:txBody>
          <a:bodyPr/>
          <a:lstStyle/>
          <a:p>
            <a:endParaRPr lang="en-US"/>
          </a:p>
        </p:txBody>
      </p:sp>
      <p:sp>
        <p:nvSpPr>
          <p:cNvPr id="19" name="Text 17"/>
          <p:cNvSpPr/>
          <p:nvPr/>
        </p:nvSpPr>
        <p:spPr>
          <a:xfrm>
            <a:off x="502920" y="3090672"/>
            <a:ext cx="1463040" cy="157276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Project</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Summary</a:t>
            </a:r>
            <a:endParaRPr lang="en-US" sz="1300" dirty="0"/>
          </a:p>
        </p:txBody>
      </p:sp>
      <p:sp>
        <p:nvSpPr>
          <p:cNvPr id="20" name="Text 18"/>
          <p:cNvSpPr/>
          <p:nvPr/>
        </p:nvSpPr>
        <p:spPr>
          <a:xfrm>
            <a:off x="2103120" y="3154680"/>
            <a:ext cx="6309360" cy="1463040"/>
          </a:xfrm>
          <a:prstGeom prst="rect">
            <a:avLst/>
          </a:prstGeom>
          <a:noFill/>
          <a:ln/>
        </p:spPr>
        <p:txBody>
          <a:bodyPr wrap="square" rtlCol="0" anchor="t"/>
          <a:lstStyle/>
          <a:p>
            <a:pPr marL="342900" indent="-342900">
              <a:spcAft>
                <a:spcPts val="600"/>
              </a:spcAft>
              <a:buSzPct val="100000"/>
              <a:buChar char="•"/>
            </a:pPr>
            <a:r>
              <a:rPr lang="en-US" sz="1400" dirty="0">
                <a:solidFill>
                  <a:srgbClr val="2A1500"/>
                </a:solidFill>
                <a:latin typeface="Calibri" pitchFamily="34" charset="0"/>
                <a:ea typeface="Calibri" pitchFamily="34" charset="-122"/>
                <a:cs typeface="Calibri" pitchFamily="34" charset="-120"/>
              </a:rPr>
              <a:t>Analysed 830 orders, 90 customers, 77 products, 9 employees across $1.27M in total revenue</a:t>
            </a:r>
            <a:endParaRPr lang="en-US" sz="1400" dirty="0"/>
          </a:p>
          <a:p>
            <a:pPr marL="342900" indent="-342900">
              <a:spcAft>
                <a:spcPts val="600"/>
              </a:spcAft>
              <a:buSzPct val="100000"/>
              <a:buChar char="•"/>
            </a:pPr>
            <a:r>
              <a:rPr lang="en-US" sz="1400" dirty="0">
                <a:solidFill>
                  <a:srgbClr val="2A1500"/>
                </a:solidFill>
                <a:latin typeface="Calibri" pitchFamily="34" charset="0"/>
                <a:ea typeface="Calibri" pitchFamily="34" charset="-122"/>
                <a:cs typeface="Calibri" pitchFamily="34" charset="-120"/>
              </a:rPr>
              <a:t>Built 6 interactive dashboard pages with 15+ DAX measures and cross-filter slicers</a:t>
            </a:r>
            <a:endParaRPr lang="en-US" sz="1400" dirty="0"/>
          </a:p>
          <a:p>
            <a:pPr marL="342900" indent="-342900">
              <a:spcAft>
                <a:spcPts val="600"/>
              </a:spcAft>
              <a:buSzPct val="100000"/>
              <a:buChar char="•"/>
            </a:pPr>
            <a:r>
              <a:rPr lang="en-US" sz="1400" dirty="0">
                <a:solidFill>
                  <a:srgbClr val="2A1500"/>
                </a:solidFill>
                <a:latin typeface="Calibri" pitchFamily="34" charset="0"/>
                <a:ea typeface="Calibri" pitchFamily="34" charset="-122"/>
                <a:cs typeface="Calibri" pitchFamily="34" charset="-120"/>
              </a:rPr>
              <a:t>Identified 6 strategic growth areas including expansion markets and logistics improvements</a:t>
            </a:r>
            <a:endParaRPr lang="en-US" sz="1400" dirty="0"/>
          </a:p>
          <a:p>
            <a:pPr marL="342900" indent="-342900">
              <a:spcAft>
                <a:spcPts val="600"/>
              </a:spcAft>
              <a:buSzPct val="100000"/>
              <a:buChar char="•"/>
            </a:pPr>
            <a:r>
              <a:rPr lang="en-US" sz="1400" dirty="0">
                <a:solidFill>
                  <a:srgbClr val="2A1500"/>
                </a:solidFill>
                <a:latin typeface="Calibri" pitchFamily="34" charset="0"/>
                <a:ea typeface="Calibri" pitchFamily="34" charset="-122"/>
                <a:cs typeface="Calibri" pitchFamily="34" charset="-120"/>
              </a:rPr>
              <a:t>Demonstrated proficiency in full-stack analytics: SQL · Excel · Data Modelling · Power BI · DAX</a:t>
            </a:r>
            <a:endParaRPr lang="en-US" sz="1400" dirty="0"/>
          </a:p>
        </p:txBody>
      </p:sp>
      <p:sp>
        <p:nvSpPr>
          <p:cNvPr id="21" name="Shape 19"/>
          <p:cNvSpPr/>
          <p:nvPr/>
        </p:nvSpPr>
        <p:spPr>
          <a:xfrm>
            <a:off x="0" y="4754880"/>
            <a:ext cx="9144000" cy="388620"/>
          </a:xfrm>
          <a:prstGeom prst="rect">
            <a:avLst/>
          </a:prstGeom>
          <a:solidFill>
            <a:srgbClr val="E8820C"/>
          </a:solidFill>
          <a:ln w="12700">
            <a:solidFill>
              <a:srgbClr val="E8820C"/>
            </a:solidFill>
            <a:prstDash val="solid"/>
          </a:ln>
        </p:spPr>
        <p:txBody>
          <a:bodyPr/>
          <a:lstStyle/>
          <a:p>
            <a:endParaRPr lang="en-US"/>
          </a:p>
        </p:txBody>
      </p:sp>
      <p:sp>
        <p:nvSpPr>
          <p:cNvPr id="22" name="Text 20"/>
          <p:cNvSpPr/>
          <p:nvPr/>
        </p:nvSpPr>
        <p:spPr>
          <a:xfrm>
            <a:off x="0" y="4754880"/>
            <a:ext cx="9144000" cy="3886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Aakriti  ·  M.Com, MBA  ·  aakriti.9703@gmail.com  ·  Tools: SQL  |  Excel  |  Power BI</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TotalTime>
  <Words>2703</Words>
  <Application>Microsoft Macintosh PowerPoint</Application>
  <PresentationFormat>On-screen Show (16:9)</PresentationFormat>
  <Paragraphs>264</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Northwind Traders – Power BI Sales Analysis</dc:title>
  <dc:subject>PptxGenJS Presentation</dc:subject>
  <dc:creator>Aakriti</dc:creator>
  <cp:lastModifiedBy>Aakriti Balachandran</cp:lastModifiedBy>
  <cp:revision>3</cp:revision>
  <dcterms:created xsi:type="dcterms:W3CDTF">2026-05-09T02:53:01Z</dcterms:created>
  <dcterms:modified xsi:type="dcterms:W3CDTF">2026-05-09T11:16:03Z</dcterms:modified>
</cp:coreProperties>
</file>